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by the end of class, every laptop in this room will put your name over your face in a live webcam window — and none of you will type the Python yourselves. First we earn it by understanding the four stages on the bottom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Navy = the concepts half, teal = the coding half. Emphasize that step 4 is the real engineering: anyone can get a demo running; engineers find the conditions where it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clip play once without talking. Then walk the six boxes. Key point from the clip: the 5 points live in stages 2–3 only; the recognizer in stage 5 never sees them, only the crop. SCRFD and ArcFace ResNet-50 are exactly what the insightface "buffalo_l" model pack gives us — this is the pipeline the LLM's code will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on the board: 1280 × 720 × 3 = 2,764,800; 112 × 112 × 3 = 37,632; ratio ≈ 73. Each grid cell in the clip is one pixel with three values (R, G, B). Ask: what happens if the crop accidentally includes half the bookshelf? (The detector's job is to stop that.)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idea: tilt your head 20 degrees and ask what a naive crop would look like. In insightface code these five points show up as face.kps — a 5×2 array of (x, y) pixel coordinates. Students will see it in the LLM's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glowing regions in the clip are a teaching simplification: real embedding dimensions are not tied to one feature. Takeaway: the model was trained so that two photos of the same person land close together in 512-dimensional space. That is all it does. Recognition = our code comparing vectors.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two tiny vectors on the board, e.g. (0.6, 0.8) and (0.8, 0.6): dot = 0.96. Then (0.6, 0.8) and (0.8, −0.6): dot = 0. Same idea in 512 dimensions. The threshold is an engineering trade-off: too high and you become "Unknown" to your own laptop; too low and your classmate unlocks as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specification we are about to give the LLM. If students can explain these eight steps, they can write the prompt. Why average 5 frames? One frame can be blurry or mid-blink; the average is steadier. Why rescale? Averaging unit vectors gives a vector slightly shorter than 1, which would quietly shrink every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Transition. Everything on the last five slides becomes words in a prompt. The quality of the code you get back depends on how precisely you can describe the system — which is why we did the concepts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"Paste back" you return to "Generate". Also tell the LLM your OS and Python version in the first message — many install errors are platform specific.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sentence of this prompt maps to a slide we already covered: library = the pipeline slide, enroll/run = the two-jobs slide, THRESHOLD = the comparison slide. Students fill in their OS. Paste it live into the LLM and let the class watch the answer stream in. Naming the library matters: without it, LLMs often pick the older face_recognition/dlib package, which is hard to install on Windows.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Ctrl+F for each of these in the generated file. If one is missing, that is a question for the LLM, not a reason to panic — e.g. "Where do you re-normalize the averaged embedding?" LLMs frequently forget the re-normalization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run downloads the buffalo_l model pack (a few hundred MB) — do that step before class on lab machines if Wi-Fi is slow. The last two rows are not bugs; they are the threshold trade-off from the comparison slide showing up in real life.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print the raw score (ask the LLM to add it if missing). The phone-screen row is the teaching moment: the system will very likely accept a photo, because it has no liveness check. That leads straight into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512-number vector cannot be turned back into a perfect photo, but it can identify you — which is exactly what makes it sensitive. Connect to the phone-photo result: real systems add liveness detection (blink, depth, infrared). Ours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four words. For homework, the interesting part is "once per person per session" — students will have to describe state (who has already been logged) to the LLM. Grading on the prompts and the bug story rewards understanding, not just a working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-1.mp4"/><Relationship Id="rId2" Type="http://schemas.microsoft.com/office/2007/relationships/media" Target="../media/media-3-1.mp4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4-1.mp4"/><Relationship Id="rId2" Type="http://schemas.microsoft.com/office/2007/relationships/media" Target="../media/media-4-1.mp4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video" Target="../media/media-6-1.mp4"/><Relationship Id="rId2" Type="http://schemas.microsoft.com/office/2007/relationships/media" Target="../media/media-6-1.mp4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16B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ENGR-126 · VIBE CODING WITH AI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9144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EE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webcam,</a:t>
            </a:r>
            <a:endParaRPr lang="en-US" sz="5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EE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 numbers,</a:t>
            </a:r>
            <a:endParaRPr lang="en-US" sz="5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EE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comparison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C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face recognition works — then we make an LLM write it in Python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5394960"/>
            <a:ext cx="1645920" cy="502920"/>
          </a:xfrm>
          <a:prstGeom prst="roundRect">
            <a:avLst>
              <a:gd name="adj" fmla="val 49091"/>
            </a:avLst>
          </a:prstGeom>
          <a:solidFill>
            <a:srgbClr val="16B3A8"/>
          </a:solidFill>
          <a:ln w="12700">
            <a:solidFill>
              <a:srgbClr val="16B3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5394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53949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88920" y="5394960"/>
            <a:ext cx="1645920" cy="502920"/>
          </a:xfrm>
          <a:prstGeom prst="roundRect">
            <a:avLst>
              <a:gd name="adj" fmla="val 49091"/>
            </a:avLst>
          </a:prstGeom>
          <a:solidFill>
            <a:srgbClr val="16B3A8"/>
          </a:solidFill>
          <a:ln w="12700">
            <a:solidFill>
              <a:srgbClr val="16B3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88920" y="5394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53949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937760" y="5394960"/>
            <a:ext cx="1645920" cy="502920"/>
          </a:xfrm>
          <a:prstGeom prst="roundRect">
            <a:avLst>
              <a:gd name="adj" fmla="val 49091"/>
            </a:avLst>
          </a:prstGeom>
          <a:solidFill>
            <a:srgbClr val="16B3A8"/>
          </a:solidFill>
          <a:ln w="12700">
            <a:solidFill>
              <a:srgbClr val="16B3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5394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53949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086600" y="5394960"/>
            <a:ext cx="1645920" cy="502920"/>
          </a:xfrm>
          <a:prstGeom prst="roundRect">
            <a:avLst>
              <a:gd name="adj" fmla="val 49091"/>
            </a:avLst>
          </a:prstGeom>
          <a:solidFill>
            <a:srgbClr val="16B3A8"/>
          </a:solidFill>
          <a:ln w="12700">
            <a:solidFill>
              <a:srgbClr val="16B3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86600" y="5394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in four moves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487854" cy="3291840"/>
          </a:xfrm>
          <a:prstGeom prst="roundRect">
            <a:avLst>
              <a:gd name="adj" fmla="val 3675"/>
            </a:avLst>
          </a:prstGeom>
          <a:solidFill>
            <a:srgbClr val="FBFCFC"/>
          </a:solidFill>
          <a:ln w="12700">
            <a:solidFill>
              <a:srgbClr val="D5DF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0E234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80360"/>
            <a:ext cx="1939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29000"/>
            <a:ext cx="19392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 face turn into 512 numbers, one stage at a time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47974" y="1737360"/>
            <a:ext cx="2487854" cy="3291840"/>
          </a:xfrm>
          <a:prstGeom prst="roundRect">
            <a:avLst>
              <a:gd name="adj" fmla="val 3675"/>
            </a:avLst>
          </a:prstGeom>
          <a:solidFill>
            <a:srgbClr val="FBFCFC"/>
          </a:solidFill>
          <a:ln w="12700">
            <a:solidFill>
              <a:srgbClr val="D5DF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22294" y="2011680"/>
            <a:ext cx="640080" cy="640080"/>
          </a:xfrm>
          <a:prstGeom prst="ellipse">
            <a:avLst/>
          </a:prstGeom>
          <a:solidFill>
            <a:srgbClr val="0E234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2229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22294" y="2880360"/>
            <a:ext cx="1939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22294" y="3429000"/>
            <a:ext cx="19392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those stages into a prompt precise enough to get working code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55868" y="1737360"/>
            <a:ext cx="2487854" cy="3291840"/>
          </a:xfrm>
          <a:prstGeom prst="roundRect">
            <a:avLst>
              <a:gd name="adj" fmla="val 3675"/>
            </a:avLst>
          </a:prstGeom>
          <a:solidFill>
            <a:srgbClr val="FBFCFC"/>
          </a:solidFill>
          <a:ln w="12700">
            <a:solidFill>
              <a:srgbClr val="D5DF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0188" y="2011680"/>
            <a:ext cx="640080" cy="640080"/>
          </a:xfrm>
          <a:prstGeom prst="ellipse">
            <a:avLst/>
          </a:prstGeom>
          <a:solidFill>
            <a:srgbClr val="0A7A7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0188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30188" y="2880360"/>
            <a:ext cx="1939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530188" y="3429000"/>
            <a:ext cx="19392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writes face_id.py; we read it before we run it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063761" y="1737360"/>
            <a:ext cx="2487854" cy="3291840"/>
          </a:xfrm>
          <a:prstGeom prst="roundRect">
            <a:avLst>
              <a:gd name="adj" fmla="val 3675"/>
            </a:avLst>
          </a:prstGeom>
          <a:solidFill>
            <a:srgbClr val="FBFCFC"/>
          </a:solidFill>
          <a:ln w="12700">
            <a:solidFill>
              <a:srgbClr val="D5DF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38081" y="2011680"/>
            <a:ext cx="640080" cy="640080"/>
          </a:xfrm>
          <a:prstGeom prst="ellipse">
            <a:avLst/>
          </a:prstGeom>
          <a:solidFill>
            <a:srgbClr val="0A7A7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38081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338081" y="2880360"/>
            <a:ext cx="1939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it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338081" y="3429000"/>
            <a:ext cx="19392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Glasses, dim light, a photo on a phone — find where it fails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ENGR-126 · Face recognition by vibe coding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boxes from webcam to fingerprint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490472"/>
            <a:ext cx="6345936" cy="4242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3"/>
            </a:solidFill>
            <a:prstDash val="solid"/>
          </a:ln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0080" y="1508760"/>
            <a:ext cx="630936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1554480"/>
            <a:ext cx="438912" cy="438912"/>
          </a:xfrm>
          <a:prstGeom prst="ellipse">
            <a:avLst/>
          </a:prstGeom>
          <a:solidFill>
            <a:srgbClr val="0E234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0" y="1554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151790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frame</a:t>
            </a:r>
            <a:pPr indent="0" marL="0">
              <a:buNone/>
            </a:pPr>
            <a:r>
              <a:rPr lang="en-US" sz="16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any size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0" y="2249424"/>
            <a:ext cx="438912" cy="438912"/>
          </a:xfrm>
          <a:prstGeom prst="ellipse">
            <a:avLst/>
          </a:prstGeom>
          <a:solidFill>
            <a:srgbClr val="0E234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0" y="2249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21284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SCRFD</a:t>
            </a:r>
            <a:pPr indent="0" marL="0">
              <a:buNone/>
            </a:pPr>
            <a:r>
              <a:rPr lang="en-US" sz="16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finds each face and 5 key points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15200" y="2944368"/>
            <a:ext cx="438912" cy="438912"/>
          </a:xfrm>
          <a:prstGeom prst="ellipse">
            <a:avLst/>
          </a:prstGeom>
          <a:solidFill>
            <a:srgbClr val="0E234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0" y="2944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290779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</a:t>
            </a:r>
            <a:pPr indent="0" marL="0">
              <a:buNone/>
            </a:pPr>
            <a:r>
              <a:rPr lang="en-US" sz="16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face so the 5 points line up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315200" y="3639312"/>
            <a:ext cx="438912" cy="438912"/>
          </a:xfrm>
          <a:prstGeom prst="ellipse">
            <a:avLst/>
          </a:prstGeom>
          <a:solidFill>
            <a:srgbClr val="0A7A7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5200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360273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112×112×3</a:t>
            </a:r>
            <a:pPr indent="0" marL="0">
              <a:buNone/>
            </a:pPr>
            <a:r>
              <a:rPr lang="en-US" sz="16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crop is cut out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15200" y="4334256"/>
            <a:ext cx="438912" cy="438912"/>
          </a:xfrm>
          <a:prstGeom prst="ellipse">
            <a:avLst/>
          </a:prstGeom>
          <a:solidFill>
            <a:srgbClr val="0A7A7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315200" y="4334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955280" y="42976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pPr indent="0" marL="0">
              <a:buNone/>
            </a:pPr>
            <a:r>
              <a:rPr lang="en-US" sz="16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trained with ArcFace loss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315200" y="5029200"/>
            <a:ext cx="438912" cy="438912"/>
          </a:xfrm>
          <a:prstGeom prst="ellipse">
            <a:avLst/>
          </a:prstGeom>
          <a:solidFill>
            <a:srgbClr val="0A7A7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315200" y="5029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955280" y="499262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numbers</a:t>
            </a:r>
            <a:pPr indent="0" marL="0">
              <a:buNone/>
            </a:pPr>
            <a:r>
              <a:rPr lang="en-US" sz="16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scaled to length 1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ENGR-126 · Face recognition by vibe coding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never sees the classroom</a:t>
            </a:r>
            <a:endParaRPr lang="en-US" sz="3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0080" y="1508760"/>
            <a:ext cx="630936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0" y="15544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BCD0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2,764,800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C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in one 1280×720 color frame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0" y="29718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B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37,632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3703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C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ResNet actually reads: 112 × 112 × 3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44805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</a:t>
            </a:r>
            <a:pPr indent="0" marL="0">
              <a:buNone/>
            </a:pPr>
            <a:r>
              <a:rPr lang="en-US" sz="1800" b="1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73× less</a:t>
            </a:r>
            <a:pPr indent="0" marL="0">
              <a:buNone/>
            </a:pPr>
            <a:r>
              <a:rPr lang="en-US" sz="180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— and none of it is the whiteboard behind you.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ENGR-126 · Face recognition by vibe coding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dots make every face stand the same way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999427" cy="1737360"/>
          </a:xfrm>
          <a:prstGeom prst="roundRect">
            <a:avLst>
              <a:gd name="adj" fmla="val 5263"/>
            </a:avLst>
          </a:prstGeom>
          <a:solidFill>
            <a:srgbClr val="FBFCFC"/>
          </a:solidFill>
          <a:ln w="12700">
            <a:solidFill>
              <a:srgbClr val="D5DF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16B3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15422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eye center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68107" y="1600200"/>
            <a:ext cx="1999427" cy="1737360"/>
          </a:xfrm>
          <a:prstGeom prst="roundRect">
            <a:avLst>
              <a:gd name="adj" fmla="val 5263"/>
            </a:avLst>
          </a:prstGeom>
          <a:solidFill>
            <a:srgbClr val="FBFCFC"/>
          </a:solidFill>
          <a:ln w="12700">
            <a:solidFill>
              <a:srgbClr val="D5DF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96707" y="1828800"/>
            <a:ext cx="548640" cy="548640"/>
          </a:xfrm>
          <a:prstGeom prst="ellipse">
            <a:avLst/>
          </a:prstGeom>
          <a:solidFill>
            <a:srgbClr val="16B3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96707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096707" y="2560320"/>
            <a:ext cx="15422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eye center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96134" y="1600200"/>
            <a:ext cx="1999427" cy="1737360"/>
          </a:xfrm>
          <a:prstGeom prst="roundRect">
            <a:avLst>
              <a:gd name="adj" fmla="val 5263"/>
            </a:avLst>
          </a:prstGeom>
          <a:solidFill>
            <a:srgbClr val="FBFCFC"/>
          </a:solidFill>
          <a:ln w="12700">
            <a:solidFill>
              <a:srgbClr val="D5DF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24734" y="1828800"/>
            <a:ext cx="548640" cy="548640"/>
          </a:xfrm>
          <a:prstGeom prst="ellipse">
            <a:avLst/>
          </a:prstGeom>
          <a:solidFill>
            <a:srgbClr val="16B3A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24734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324734" y="2560320"/>
            <a:ext cx="15422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Nose tip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24161" y="1600200"/>
            <a:ext cx="1999427" cy="1737360"/>
          </a:xfrm>
          <a:prstGeom prst="roundRect">
            <a:avLst>
              <a:gd name="adj" fmla="val 5263"/>
            </a:avLst>
          </a:prstGeom>
          <a:solidFill>
            <a:srgbClr val="FBFCFC"/>
          </a:solidFill>
          <a:ln w="12700">
            <a:solidFill>
              <a:srgbClr val="D5DF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52761" y="1828800"/>
            <a:ext cx="548640" cy="548640"/>
          </a:xfrm>
          <a:prstGeom prst="ellipse">
            <a:avLst/>
          </a:prstGeom>
          <a:solidFill>
            <a:srgbClr val="16B3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52761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552761" y="2560320"/>
            <a:ext cx="15422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mouth corner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552188" y="1600200"/>
            <a:ext cx="1999427" cy="1737360"/>
          </a:xfrm>
          <a:prstGeom prst="roundRect">
            <a:avLst>
              <a:gd name="adj" fmla="val 5263"/>
            </a:avLst>
          </a:prstGeom>
          <a:solidFill>
            <a:srgbClr val="FBFCFC"/>
          </a:solidFill>
          <a:ln w="12700">
            <a:solidFill>
              <a:srgbClr val="D5DF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0788" y="1828800"/>
            <a:ext cx="548640" cy="548640"/>
          </a:xfrm>
          <a:prstGeom prst="ellipse">
            <a:avLst/>
          </a:prstGeom>
          <a:solidFill>
            <a:srgbClr val="16B3A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8078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780788" y="2560320"/>
            <a:ext cx="15422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mouth corner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3657600"/>
            <a:ext cx="5295748" cy="2194560"/>
          </a:xfrm>
          <a:prstGeom prst="roundRect">
            <a:avLst>
              <a:gd name="adj" fmla="val 4167"/>
            </a:avLst>
          </a:prstGeom>
          <a:solidFill>
            <a:srgbClr val="E6EEF0"/>
          </a:solidFill>
          <a:ln w="12700">
            <a:solidFill>
              <a:srgbClr val="E6EE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3931920"/>
            <a:ext cx="4655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warp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4480560"/>
            <a:ext cx="46556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Rotate, scale and shift the image — no stretching — so the 5 dots land on the same 5 pixels of every 112×112 crop.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55868" y="3657600"/>
            <a:ext cx="5295748" cy="2194560"/>
          </a:xfrm>
          <a:prstGeom prst="roundRect">
            <a:avLst>
              <a:gd name="adj" fmla="val 4167"/>
            </a:avLst>
          </a:prstGeom>
          <a:solidFill>
            <a:srgbClr val="E6EEF0"/>
          </a:solidFill>
          <a:ln w="12700">
            <a:solidFill>
              <a:srgbClr val="E6EE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75908" y="3931920"/>
            <a:ext cx="4655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575908" y="4480560"/>
            <a:ext cx="46556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tilted head and a straight head now give nearly the same crop, so the network compares faces, not poses.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ENGR-126 · Face recognition by vibe coding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face becomes 512 numbers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490472"/>
            <a:ext cx="6345936" cy="4242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3"/>
            </a:solidFill>
            <a:prstDash val="solid"/>
          </a:ln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0080" y="1508760"/>
            <a:ext cx="630936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0" y="1600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37,632 in → 512 out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15200" y="237744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mixes information from the whole face. No single box means “eyes” — and </a:t>
            </a:r>
            <a:pPr indent="0" marL="0">
              <a:buNone/>
            </a:pPr>
            <a:r>
              <a:rPr lang="en-US" sz="18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box means “Erdem.”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39319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lives in </a:t>
            </a:r>
            <a:pPr indent="0" marL="0">
              <a:buNone/>
            </a:pPr>
            <a:r>
              <a:rPr lang="en-US" sz="18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pPr indent="0" marL="0">
              <a:buNone/>
            </a:pPr>
            <a:r>
              <a:rPr lang="en-US" sz="18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file, stored next to a vector. The network knows no one.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ENGR-126 · Face recognition by vibe coding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6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is one multiply-and-add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911535" cy="1600200"/>
          </a:xfrm>
          <a:prstGeom prst="roundRect">
            <a:avLst>
              <a:gd name="adj" fmla="val 5714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783080"/>
            <a:ext cx="10088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EE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a₁b₁ + a₂b₂ + … + a₅₁₂b₅₁₂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46888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vectors have length 1, so this dot product </a:t>
            </a:r>
            <a:pPr indent="0" marL="0">
              <a:buNone/>
            </a:pPr>
            <a:r>
              <a:rPr lang="en-US" sz="1700" i="1" dirty="0">
                <a:solidFill>
                  <a:srgbClr val="BC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pPr indent="0" marL="0">
              <a:buNone/>
            </a:pPr>
            <a:r>
              <a:rPr lang="en-US" sz="1700" dirty="0">
                <a:solidFill>
                  <a:srgbClr val="BC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cosine of the angle between them:  </a:t>
            </a:r>
            <a:pPr indent="0" marL="0">
              <a:buNone/>
            </a:pPr>
            <a:r>
              <a:rPr lang="en-US" sz="1700" dirty="0">
                <a:solidFill>
                  <a:srgbClr val="16B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np.dot(a, b)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10911535" cy="182880"/>
          </a:xfrm>
          <a:prstGeom prst="roundRect">
            <a:avLst>
              <a:gd name="adj" fmla="val 50000"/>
            </a:avLst>
          </a:prstGeom>
          <a:solidFill>
            <a:srgbClr val="C9D6DC"/>
          </a:solidFill>
          <a:ln w="12700">
            <a:solidFill>
              <a:srgbClr val="C9D6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78155" y="3749040"/>
            <a:ext cx="3273461" cy="182880"/>
          </a:xfrm>
          <a:prstGeom prst="rect">
            <a:avLst/>
          </a:prstGeom>
          <a:solidFill>
            <a:srgbClr val="16B3A8"/>
          </a:solidFill>
          <a:ln w="12700">
            <a:solidFill>
              <a:srgbClr val="16B3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50723" y="3566160"/>
            <a:ext cx="54864" cy="548640"/>
          </a:xfrm>
          <a:prstGeom prst="rect">
            <a:avLst/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 opposite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52848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unrelated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06555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≈ 0.40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265615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 same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9377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 above the line → print that name. Below it → </a:t>
            </a:r>
            <a:pPr indent="0" marL="0">
              <a:buNone/>
            </a:pPr>
            <a:r>
              <a:rPr lang="en-US" sz="18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“Unknown.”</a:t>
            </a:r>
            <a:pPr indent="0" marL="0">
              <a:buNone/>
            </a:pPr>
            <a:r>
              <a:rPr lang="en-US" sz="18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0.40 is a starting guess we will tune in lab.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ENGR-126 · Face recognition by vibe coding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 has two jobs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272888" cy="4343400"/>
          </a:xfrm>
          <a:prstGeom prst="roundRect">
            <a:avLst>
              <a:gd name="adj" fmla="val 2105"/>
            </a:avLst>
          </a:prstGeom>
          <a:solidFill>
            <a:srgbClr val="FBFCFC"/>
          </a:solidFill>
          <a:ln w="12700">
            <a:solidFill>
              <a:srgbClr val="D5DF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920240"/>
            <a:ext cx="4632808" cy="502920"/>
          </a:xfrm>
          <a:prstGeom prst="roundRect">
            <a:avLst>
              <a:gd name="adj" fmla="val 18182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920240"/>
            <a:ext cx="435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face_id.py enroll Erdem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51760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 — once per person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91840"/>
            <a:ext cx="46328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5 frames with exactly one face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5 embeddings, average them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 the average back to length 1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name → vector in faces.npz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272888" cy="4343400"/>
          </a:xfrm>
          <a:prstGeom prst="roundRect">
            <a:avLst>
              <a:gd name="adj" fmla="val 2105"/>
            </a:avLst>
          </a:prstGeom>
          <a:solidFill>
            <a:srgbClr val="FBFCFC"/>
          </a:solidFill>
          <a:ln w="12700">
            <a:solidFill>
              <a:srgbClr val="D5DF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98768" y="1920240"/>
            <a:ext cx="4632808" cy="502920"/>
          </a:xfrm>
          <a:prstGeom prst="roundRect">
            <a:avLst>
              <a:gd name="adj" fmla="val 18182"/>
            </a:avLst>
          </a:prstGeom>
          <a:solidFill>
            <a:srgbClr val="0A7A73"/>
          </a:solidFill>
          <a:ln w="12700">
            <a:solidFill>
              <a:srgbClr val="0A7A7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35928" y="1920240"/>
            <a:ext cx="435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face_id.py run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98768" y="2651760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 — every frame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598768" y="3291840"/>
            <a:ext cx="46328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every face in the frame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each one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it with every vector in faces.npz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box + best name + score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ENGR-126 · Face recognition by vibe coding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B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0E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 · VIBE CODING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describe the four stages.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types the Python.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976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still own every line it writes.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you will run a dozen times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1816547" cy="1417320"/>
          </a:xfrm>
          <a:prstGeom prst="roundRect">
            <a:avLst>
              <a:gd name="adj" fmla="val 6452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145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E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4507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C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what, with which library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6355" y="2194560"/>
            <a:ext cx="237744" cy="2377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913827" y="1645920"/>
            <a:ext cx="1816547" cy="1417320"/>
          </a:xfrm>
          <a:prstGeom prst="roundRect">
            <a:avLst>
              <a:gd name="adj" fmla="val 6452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096707" y="1783080"/>
            <a:ext cx="145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E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096707" y="2286000"/>
            <a:ext cx="14507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C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the file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102" y="2194560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187574" y="1645920"/>
            <a:ext cx="1816547" cy="1417320"/>
          </a:xfrm>
          <a:prstGeom prst="roundRect">
            <a:avLst>
              <a:gd name="adj" fmla="val 6452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370454" y="1783080"/>
            <a:ext cx="145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E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5370454" y="2286000"/>
            <a:ext cx="14507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C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run it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849" y="2194560"/>
            <a:ext cx="237744" cy="23774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461321" y="1645920"/>
            <a:ext cx="1816547" cy="1417320"/>
          </a:xfrm>
          <a:prstGeom prst="roundRect">
            <a:avLst>
              <a:gd name="adj" fmla="val 6452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644201" y="1783080"/>
            <a:ext cx="145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E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7644201" y="2286000"/>
            <a:ext cx="14507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C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terminal</a:t>
            </a:r>
            <a:endParaRPr lang="en-US" sz="14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7596" y="2194560"/>
            <a:ext cx="237744" cy="23774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735068" y="1645920"/>
            <a:ext cx="1816547" cy="1417320"/>
          </a:xfrm>
          <a:prstGeom prst="roundRect">
            <a:avLst>
              <a:gd name="adj" fmla="val 6452"/>
            </a:avLst>
          </a:prstGeom>
          <a:solidFill>
            <a:srgbClr val="16B3A8"/>
          </a:solidFill>
          <a:ln w="12700">
            <a:solidFill>
              <a:srgbClr val="16B3A8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9917948" y="1783080"/>
            <a:ext cx="145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back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9917948" y="2286000"/>
            <a:ext cx="14507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error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8351215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0A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then back to Generate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40080" y="3749040"/>
            <a:ext cx="5295748" cy="2011680"/>
          </a:xfrm>
          <a:prstGeom prst="roundRect">
            <a:avLst>
              <a:gd name="adj" fmla="val 4545"/>
            </a:avLst>
          </a:prstGeom>
          <a:solidFill>
            <a:srgbClr val="E6EEF0"/>
          </a:solidFill>
          <a:ln w="12700">
            <a:solidFill>
              <a:srgbClr val="E6EEF0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960120" y="4023360"/>
            <a:ext cx="4655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the whole traceback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960120" y="4572000"/>
            <a:ext cx="46556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doesn’t work” gets a guess. The last 20 lines of red text get a fix.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6255868" y="3749040"/>
            <a:ext cx="5295748" cy="2011680"/>
          </a:xfrm>
          <a:prstGeom prst="roundRect">
            <a:avLst>
              <a:gd name="adj" fmla="val 4545"/>
            </a:avLst>
          </a:prstGeom>
          <a:solidFill>
            <a:srgbClr val="E6EEF0"/>
          </a:solidFill>
          <a:ln w="12700">
            <a:solidFill>
              <a:srgbClr val="E6EEF0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575908" y="4023360"/>
            <a:ext cx="4655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“explain line 42”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6575908" y="4572000"/>
            <a:ext cx="46556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can’t say what a block does, ask before you accept it.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ENGR-126 · Face recognition by vibe coding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 we paste into the LLM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911535" cy="4617720"/>
          </a:xfrm>
          <a:prstGeom prst="roundRect">
            <a:avLst>
              <a:gd name="adj" fmla="val 1980"/>
            </a:avLst>
          </a:prstGeom>
          <a:solidFill>
            <a:srgbClr val="16304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691640"/>
            <a:ext cx="1018001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E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one Python 3.11 file, 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6B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face_id.py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E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for a laptop webcam on [Windows / macOS].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E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6B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insightface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E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(model pack 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6B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buffalo_l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E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on CPU with onnxruntime, plus OpenCV and NumPy.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E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 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6B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 NAME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E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capture 5 frames that contain exactly one face, average their normed_embedding, re-normalize to length 1, and save name → vector in faces.npz.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E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 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6B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E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for every frame, detect all faces, dot each embedding with every saved vector, and draw the box with the best name and score. If the best score is below 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6B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 = 0.40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E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show “Unknown”.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E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Press q to quit. No network calls except the first model download. Comment every block for a beginner and list the pip install command at the top.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ENGR-126 · Face recognition by vibe coding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lines to find before you press Enter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11535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79089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E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Look for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E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A7A7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FaceAnalysis(name="buffalo_l")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SCRFD + ArcFace, the pipeline from the videos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A7A7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app.prepare(ctx_id=-1)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 means CPU: no GPU needed on lab laptops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A7A7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face.normed_embedding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length 1, so the dot product is the cosine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A7A7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mean / np.linalg.norm(mean)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average of unit vectors is shorter than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A7A7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THRESHOLD = 0.40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named knob at the top, not a number buried in a loop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A7A7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cv2.VideoCapture(0)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index: try 1 if the window is black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ENGR-126 · Face recognition by vibe coding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6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go wrong first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11535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108960"/>
                <a:gridCol w="36877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E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see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E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Likely cause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E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module named 'insightface'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environment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insightface onnxruntime opencv-python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Visual C++ 14.0 is required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can’t compile the package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VS Build Tools, or paste the error back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window, or frame is None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camera or no permission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VideoCapture(1); allow camera for Terminal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 is “Unknown”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too high, dark enrollment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the scores; re-enroll in room light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friend is labeled as you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too low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 THRESHOLD; enroll more frames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ENGR-126 · Face recognition by vibe coding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break your own recognizer</a:t>
            </a:r>
            <a:endParaRPr lang="en-US" sz="3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67665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46304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EE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EE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EE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Named?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Straight on, room light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Glasses or hat 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turned about 45°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Lights dimmed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photo on a phone screen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classmate (with consent)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0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554480"/>
            <a:ext cx="3687775" cy="2926080"/>
          </a:xfrm>
          <a:prstGeom prst="roundRect">
            <a:avLst>
              <a:gd name="adj" fmla="val 3125"/>
            </a:avLst>
          </a:prstGeom>
          <a:solidFill>
            <a:srgbClr val="E6EEF0"/>
          </a:solidFill>
          <a:ln w="12700">
            <a:solidFill>
              <a:srgbClr val="E6EE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8388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decide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237744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THRESHOLD that names you in rows 1–4 and never names your classmate. Write down why.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ENGR-126 · Face recognition by vibe coding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faces.npz is biometric data. Treat it that way.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423818" cy="3383280"/>
          </a:xfrm>
          <a:prstGeom prst="roundRect">
            <a:avLst>
              <a:gd name="adj" fmla="val 2703"/>
            </a:avLst>
          </a:prstGeom>
          <a:solidFill>
            <a:srgbClr val="16304F"/>
          </a:solidFill>
          <a:ln w="12700">
            <a:solidFill>
              <a:srgbClr val="2C4A6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202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0120" y="265176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E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 only a yes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3200400"/>
            <a:ext cx="27837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C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Yourself, or a classmate who agreed out loud. Never a photo of someone from the internet.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383938" y="1600200"/>
            <a:ext cx="3423818" cy="3383280"/>
          </a:xfrm>
          <a:prstGeom prst="roundRect">
            <a:avLst>
              <a:gd name="adj" fmla="val 2703"/>
            </a:avLst>
          </a:prstGeom>
          <a:solidFill>
            <a:srgbClr val="16304F"/>
          </a:solidFill>
          <a:ln w="12700">
            <a:solidFill>
              <a:srgbClr val="2C4A6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978" y="192024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703978" y="265176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E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local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703978" y="3200400"/>
            <a:ext cx="27837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C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GitHub, Drive or Canvas. Add faces.npz to .gitignore.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127797" y="1600200"/>
            <a:ext cx="3423818" cy="3383280"/>
          </a:xfrm>
          <a:prstGeom prst="roundRect">
            <a:avLst>
              <a:gd name="adj" fmla="val 2703"/>
            </a:avLst>
          </a:prstGeom>
          <a:solidFill>
            <a:srgbClr val="16304F"/>
          </a:solidFill>
          <a:ln w="12700">
            <a:solidFill>
              <a:srgbClr val="2C4A6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837" y="192024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447837" y="265176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E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a lock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8447837" y="3200400"/>
            <a:ext cx="27837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C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photo can fool it. Never use it to secure anything real.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40080" y="53492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leave: delete faces.npz.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ENGR-126 · Face recognition by vibe coding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Detect. Align.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Embed. </a:t>
            </a:r>
            <a:pPr indent="0" marL="0">
              <a:buNone/>
            </a:pPr>
            <a:r>
              <a:rPr lang="en-US" sz="5400" b="1" dirty="0">
                <a:solidFill>
                  <a:srgbClr val="0A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Compare.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640080" y="3383280"/>
            <a:ext cx="10911535" cy="2651760"/>
          </a:xfrm>
          <a:prstGeom prst="roundRect">
            <a:avLst>
              <a:gd name="adj" fmla="val 3448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3657600"/>
            <a:ext cx="10088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16B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HOMEWORK · DUE [DATE]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4160520"/>
            <a:ext cx="100885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the LLM to add an attendance log: write name + timestamp to </a:t>
            </a:r>
            <a:pPr indent="0" marL="0">
              <a:buNone/>
            </a:pPr>
            <a:r>
              <a:rPr lang="en-US" sz="2200" b="1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attendance.csv</a:t>
            </a:r>
            <a:pPr indent="0" marL="0">
              <a:buNone/>
            </a:pPr>
            <a:r>
              <a:rPr lang="en-US" sz="220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once per person per session.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530352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C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prompts, the final file, and one bug you had to fix.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Recognition by Vibe Coding</dc:title>
  <dc:subject>PptxGenJS Presentation</dc:subject>
  <dc:creator>ENGR-126</dc:creator>
  <cp:lastModifiedBy>ENGR-126</cp:lastModifiedBy>
  <cp:revision>1</cp:revision>
  <dcterms:created xsi:type="dcterms:W3CDTF">2026-09-27T04:45:13Z</dcterms:created>
  <dcterms:modified xsi:type="dcterms:W3CDTF">2026-09-27T04:45:13Z</dcterms:modified>
</cp:coreProperties>
</file>