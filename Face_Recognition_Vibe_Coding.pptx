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by the end of class, every laptop in this room will put your name over your face in a live webcam window — and none of you will type the Python yourselves. First we earn it by understanding the four stages on the bottom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Navy = the concepts half, teal = the coding half. Emphasize that step 4 is the real engineering: anyone can get a demo running; engineers find the conditions where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clip play once without talking. Then walk the six boxes. Key point from the clip: the 5 points live in stages 2–3 only; the recognizer in stage 5 never sees them, only the crop. SCRFD and ArcFace ResNet-50 are exactly what the insightface "buffalo_l" model pack gives us — this is the pipeline the LLM's code will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 on the board: 1280 × 720 × 3 = 2,764,800; 112 × 112 × 3 = 37,632; ratio ≈ 73. Each grid cell in the clip is one pixel with three values (R, G, B). Ask: what happens if the crop accidentally includes half the bookshelf? (The detector's job is to stop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idea: tilt your head 20 degrees and ask what a naive crop would look like. In insightface code these five points show up as face.kps — a 5×2 array of (x, y) pixel coordinates. Students will see it in the LLM's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glowing regions in the clip are a teaching simplification: real embedding dimensions are not tied to one feature. Takeaway: the model was trained so that two photos of the same person land close together in 512-dimensional space. That is all it does. Recognition = our code comparing vectors.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two tiny vectors on the board, e.g. (0.6, 0.8) and (0.8, 0.6): dot = 0.96. Then (0.6, 0.8) and (0.8, −0.6): dot = 0. Same idea in 512 dimensions. The threshold is an engineering trade-off: too high and you become "Unknown" to your own laptop; too low and your classmate unlocks as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specification we are about to give the LLM. If students can explain these eight steps, they can write the prompt. Why average 5 frames? One frame can be blurry or mid-blink; the average is steadier. Why rescale? Averaging unit vectors gives a vector slightly shorter than 1, which would quietly shrink every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"enroll" job from the previous slide, done on one real photo instead of in the abstract. Show the whole strip first and let students guess what each panel is before you walk it. Note for the class: "FaceHello" is this version of the app, and face_fingerprints.json is its fingerprint file — the code we generate calls the same file faces.npz. Different names, same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and recognition are two different questions. Detection: is there a face, and where? Recognition: whose face is it? At step 1 we only have the answer to the first. In the code this is app.get(image): face.bbox is the green box, face.det_score is the 0.88, face.kps holds the 5 dots as (x, y) pixel 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straighten? So that pixel (40, 50) is always "left eye", whether the photo was tilted, close-up or far away. Then the network compares faces, not poses or camera distance. This is the "similarity warp" box from the pipeline video — and the source of the harmless FutureWarning students may see (scikit-image's estimate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would R 255, G 255, B 255 be? (White.) R 0, G 0, B 0? (Black.) Once students see a photo as a long list of numbers, "AI" stops being magic: it is math on 37,632 numbers. Same arithmetic as the crop video: 112 × 112 × 3 = 37,632.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±0.04 comes from length 1: if all 512 numbers were the same size x, then 512 × x² = 1, so x = 1/√512 ≈ 0.044. Real values scatter around that. This vector is face.normed_embedding in the code — "normed" means length 1, which is why a plain dot product later gives the cosine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when E.T. later sits in front of the webcam, steps 1–4 run again on the live frame, and the new 512 numbers are compared with this saved vector using the dot product from the comparison slide. Enrolling = steps 1–5 once; recognizing = steps 1–4 on every frame, plus a compare instead of a save. More good photos → a steadier average → higher, more stable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Everything on the last five slides becomes words in a prompt. The quality of the code you get back depends on how precisely you can describe the system — which is why we did the concepts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"Paste back" you return to "Generate". Also tell the LLM your OS and Python version in the first message — many install errors are platform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sentence of this prompt maps to a slide we already covered: library = the pipeline slide, enroll/run = the two-jobs slide, THRESHOLD = the comparison slide. Students fill in their OS. Paste it live into the LLM and let the class watch the answer stream in. Naming the library matters: without it, LLMs often pick the older face_recognition/dlib package, which is hard to install on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Ctrl+F for each of these in the generated file. If one is missing, that is a question for the LLM, not a reason to panic — e.g. "Where do you re-normalize the averaged embedding?" LLMs frequently forget the re-normalization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run downloads the buffalo_l model pack (a few hundred MB) — do that step before class on lab machines if Wi-Fi is slow. The last two rows are not bugs; they are the threshold trade-off from the comparison slide showing up in real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print the raw score (ask the LLM to add it if missing). The phone-screen row is the teaching moment: the system will very likely accept a photo, because it has no liveness check. That leads straight into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512-number vector cannot be turned back into a perfect photo, but it can identify you — which is exactly what makes it sensitive. Connect to the phone-photo result: real systems add liveness detection (blink, depth, infrared). Ours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four words. For homework, the interesting part is "once per person per session" — students will have to describe state (who has already been logged) to the LLM. Grading on the prompts and the bug story rewards understanding, not just a working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340"/>
        </a:solidFill>
      </p:bgPr>
    </p:bg>
    <p:spTree>
      <p:nvGrpSpPr>
        <p:cNvPr id="1" name=""/>
        <p:cNvGrpSpPr/>
        <p:nvPr/>
      </p:nvGrpSpPr>
      <p:grpSpPr>
        <a:xfrm>
          <a:off x="0" y="0"/>
          <a:ext cx="0" cy="0"/>
          <a:chOff x="0" y="0"/>
          <a:chExt cx="0" cy="0"/>
        </a:xfrm>
      </p:grpSpPr>
      <p:sp>
        <p:nvSpPr>
          <p:cNvPr id="2" name="Text 0"/>
          <p:cNvSpPr txBox="1"/>
          <p:nvPr/>
        </p:nvSpPr>
        <p:spPr>
          <a:xfrm>
            <a:off x="640080" y="548640"/>
            <a:ext cx="10911535" cy="365760"/>
          </a:xfrm>
          <a:prstGeom prst="rect">
            <a:avLst/>
          </a:prstGeom>
          <a:noFill/>
          <a:ln/>
        </p:spPr>
        <p:txBody>
          <a:bodyPr wrap="square" lIns="0" tIns="0" rIns="0" bIns="0" rtlCol="0" anchor="t"/>
          <a:lstStyle/>
          <a:p>
            <a:pPr indent="0" marL="0">
              <a:buNone/>
            </a:pPr>
            <a:r>
              <a:rPr lang="en-US" sz="1600" spc="200" kern="0" dirty="0">
                <a:solidFill>
                  <a:srgbClr val="16B3A8"/>
                </a:solidFill>
                <a:latin typeface="Courier New" pitchFamily="34" charset="0"/>
                <a:ea typeface="Courier New" pitchFamily="34" charset="-122"/>
                <a:cs typeface="Courier New" pitchFamily="34" charset="-120"/>
              </a:rPr>
              <a:t>ENGR-126 · VIBE CODING WITH AI</a:t>
            </a:r>
            <a:endParaRPr lang="en-US" sz="1600" dirty="0"/>
          </a:p>
        </p:txBody>
      </p:sp>
      <p:sp>
        <p:nvSpPr>
          <p:cNvPr id="3" name="Text 1"/>
          <p:cNvSpPr txBox="1"/>
          <p:nvPr/>
        </p:nvSpPr>
        <p:spPr>
          <a:xfrm>
            <a:off x="640080" y="1325880"/>
            <a:ext cx="9144000" cy="2743200"/>
          </a:xfrm>
          <a:prstGeom prst="rect">
            <a:avLst/>
          </a:prstGeom>
          <a:noFill/>
          <a:ln/>
        </p:spPr>
        <p:txBody>
          <a:bodyPr wrap="square" lIns="0" tIns="0" rIns="0" bIns="0" rtlCol="0" anchor="t"/>
          <a:lstStyle/>
          <a:p>
            <a:pPr indent="0" marL="0">
              <a:lnSpc>
                <a:spcPct val="95000"/>
              </a:lnSpc>
              <a:buNone/>
            </a:pPr>
            <a:r>
              <a:rPr lang="en-US" sz="5400" b="1" dirty="0">
                <a:solidFill>
                  <a:srgbClr val="EEF4F6"/>
                </a:solidFill>
                <a:latin typeface="Arial" pitchFamily="34" charset="0"/>
                <a:ea typeface="Arial" pitchFamily="34" charset="-122"/>
                <a:cs typeface="Arial" pitchFamily="34" charset="-120"/>
              </a:rPr>
              <a:t>Your webcam,</a:t>
            </a:r>
            <a:endParaRPr lang="en-US" sz="5400" dirty="0"/>
          </a:p>
          <a:p>
            <a:pPr indent="0" marL="0">
              <a:lnSpc>
                <a:spcPct val="95000"/>
              </a:lnSpc>
              <a:buNone/>
            </a:pPr>
            <a:r>
              <a:rPr lang="en-US" sz="5400" b="1" dirty="0">
                <a:solidFill>
                  <a:srgbClr val="EEF4F6"/>
                </a:solidFill>
                <a:latin typeface="Arial" pitchFamily="34" charset="0"/>
                <a:ea typeface="Arial" pitchFamily="34" charset="-122"/>
                <a:cs typeface="Arial" pitchFamily="34" charset="-120"/>
              </a:rPr>
              <a:t>512 numbers,</a:t>
            </a:r>
            <a:endParaRPr lang="en-US" sz="5400" dirty="0"/>
          </a:p>
          <a:p>
            <a:pPr indent="0" marL="0">
              <a:lnSpc>
                <a:spcPct val="95000"/>
              </a:lnSpc>
              <a:buNone/>
            </a:pPr>
            <a:r>
              <a:rPr lang="en-US" sz="5400" b="1" dirty="0">
                <a:solidFill>
                  <a:srgbClr val="EEF4F6"/>
                </a:solidFill>
                <a:latin typeface="Arial" pitchFamily="34" charset="0"/>
                <a:ea typeface="Arial" pitchFamily="34" charset="-122"/>
                <a:cs typeface="Arial" pitchFamily="34" charset="-120"/>
              </a:rPr>
              <a:t>one comparison</a:t>
            </a:r>
            <a:endParaRPr lang="en-US" sz="5400" dirty="0"/>
          </a:p>
        </p:txBody>
      </p:sp>
      <p:sp>
        <p:nvSpPr>
          <p:cNvPr id="4" name="Text 2"/>
          <p:cNvSpPr txBox="1"/>
          <p:nvPr/>
        </p:nvSpPr>
        <p:spPr>
          <a:xfrm>
            <a:off x="640080" y="4206240"/>
            <a:ext cx="10058400" cy="457200"/>
          </a:xfrm>
          <a:prstGeom prst="rect">
            <a:avLst/>
          </a:prstGeom>
          <a:noFill/>
          <a:ln/>
        </p:spPr>
        <p:txBody>
          <a:bodyPr wrap="square" lIns="0" tIns="0" rIns="0" bIns="0" rtlCol="0" anchor="t"/>
          <a:lstStyle/>
          <a:p>
            <a:pPr indent="0" marL="0">
              <a:buNone/>
            </a:pPr>
            <a:r>
              <a:rPr lang="en-US" sz="2200" dirty="0">
                <a:solidFill>
                  <a:srgbClr val="BCD0DD"/>
                </a:solidFill>
                <a:latin typeface="Calibri" pitchFamily="34" charset="0"/>
                <a:ea typeface="Calibri" pitchFamily="34" charset="-122"/>
                <a:cs typeface="Calibri" pitchFamily="34" charset="-120"/>
              </a:rPr>
              <a:t>How face recognition works — then we make an LLM write it in Python</a:t>
            </a:r>
            <a:endParaRPr lang="en-US" sz="2200" dirty="0"/>
          </a:p>
        </p:txBody>
      </p:sp>
      <p:sp>
        <p:nvSpPr>
          <p:cNvPr id="5" name="Shape 3"/>
          <p:cNvSpPr/>
          <p:nvPr/>
        </p:nvSpPr>
        <p:spPr>
          <a:xfrm>
            <a:off x="640080" y="5394960"/>
            <a:ext cx="1645920" cy="502920"/>
          </a:xfrm>
          <a:prstGeom prst="roundRect">
            <a:avLst>
              <a:gd name="adj" fmla="val 49091"/>
            </a:avLst>
          </a:prstGeom>
          <a:solidFill>
            <a:srgbClr val="16B3A8"/>
          </a:solidFill>
          <a:ln w="12700">
            <a:solidFill>
              <a:srgbClr val="16B3A8"/>
            </a:solidFill>
            <a:prstDash val="solid"/>
          </a:ln>
        </p:spPr>
      </p:sp>
      <p:sp>
        <p:nvSpPr>
          <p:cNvPr id="6" name="Text 4"/>
          <p:cNvSpPr txBox="1"/>
          <p:nvPr/>
        </p:nvSpPr>
        <p:spPr>
          <a:xfrm>
            <a:off x="640080" y="5394960"/>
            <a:ext cx="1645920" cy="502920"/>
          </a:xfrm>
          <a:prstGeom prst="rect">
            <a:avLst/>
          </a:prstGeom>
          <a:noFill/>
          <a:ln/>
        </p:spPr>
        <p:txBody>
          <a:bodyPr wrap="square" lIns="0" tIns="0" rIns="0" bIns="0" rtlCol="0" anchor="ctr"/>
          <a:lstStyle/>
          <a:p>
            <a:pPr algn="ctr" indent="0" marL="0">
              <a:buNone/>
            </a:pPr>
            <a:r>
              <a:rPr lang="en-US" sz="1600" dirty="0">
                <a:solidFill>
                  <a:srgbClr val="0E2340"/>
                </a:solidFill>
                <a:latin typeface="Courier New" pitchFamily="34" charset="0"/>
                <a:ea typeface="Courier New" pitchFamily="34" charset="-122"/>
                <a:cs typeface="Courier New" pitchFamily="34" charset="-120"/>
              </a:rPr>
              <a:t>detect</a:t>
            </a:r>
            <a:endParaRPr lang="en-US" sz="1600" dirty="0"/>
          </a:p>
        </p:txBody>
      </p:sp>
      <p:sp>
        <p:nvSpPr>
          <p:cNvPr id="7" name="Text 5"/>
          <p:cNvSpPr txBox="1"/>
          <p:nvPr/>
        </p:nvSpPr>
        <p:spPr>
          <a:xfrm>
            <a:off x="2331720" y="5394960"/>
            <a:ext cx="411480" cy="502920"/>
          </a:xfrm>
          <a:prstGeom prst="rect">
            <a:avLst/>
          </a:prstGeom>
          <a:noFill/>
          <a:ln/>
        </p:spPr>
        <p:txBody>
          <a:bodyPr wrap="square" lIns="0" tIns="0" rIns="0" bIns="0" rtlCol="0" anchor="ctr"/>
          <a:lstStyle/>
          <a:p>
            <a:pPr algn="ctr" indent="0" marL="0">
              <a:buNone/>
            </a:pPr>
            <a:r>
              <a:rPr lang="en-US" sz="2000" dirty="0">
                <a:solidFill>
                  <a:srgbClr val="16B3A8"/>
                </a:solidFill>
                <a:latin typeface="Calibri" pitchFamily="34" charset="0"/>
                <a:ea typeface="Calibri" pitchFamily="34" charset="-122"/>
                <a:cs typeface="Calibri" pitchFamily="34" charset="-120"/>
              </a:rPr>
              <a:t>→</a:t>
            </a:r>
            <a:endParaRPr lang="en-US" sz="2000" dirty="0"/>
          </a:p>
        </p:txBody>
      </p:sp>
      <p:sp>
        <p:nvSpPr>
          <p:cNvPr id="8" name="Shape 6"/>
          <p:cNvSpPr/>
          <p:nvPr/>
        </p:nvSpPr>
        <p:spPr>
          <a:xfrm>
            <a:off x="2788920" y="5394960"/>
            <a:ext cx="1645920" cy="502920"/>
          </a:xfrm>
          <a:prstGeom prst="roundRect">
            <a:avLst>
              <a:gd name="adj" fmla="val 49091"/>
            </a:avLst>
          </a:prstGeom>
          <a:solidFill>
            <a:srgbClr val="16B3A8"/>
          </a:solidFill>
          <a:ln w="12700">
            <a:solidFill>
              <a:srgbClr val="16B3A8"/>
            </a:solidFill>
            <a:prstDash val="solid"/>
          </a:ln>
        </p:spPr>
      </p:sp>
      <p:sp>
        <p:nvSpPr>
          <p:cNvPr id="9" name="Text 7"/>
          <p:cNvSpPr txBox="1"/>
          <p:nvPr/>
        </p:nvSpPr>
        <p:spPr>
          <a:xfrm>
            <a:off x="2788920" y="5394960"/>
            <a:ext cx="1645920" cy="502920"/>
          </a:xfrm>
          <a:prstGeom prst="rect">
            <a:avLst/>
          </a:prstGeom>
          <a:noFill/>
          <a:ln/>
        </p:spPr>
        <p:txBody>
          <a:bodyPr wrap="square" lIns="0" tIns="0" rIns="0" bIns="0" rtlCol="0" anchor="ctr"/>
          <a:lstStyle/>
          <a:p>
            <a:pPr algn="ctr" indent="0" marL="0">
              <a:buNone/>
            </a:pPr>
            <a:r>
              <a:rPr lang="en-US" sz="1600" dirty="0">
                <a:solidFill>
                  <a:srgbClr val="0E2340"/>
                </a:solidFill>
                <a:latin typeface="Courier New" pitchFamily="34" charset="0"/>
                <a:ea typeface="Courier New" pitchFamily="34" charset="-122"/>
                <a:cs typeface="Courier New" pitchFamily="34" charset="-120"/>
              </a:rPr>
              <a:t>align</a:t>
            </a:r>
            <a:endParaRPr lang="en-US" sz="1600" dirty="0"/>
          </a:p>
        </p:txBody>
      </p:sp>
      <p:sp>
        <p:nvSpPr>
          <p:cNvPr id="10" name="Text 8"/>
          <p:cNvSpPr txBox="1"/>
          <p:nvPr/>
        </p:nvSpPr>
        <p:spPr>
          <a:xfrm>
            <a:off x="4480560" y="5394960"/>
            <a:ext cx="411480" cy="502920"/>
          </a:xfrm>
          <a:prstGeom prst="rect">
            <a:avLst/>
          </a:prstGeom>
          <a:noFill/>
          <a:ln/>
        </p:spPr>
        <p:txBody>
          <a:bodyPr wrap="square" lIns="0" tIns="0" rIns="0" bIns="0" rtlCol="0" anchor="ctr"/>
          <a:lstStyle/>
          <a:p>
            <a:pPr algn="ctr" indent="0" marL="0">
              <a:buNone/>
            </a:pPr>
            <a:r>
              <a:rPr lang="en-US" sz="2000" dirty="0">
                <a:solidFill>
                  <a:srgbClr val="16B3A8"/>
                </a:solidFill>
                <a:latin typeface="Calibri" pitchFamily="34" charset="0"/>
                <a:ea typeface="Calibri" pitchFamily="34" charset="-122"/>
                <a:cs typeface="Calibri" pitchFamily="34" charset="-120"/>
              </a:rPr>
              <a:t>→</a:t>
            </a:r>
            <a:endParaRPr lang="en-US" sz="2000" dirty="0"/>
          </a:p>
        </p:txBody>
      </p:sp>
      <p:sp>
        <p:nvSpPr>
          <p:cNvPr id="11" name="Shape 9"/>
          <p:cNvSpPr/>
          <p:nvPr/>
        </p:nvSpPr>
        <p:spPr>
          <a:xfrm>
            <a:off x="4937760" y="5394960"/>
            <a:ext cx="1645920" cy="502920"/>
          </a:xfrm>
          <a:prstGeom prst="roundRect">
            <a:avLst>
              <a:gd name="adj" fmla="val 49091"/>
            </a:avLst>
          </a:prstGeom>
          <a:solidFill>
            <a:srgbClr val="16B3A8"/>
          </a:solidFill>
          <a:ln w="12700">
            <a:solidFill>
              <a:srgbClr val="16B3A8"/>
            </a:solidFill>
            <a:prstDash val="solid"/>
          </a:ln>
        </p:spPr>
      </p:sp>
      <p:sp>
        <p:nvSpPr>
          <p:cNvPr id="12" name="Text 10"/>
          <p:cNvSpPr txBox="1"/>
          <p:nvPr/>
        </p:nvSpPr>
        <p:spPr>
          <a:xfrm>
            <a:off x="4937760" y="5394960"/>
            <a:ext cx="1645920" cy="502920"/>
          </a:xfrm>
          <a:prstGeom prst="rect">
            <a:avLst/>
          </a:prstGeom>
          <a:noFill/>
          <a:ln/>
        </p:spPr>
        <p:txBody>
          <a:bodyPr wrap="square" lIns="0" tIns="0" rIns="0" bIns="0" rtlCol="0" anchor="ctr"/>
          <a:lstStyle/>
          <a:p>
            <a:pPr algn="ctr" indent="0" marL="0">
              <a:buNone/>
            </a:pPr>
            <a:r>
              <a:rPr lang="en-US" sz="1600" dirty="0">
                <a:solidFill>
                  <a:srgbClr val="0E2340"/>
                </a:solidFill>
                <a:latin typeface="Courier New" pitchFamily="34" charset="0"/>
                <a:ea typeface="Courier New" pitchFamily="34" charset="-122"/>
                <a:cs typeface="Courier New" pitchFamily="34" charset="-120"/>
              </a:rPr>
              <a:t>embed</a:t>
            </a:r>
            <a:endParaRPr lang="en-US" sz="1600" dirty="0"/>
          </a:p>
        </p:txBody>
      </p:sp>
      <p:sp>
        <p:nvSpPr>
          <p:cNvPr id="13" name="Text 11"/>
          <p:cNvSpPr txBox="1"/>
          <p:nvPr/>
        </p:nvSpPr>
        <p:spPr>
          <a:xfrm>
            <a:off x="6629400" y="5394960"/>
            <a:ext cx="411480" cy="502920"/>
          </a:xfrm>
          <a:prstGeom prst="rect">
            <a:avLst/>
          </a:prstGeom>
          <a:noFill/>
          <a:ln/>
        </p:spPr>
        <p:txBody>
          <a:bodyPr wrap="square" lIns="0" tIns="0" rIns="0" bIns="0" rtlCol="0" anchor="ctr"/>
          <a:lstStyle/>
          <a:p>
            <a:pPr algn="ctr" indent="0" marL="0">
              <a:buNone/>
            </a:pPr>
            <a:r>
              <a:rPr lang="en-US" sz="2000" dirty="0">
                <a:solidFill>
                  <a:srgbClr val="16B3A8"/>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7086600" y="5394960"/>
            <a:ext cx="1645920" cy="502920"/>
          </a:xfrm>
          <a:prstGeom prst="roundRect">
            <a:avLst>
              <a:gd name="adj" fmla="val 49091"/>
            </a:avLst>
          </a:prstGeom>
          <a:solidFill>
            <a:srgbClr val="16B3A8"/>
          </a:solidFill>
          <a:ln w="12700">
            <a:solidFill>
              <a:srgbClr val="16B3A8"/>
            </a:solidFill>
            <a:prstDash val="solid"/>
          </a:ln>
        </p:spPr>
      </p:sp>
      <p:sp>
        <p:nvSpPr>
          <p:cNvPr id="15" name="Text 13"/>
          <p:cNvSpPr txBox="1"/>
          <p:nvPr/>
        </p:nvSpPr>
        <p:spPr>
          <a:xfrm>
            <a:off x="7086600" y="5394960"/>
            <a:ext cx="1645920" cy="502920"/>
          </a:xfrm>
          <a:prstGeom prst="rect">
            <a:avLst/>
          </a:prstGeom>
          <a:noFill/>
          <a:ln/>
        </p:spPr>
        <p:txBody>
          <a:bodyPr wrap="square" lIns="0" tIns="0" rIns="0" bIns="0" rtlCol="0" anchor="ctr"/>
          <a:lstStyle/>
          <a:p>
            <a:pPr algn="ctr" indent="0" marL="0">
              <a:buNone/>
            </a:pPr>
            <a:r>
              <a:rPr lang="en-US" sz="1600" dirty="0">
                <a:solidFill>
                  <a:srgbClr val="0E2340"/>
                </a:solidFill>
                <a:latin typeface="Courier New" pitchFamily="34" charset="0"/>
                <a:ea typeface="Courier New" pitchFamily="34" charset="-122"/>
                <a:cs typeface="Courier New" pitchFamily="34" charset="-120"/>
              </a:rPr>
              <a:t>compare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7"/>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731520"/>
          </a:xfrm>
          <a:prstGeom prst="rect">
            <a:avLst/>
          </a:prstGeom>
          <a:noFill/>
          <a:ln/>
        </p:spPr>
        <p:txBody>
          <a:bodyPr wrap="square" lIns="0" tIns="0" rIns="0" bIns="0" rtlCol="0" anchor="ctr"/>
          <a:lstStyle/>
          <a:p>
            <a:pPr indent="0" marL="0">
              <a:buNone/>
            </a:pPr>
            <a:r>
              <a:rPr lang="en-US" sz="3400" b="1" dirty="0">
                <a:solidFill>
                  <a:srgbClr val="0E2340"/>
                </a:solidFill>
                <a:latin typeface="Arial" pitchFamily="34" charset="0"/>
                <a:ea typeface="Arial" pitchFamily="34" charset="-122"/>
                <a:cs typeface="Arial" pitchFamily="34" charset="-120"/>
              </a:rPr>
              <a:t>Today in four moves</a:t>
            </a:r>
            <a:endParaRPr lang="en-US" sz="3400" dirty="0"/>
          </a:p>
        </p:txBody>
      </p:sp>
      <p:sp>
        <p:nvSpPr>
          <p:cNvPr id="3" name="Shape 1"/>
          <p:cNvSpPr/>
          <p:nvPr/>
        </p:nvSpPr>
        <p:spPr>
          <a:xfrm>
            <a:off x="640080" y="1737360"/>
            <a:ext cx="2487854" cy="3291840"/>
          </a:xfrm>
          <a:prstGeom prst="roundRect">
            <a:avLst>
              <a:gd name="adj" fmla="val 3675"/>
            </a:avLst>
          </a:prstGeom>
          <a:solidFill>
            <a:srgbClr val="FBFCFC"/>
          </a:solidFill>
          <a:ln w="12700">
            <a:solidFill>
              <a:srgbClr val="D5DFE3"/>
            </a:solidFill>
            <a:prstDash val="solid"/>
          </a:ln>
        </p:spPr>
      </p:sp>
      <p:sp>
        <p:nvSpPr>
          <p:cNvPr id="4" name="Shape 2"/>
          <p:cNvSpPr/>
          <p:nvPr/>
        </p:nvSpPr>
        <p:spPr>
          <a:xfrm>
            <a:off x="914400" y="2011680"/>
            <a:ext cx="640080" cy="640080"/>
          </a:xfrm>
          <a:prstGeom prst="ellipse">
            <a:avLst/>
          </a:prstGeom>
          <a:solidFill>
            <a:srgbClr val="0E2340"/>
          </a:solidFill>
          <a:ln/>
        </p:spPr>
      </p:sp>
      <p:sp>
        <p:nvSpPr>
          <p:cNvPr id="5" name="Text 3"/>
          <p:cNvSpPr txBox="1"/>
          <p:nvPr/>
        </p:nvSpPr>
        <p:spPr>
          <a:xfrm>
            <a:off x="914400" y="2011680"/>
            <a:ext cx="640080" cy="640080"/>
          </a:xfrm>
          <a:prstGeom prst="rect">
            <a:avLst/>
          </a:prstGeom>
          <a:noFill/>
          <a:ln/>
        </p:spPr>
        <p:txBody>
          <a:bodyPr wrap="square" lIns="0" tIns="0" rIns="0" bIns="0" rtlCol="0" anchor="ctr"/>
          <a:lstStyle/>
          <a:p>
            <a:pPr algn="ctr" indent="0" marL="0">
              <a:buNone/>
            </a:pPr>
            <a:r>
              <a:rPr lang="en-US" sz="1600" b="1" dirty="0">
                <a:solidFill>
                  <a:srgbClr val="EEF4F6"/>
                </a:solidFill>
                <a:latin typeface="Courier New" pitchFamily="34" charset="0"/>
                <a:ea typeface="Courier New" pitchFamily="34" charset="-122"/>
                <a:cs typeface="Courier New" pitchFamily="34" charset="-120"/>
              </a:rPr>
              <a:t>01</a:t>
            </a:r>
            <a:endParaRPr lang="en-US" sz="1600" dirty="0"/>
          </a:p>
        </p:txBody>
      </p:sp>
      <p:sp>
        <p:nvSpPr>
          <p:cNvPr id="6" name="Text 4"/>
          <p:cNvSpPr txBox="1"/>
          <p:nvPr/>
        </p:nvSpPr>
        <p:spPr>
          <a:xfrm>
            <a:off x="914400" y="2880360"/>
            <a:ext cx="1939214" cy="457200"/>
          </a:xfrm>
          <a:prstGeom prst="rect">
            <a:avLst/>
          </a:prstGeom>
          <a:noFill/>
          <a:ln/>
        </p:spPr>
        <p:txBody>
          <a:bodyPr wrap="square" lIns="0" tIns="0" rIns="0" bIns="0" rtlCol="0" anchor="t"/>
          <a:lstStyle/>
          <a:p>
            <a:pPr indent="0" marL="0">
              <a:buNone/>
            </a:pPr>
            <a:r>
              <a:rPr lang="en-US" sz="2200" b="1" dirty="0">
                <a:solidFill>
                  <a:srgbClr val="0E2340"/>
                </a:solidFill>
                <a:latin typeface="Arial" pitchFamily="34" charset="0"/>
                <a:ea typeface="Arial" pitchFamily="34" charset="-122"/>
                <a:cs typeface="Arial" pitchFamily="34" charset="-120"/>
              </a:rPr>
              <a:t>Understand</a:t>
            </a:r>
            <a:endParaRPr lang="en-US" sz="2200" dirty="0"/>
          </a:p>
        </p:txBody>
      </p:sp>
      <p:sp>
        <p:nvSpPr>
          <p:cNvPr id="7" name="Text 5"/>
          <p:cNvSpPr txBox="1"/>
          <p:nvPr/>
        </p:nvSpPr>
        <p:spPr>
          <a:xfrm>
            <a:off x="914400" y="3429000"/>
            <a:ext cx="1939214" cy="137160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Watch a face turn into 512 numbers, one stage at a time</a:t>
            </a:r>
            <a:endParaRPr lang="en-US" sz="1600" dirty="0"/>
          </a:p>
        </p:txBody>
      </p:sp>
      <p:sp>
        <p:nvSpPr>
          <p:cNvPr id="8" name="Shape 6"/>
          <p:cNvSpPr/>
          <p:nvPr/>
        </p:nvSpPr>
        <p:spPr>
          <a:xfrm>
            <a:off x="3447974" y="1737360"/>
            <a:ext cx="2487854" cy="3291840"/>
          </a:xfrm>
          <a:prstGeom prst="roundRect">
            <a:avLst>
              <a:gd name="adj" fmla="val 3675"/>
            </a:avLst>
          </a:prstGeom>
          <a:solidFill>
            <a:srgbClr val="FBFCFC"/>
          </a:solidFill>
          <a:ln w="12700">
            <a:solidFill>
              <a:srgbClr val="D5DFE3"/>
            </a:solidFill>
            <a:prstDash val="solid"/>
          </a:ln>
        </p:spPr>
      </p:sp>
      <p:sp>
        <p:nvSpPr>
          <p:cNvPr id="9" name="Shape 7"/>
          <p:cNvSpPr/>
          <p:nvPr/>
        </p:nvSpPr>
        <p:spPr>
          <a:xfrm>
            <a:off x="3722294" y="2011680"/>
            <a:ext cx="640080" cy="640080"/>
          </a:xfrm>
          <a:prstGeom prst="ellipse">
            <a:avLst/>
          </a:prstGeom>
          <a:solidFill>
            <a:srgbClr val="0E2340"/>
          </a:solidFill>
          <a:ln/>
        </p:spPr>
      </p:sp>
      <p:sp>
        <p:nvSpPr>
          <p:cNvPr id="10" name="Text 8"/>
          <p:cNvSpPr txBox="1"/>
          <p:nvPr/>
        </p:nvSpPr>
        <p:spPr>
          <a:xfrm>
            <a:off x="3722294" y="2011680"/>
            <a:ext cx="640080" cy="640080"/>
          </a:xfrm>
          <a:prstGeom prst="rect">
            <a:avLst/>
          </a:prstGeom>
          <a:noFill/>
          <a:ln/>
        </p:spPr>
        <p:txBody>
          <a:bodyPr wrap="square" lIns="0" tIns="0" rIns="0" bIns="0" rtlCol="0" anchor="ctr"/>
          <a:lstStyle/>
          <a:p>
            <a:pPr algn="ctr" indent="0" marL="0">
              <a:buNone/>
            </a:pPr>
            <a:r>
              <a:rPr lang="en-US" sz="1600" b="1" dirty="0">
                <a:solidFill>
                  <a:srgbClr val="EEF4F6"/>
                </a:solidFill>
                <a:latin typeface="Courier New" pitchFamily="34" charset="0"/>
                <a:ea typeface="Courier New" pitchFamily="34" charset="-122"/>
                <a:cs typeface="Courier New" pitchFamily="34" charset="-120"/>
              </a:rPr>
              <a:t>02</a:t>
            </a:r>
            <a:endParaRPr lang="en-US" sz="1600" dirty="0"/>
          </a:p>
        </p:txBody>
      </p:sp>
      <p:sp>
        <p:nvSpPr>
          <p:cNvPr id="11" name="Text 9"/>
          <p:cNvSpPr txBox="1"/>
          <p:nvPr/>
        </p:nvSpPr>
        <p:spPr>
          <a:xfrm>
            <a:off x="3722294" y="2880360"/>
            <a:ext cx="1939214" cy="457200"/>
          </a:xfrm>
          <a:prstGeom prst="rect">
            <a:avLst/>
          </a:prstGeom>
          <a:noFill/>
          <a:ln/>
        </p:spPr>
        <p:txBody>
          <a:bodyPr wrap="square" lIns="0" tIns="0" rIns="0" bIns="0" rtlCol="0" anchor="t"/>
          <a:lstStyle/>
          <a:p>
            <a:pPr indent="0" marL="0">
              <a:buNone/>
            </a:pPr>
            <a:r>
              <a:rPr lang="en-US" sz="2200" b="1" dirty="0">
                <a:solidFill>
                  <a:srgbClr val="0E2340"/>
                </a:solidFill>
                <a:latin typeface="Arial" pitchFamily="34" charset="0"/>
                <a:ea typeface="Arial" pitchFamily="34" charset="-122"/>
                <a:cs typeface="Arial" pitchFamily="34" charset="-120"/>
              </a:rPr>
              <a:t>Describe</a:t>
            </a:r>
            <a:endParaRPr lang="en-US" sz="2200" dirty="0"/>
          </a:p>
        </p:txBody>
      </p:sp>
      <p:sp>
        <p:nvSpPr>
          <p:cNvPr id="12" name="Text 10"/>
          <p:cNvSpPr txBox="1"/>
          <p:nvPr/>
        </p:nvSpPr>
        <p:spPr>
          <a:xfrm>
            <a:off x="3722294" y="3429000"/>
            <a:ext cx="1939214" cy="137160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Turn those stages into a prompt precise enough to get working code</a:t>
            </a:r>
            <a:endParaRPr lang="en-US" sz="1600" dirty="0"/>
          </a:p>
        </p:txBody>
      </p:sp>
      <p:sp>
        <p:nvSpPr>
          <p:cNvPr id="13" name="Shape 11"/>
          <p:cNvSpPr/>
          <p:nvPr/>
        </p:nvSpPr>
        <p:spPr>
          <a:xfrm>
            <a:off x="6255868" y="1737360"/>
            <a:ext cx="2487854" cy="3291840"/>
          </a:xfrm>
          <a:prstGeom prst="roundRect">
            <a:avLst>
              <a:gd name="adj" fmla="val 3675"/>
            </a:avLst>
          </a:prstGeom>
          <a:solidFill>
            <a:srgbClr val="FBFCFC"/>
          </a:solidFill>
          <a:ln w="12700">
            <a:solidFill>
              <a:srgbClr val="D5DFE3"/>
            </a:solidFill>
            <a:prstDash val="solid"/>
          </a:ln>
        </p:spPr>
      </p:sp>
      <p:sp>
        <p:nvSpPr>
          <p:cNvPr id="14" name="Shape 12"/>
          <p:cNvSpPr/>
          <p:nvPr/>
        </p:nvSpPr>
        <p:spPr>
          <a:xfrm>
            <a:off x="6530188" y="2011680"/>
            <a:ext cx="640080" cy="640080"/>
          </a:xfrm>
          <a:prstGeom prst="ellipse">
            <a:avLst/>
          </a:prstGeom>
          <a:solidFill>
            <a:srgbClr val="0A7A73"/>
          </a:solidFill>
          <a:ln/>
        </p:spPr>
      </p:sp>
      <p:sp>
        <p:nvSpPr>
          <p:cNvPr id="15" name="Text 13"/>
          <p:cNvSpPr txBox="1"/>
          <p:nvPr/>
        </p:nvSpPr>
        <p:spPr>
          <a:xfrm>
            <a:off x="6530188" y="2011680"/>
            <a:ext cx="640080" cy="640080"/>
          </a:xfrm>
          <a:prstGeom prst="rect">
            <a:avLst/>
          </a:prstGeom>
          <a:noFill/>
          <a:ln/>
        </p:spPr>
        <p:txBody>
          <a:bodyPr wrap="square" lIns="0" tIns="0" rIns="0" bIns="0" rtlCol="0" anchor="ctr"/>
          <a:lstStyle/>
          <a:p>
            <a:pPr algn="ctr" indent="0" marL="0">
              <a:buNone/>
            </a:pPr>
            <a:r>
              <a:rPr lang="en-US" sz="1600" b="1" dirty="0">
                <a:solidFill>
                  <a:srgbClr val="EEF4F6"/>
                </a:solidFill>
                <a:latin typeface="Courier New" pitchFamily="34" charset="0"/>
                <a:ea typeface="Courier New" pitchFamily="34" charset="-122"/>
                <a:cs typeface="Courier New" pitchFamily="34" charset="-120"/>
              </a:rPr>
              <a:t>03</a:t>
            </a:r>
            <a:endParaRPr lang="en-US" sz="1600" dirty="0"/>
          </a:p>
        </p:txBody>
      </p:sp>
      <p:sp>
        <p:nvSpPr>
          <p:cNvPr id="16" name="Text 14"/>
          <p:cNvSpPr txBox="1"/>
          <p:nvPr/>
        </p:nvSpPr>
        <p:spPr>
          <a:xfrm>
            <a:off x="6530188" y="2880360"/>
            <a:ext cx="1939214" cy="457200"/>
          </a:xfrm>
          <a:prstGeom prst="rect">
            <a:avLst/>
          </a:prstGeom>
          <a:noFill/>
          <a:ln/>
        </p:spPr>
        <p:txBody>
          <a:bodyPr wrap="square" lIns="0" tIns="0" rIns="0" bIns="0" rtlCol="0" anchor="t"/>
          <a:lstStyle/>
          <a:p>
            <a:pPr indent="0" marL="0">
              <a:buNone/>
            </a:pPr>
            <a:r>
              <a:rPr lang="en-US" sz="2200" b="1" dirty="0">
                <a:solidFill>
                  <a:srgbClr val="0E2340"/>
                </a:solidFill>
                <a:latin typeface="Arial" pitchFamily="34" charset="0"/>
                <a:ea typeface="Arial" pitchFamily="34" charset="-122"/>
                <a:cs typeface="Arial" pitchFamily="34" charset="-120"/>
              </a:rPr>
              <a:t>Generate</a:t>
            </a:r>
            <a:endParaRPr lang="en-US" sz="2200" dirty="0"/>
          </a:p>
        </p:txBody>
      </p:sp>
      <p:sp>
        <p:nvSpPr>
          <p:cNvPr id="17" name="Text 15"/>
          <p:cNvSpPr txBox="1"/>
          <p:nvPr/>
        </p:nvSpPr>
        <p:spPr>
          <a:xfrm>
            <a:off x="6530188" y="3429000"/>
            <a:ext cx="1939214" cy="137160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The LLM writes face_id.py; we read it before we run it</a:t>
            </a:r>
            <a:endParaRPr lang="en-US" sz="1600" dirty="0"/>
          </a:p>
        </p:txBody>
      </p:sp>
      <p:sp>
        <p:nvSpPr>
          <p:cNvPr id="18" name="Shape 16"/>
          <p:cNvSpPr/>
          <p:nvPr/>
        </p:nvSpPr>
        <p:spPr>
          <a:xfrm>
            <a:off x="9063761" y="1737360"/>
            <a:ext cx="2487854" cy="3291840"/>
          </a:xfrm>
          <a:prstGeom prst="roundRect">
            <a:avLst>
              <a:gd name="adj" fmla="val 3675"/>
            </a:avLst>
          </a:prstGeom>
          <a:solidFill>
            <a:srgbClr val="FBFCFC"/>
          </a:solidFill>
          <a:ln w="12700">
            <a:solidFill>
              <a:srgbClr val="D5DFE3"/>
            </a:solidFill>
            <a:prstDash val="solid"/>
          </a:ln>
        </p:spPr>
      </p:sp>
      <p:sp>
        <p:nvSpPr>
          <p:cNvPr id="19" name="Shape 17"/>
          <p:cNvSpPr/>
          <p:nvPr/>
        </p:nvSpPr>
        <p:spPr>
          <a:xfrm>
            <a:off x="9338081" y="2011680"/>
            <a:ext cx="640080" cy="640080"/>
          </a:xfrm>
          <a:prstGeom prst="ellipse">
            <a:avLst/>
          </a:prstGeom>
          <a:solidFill>
            <a:srgbClr val="0A7A73"/>
          </a:solidFill>
          <a:ln/>
        </p:spPr>
      </p:sp>
      <p:sp>
        <p:nvSpPr>
          <p:cNvPr id="20" name="Text 18"/>
          <p:cNvSpPr txBox="1"/>
          <p:nvPr/>
        </p:nvSpPr>
        <p:spPr>
          <a:xfrm>
            <a:off x="9338081" y="2011680"/>
            <a:ext cx="640080" cy="640080"/>
          </a:xfrm>
          <a:prstGeom prst="rect">
            <a:avLst/>
          </a:prstGeom>
          <a:noFill/>
          <a:ln/>
        </p:spPr>
        <p:txBody>
          <a:bodyPr wrap="square" lIns="0" tIns="0" rIns="0" bIns="0" rtlCol="0" anchor="ctr"/>
          <a:lstStyle/>
          <a:p>
            <a:pPr algn="ctr" indent="0" marL="0">
              <a:buNone/>
            </a:pPr>
            <a:r>
              <a:rPr lang="en-US" sz="1600" b="1" dirty="0">
                <a:solidFill>
                  <a:srgbClr val="EEF4F6"/>
                </a:solidFill>
                <a:latin typeface="Courier New" pitchFamily="34" charset="0"/>
                <a:ea typeface="Courier New" pitchFamily="34" charset="-122"/>
                <a:cs typeface="Courier New" pitchFamily="34" charset="-120"/>
              </a:rPr>
              <a:t>04</a:t>
            </a:r>
            <a:endParaRPr lang="en-US" sz="1600" dirty="0"/>
          </a:p>
        </p:txBody>
      </p:sp>
      <p:sp>
        <p:nvSpPr>
          <p:cNvPr id="21" name="Text 19"/>
          <p:cNvSpPr txBox="1"/>
          <p:nvPr/>
        </p:nvSpPr>
        <p:spPr>
          <a:xfrm>
            <a:off x="9338081" y="2880360"/>
            <a:ext cx="1939214" cy="457200"/>
          </a:xfrm>
          <a:prstGeom prst="rect">
            <a:avLst/>
          </a:prstGeom>
          <a:noFill/>
          <a:ln/>
        </p:spPr>
        <p:txBody>
          <a:bodyPr wrap="square" lIns="0" tIns="0" rIns="0" bIns="0" rtlCol="0" anchor="t"/>
          <a:lstStyle/>
          <a:p>
            <a:pPr indent="0" marL="0">
              <a:buNone/>
            </a:pPr>
            <a:r>
              <a:rPr lang="en-US" sz="2200" b="1" dirty="0">
                <a:solidFill>
                  <a:srgbClr val="0E2340"/>
                </a:solidFill>
                <a:latin typeface="Arial" pitchFamily="34" charset="0"/>
                <a:ea typeface="Arial" pitchFamily="34" charset="-122"/>
                <a:cs typeface="Arial" pitchFamily="34" charset="-120"/>
              </a:rPr>
              <a:t>Break it</a:t>
            </a:r>
            <a:endParaRPr lang="en-US" sz="2200" dirty="0"/>
          </a:p>
        </p:txBody>
      </p:sp>
      <p:sp>
        <p:nvSpPr>
          <p:cNvPr id="22" name="Text 20"/>
          <p:cNvSpPr txBox="1"/>
          <p:nvPr/>
        </p:nvSpPr>
        <p:spPr>
          <a:xfrm>
            <a:off x="9338081" y="3429000"/>
            <a:ext cx="1939214" cy="137160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Glasses, dim light, a photo on a phone — find where it fails</a:t>
            </a:r>
            <a:endParaRPr lang="en-US" sz="1600" dirty="0"/>
          </a:p>
        </p:txBody>
      </p:sp>
      <p:sp>
        <p:nvSpPr>
          <p:cNvPr id="23" name="Text 21"/>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5B6B7C"/>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6F7"/>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731520"/>
          </a:xfrm>
          <a:prstGeom prst="rect">
            <a:avLst/>
          </a:prstGeom>
          <a:noFill/>
          <a:ln/>
        </p:spPr>
        <p:txBody>
          <a:bodyPr wrap="square" lIns="0" tIns="0" rIns="0" bIns="0" rtlCol="0" anchor="ctr"/>
          <a:lstStyle/>
          <a:p>
            <a:pPr indent="0" marL="0">
              <a:buNone/>
            </a:pPr>
            <a:r>
              <a:rPr lang="en-US" sz="3400" b="1" dirty="0">
                <a:solidFill>
                  <a:srgbClr val="0E2340"/>
                </a:solidFill>
                <a:latin typeface="Arial" pitchFamily="34" charset="0"/>
                <a:ea typeface="Arial" pitchFamily="34" charset="-122"/>
                <a:cs typeface="Arial" pitchFamily="34" charset="-120"/>
              </a:rPr>
              <a:t>Six boxes from webcam to fingerprint</a:t>
            </a:r>
            <a:endParaRPr lang="en-US" sz="3400" dirty="0"/>
          </a:p>
        </p:txBody>
      </p:sp>
      <p:sp>
        <p:nvSpPr>
          <p:cNvPr id="3" name="Shape 1"/>
          <p:cNvSpPr/>
          <p:nvPr/>
        </p:nvSpPr>
        <p:spPr>
          <a:xfrm>
            <a:off x="621792" y="1490472"/>
            <a:ext cx="6345936" cy="4242816"/>
          </a:xfrm>
          <a:prstGeom prst="rect">
            <a:avLst/>
          </a:prstGeom>
          <a:solidFill>
            <a:srgbClr val="FFFFFF"/>
          </a:solidFill>
          <a:ln w="12700">
            <a:solidFill>
              <a:srgbClr val="D5DFE3"/>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508760"/>
            <a:ext cx="6309360" cy="4206240"/>
          </a:xfrm>
          <a:prstGeom prst="rect">
            <a:avLst/>
          </a:prstGeom>
        </p:spPr>
      </p:pic>
      <p:sp>
        <p:nvSpPr>
          <p:cNvPr id="5" name="Shape 2"/>
          <p:cNvSpPr/>
          <p:nvPr/>
        </p:nvSpPr>
        <p:spPr>
          <a:xfrm>
            <a:off x="7315200" y="1554480"/>
            <a:ext cx="438912" cy="438912"/>
          </a:xfrm>
          <a:prstGeom prst="ellipse">
            <a:avLst/>
          </a:prstGeom>
          <a:solidFill>
            <a:srgbClr val="0E2340"/>
          </a:solidFill>
          <a:ln/>
        </p:spPr>
      </p:sp>
      <p:sp>
        <p:nvSpPr>
          <p:cNvPr id="6" name="Text 3"/>
          <p:cNvSpPr txBox="1"/>
          <p:nvPr/>
        </p:nvSpPr>
        <p:spPr>
          <a:xfrm>
            <a:off x="7315200" y="1554480"/>
            <a:ext cx="438912" cy="438912"/>
          </a:xfrm>
          <a:prstGeom prst="rect">
            <a:avLst/>
          </a:prstGeom>
          <a:noFill/>
          <a:ln/>
        </p:spPr>
        <p:txBody>
          <a:bodyPr wrap="square" lIns="0" tIns="0" rIns="0" bIns="0" rtlCol="0" anchor="ctr"/>
          <a:lstStyle/>
          <a:p>
            <a:pPr algn="ctr" indent="0" marL="0">
              <a:buNone/>
            </a:pPr>
            <a:r>
              <a:rPr lang="en-US" sz="1400" b="1" dirty="0">
                <a:solidFill>
                  <a:srgbClr val="EEF4F6"/>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7955280" y="1517904"/>
            <a:ext cx="3611880" cy="548640"/>
          </a:xfrm>
          <a:prstGeom prst="rect">
            <a:avLst/>
          </a:prstGeom>
          <a:noFill/>
          <a:ln/>
        </p:spPr>
        <p:txBody>
          <a:bodyPr wrap="square" lIns="0" tIns="0" rIns="0" bIns="0" rtlCol="0" anchor="ctr"/>
          <a:lstStyle/>
          <a:p>
            <a:pPr indent="0" marL="0">
              <a:buNone/>
            </a:pPr>
            <a:r>
              <a:rPr lang="en-US" sz="1600" b="1" dirty="0">
                <a:solidFill>
                  <a:srgbClr val="0E2340"/>
                </a:solidFill>
                <a:latin typeface="Calibri" pitchFamily="34" charset="0"/>
                <a:ea typeface="Calibri" pitchFamily="34" charset="-122"/>
                <a:cs typeface="Calibri" pitchFamily="34" charset="-120"/>
              </a:rPr>
              <a:t>Webcam frame</a:t>
            </a:r>
            <a:pPr indent="0" marL="0">
              <a:buNone/>
            </a:pPr>
            <a:r>
              <a:rPr lang="en-US" sz="1600" dirty="0">
                <a:solidFill>
                  <a:srgbClr val="3D4F63"/>
                </a:solidFill>
                <a:latin typeface="Calibri" pitchFamily="34" charset="0"/>
                <a:ea typeface="Calibri" pitchFamily="34" charset="-122"/>
                <a:cs typeface="Calibri" pitchFamily="34" charset="-120"/>
              </a:rPr>
              <a:t>, any size</a:t>
            </a:r>
            <a:endParaRPr lang="en-US" sz="1600" dirty="0"/>
          </a:p>
        </p:txBody>
      </p:sp>
      <p:sp>
        <p:nvSpPr>
          <p:cNvPr id="8" name="Shape 5"/>
          <p:cNvSpPr/>
          <p:nvPr/>
        </p:nvSpPr>
        <p:spPr>
          <a:xfrm>
            <a:off x="7315200" y="2249424"/>
            <a:ext cx="438912" cy="438912"/>
          </a:xfrm>
          <a:prstGeom prst="ellipse">
            <a:avLst/>
          </a:prstGeom>
          <a:solidFill>
            <a:srgbClr val="0E2340"/>
          </a:solidFill>
          <a:ln/>
        </p:spPr>
      </p:sp>
      <p:sp>
        <p:nvSpPr>
          <p:cNvPr id="9" name="Text 6"/>
          <p:cNvSpPr txBox="1"/>
          <p:nvPr/>
        </p:nvSpPr>
        <p:spPr>
          <a:xfrm>
            <a:off x="7315200" y="2249424"/>
            <a:ext cx="438912" cy="438912"/>
          </a:xfrm>
          <a:prstGeom prst="rect">
            <a:avLst/>
          </a:prstGeom>
          <a:noFill/>
          <a:ln/>
        </p:spPr>
        <p:txBody>
          <a:bodyPr wrap="square" lIns="0" tIns="0" rIns="0" bIns="0" rtlCol="0" anchor="ctr"/>
          <a:lstStyle/>
          <a:p>
            <a:pPr algn="ctr" indent="0" marL="0">
              <a:buNone/>
            </a:pPr>
            <a:r>
              <a:rPr lang="en-US" sz="1400" b="1" dirty="0">
                <a:solidFill>
                  <a:srgbClr val="EEF4F6"/>
                </a:solidFill>
                <a:latin typeface="Calibri" pitchFamily="34" charset="0"/>
                <a:ea typeface="Calibri" pitchFamily="34" charset="-122"/>
                <a:cs typeface="Calibri" pitchFamily="34" charset="-120"/>
              </a:rPr>
              <a:t>2</a:t>
            </a:r>
            <a:endParaRPr lang="en-US" sz="1400" dirty="0"/>
          </a:p>
        </p:txBody>
      </p:sp>
      <p:sp>
        <p:nvSpPr>
          <p:cNvPr id="10" name="Text 7"/>
          <p:cNvSpPr txBox="1"/>
          <p:nvPr/>
        </p:nvSpPr>
        <p:spPr>
          <a:xfrm>
            <a:off x="7955280" y="2212848"/>
            <a:ext cx="3611880" cy="548640"/>
          </a:xfrm>
          <a:prstGeom prst="rect">
            <a:avLst/>
          </a:prstGeom>
          <a:noFill/>
          <a:ln/>
        </p:spPr>
        <p:txBody>
          <a:bodyPr wrap="square" lIns="0" tIns="0" rIns="0" bIns="0" rtlCol="0" anchor="ctr"/>
          <a:lstStyle/>
          <a:p>
            <a:pPr indent="0" marL="0">
              <a:buNone/>
            </a:pPr>
            <a:r>
              <a:rPr lang="en-US" sz="1600" b="1" dirty="0">
                <a:solidFill>
                  <a:srgbClr val="0E2340"/>
                </a:solidFill>
                <a:latin typeface="Calibri" pitchFamily="34" charset="0"/>
                <a:ea typeface="Calibri" pitchFamily="34" charset="-122"/>
                <a:cs typeface="Calibri" pitchFamily="34" charset="-120"/>
              </a:rPr>
              <a:t>SCRFD</a:t>
            </a:r>
            <a:pPr indent="0" marL="0">
              <a:buNone/>
            </a:pPr>
            <a:r>
              <a:rPr lang="en-US" sz="1600" dirty="0">
                <a:solidFill>
                  <a:srgbClr val="3D4F63"/>
                </a:solidFill>
                <a:latin typeface="Calibri" pitchFamily="34" charset="0"/>
                <a:ea typeface="Calibri" pitchFamily="34" charset="-122"/>
                <a:cs typeface="Calibri" pitchFamily="34" charset="-120"/>
              </a:rPr>
              <a:t> finds each face and 5 key points</a:t>
            </a:r>
            <a:endParaRPr lang="en-US" sz="1600" dirty="0"/>
          </a:p>
        </p:txBody>
      </p:sp>
      <p:sp>
        <p:nvSpPr>
          <p:cNvPr id="11" name="Shape 8"/>
          <p:cNvSpPr/>
          <p:nvPr/>
        </p:nvSpPr>
        <p:spPr>
          <a:xfrm>
            <a:off x="7315200" y="2944368"/>
            <a:ext cx="438912" cy="438912"/>
          </a:xfrm>
          <a:prstGeom prst="ellipse">
            <a:avLst/>
          </a:prstGeom>
          <a:solidFill>
            <a:srgbClr val="0E2340"/>
          </a:solidFill>
          <a:ln/>
        </p:spPr>
      </p:sp>
      <p:sp>
        <p:nvSpPr>
          <p:cNvPr id="12" name="Text 9"/>
          <p:cNvSpPr txBox="1"/>
          <p:nvPr/>
        </p:nvSpPr>
        <p:spPr>
          <a:xfrm>
            <a:off x="7315200" y="2944368"/>
            <a:ext cx="438912" cy="438912"/>
          </a:xfrm>
          <a:prstGeom prst="rect">
            <a:avLst/>
          </a:prstGeom>
          <a:noFill/>
          <a:ln/>
        </p:spPr>
        <p:txBody>
          <a:bodyPr wrap="square" lIns="0" tIns="0" rIns="0" bIns="0" rtlCol="0" anchor="ctr"/>
          <a:lstStyle/>
          <a:p>
            <a:pPr algn="ctr" indent="0" marL="0">
              <a:buNone/>
            </a:pPr>
            <a:r>
              <a:rPr lang="en-US" sz="1400" b="1" dirty="0">
                <a:solidFill>
                  <a:srgbClr val="EEF4F6"/>
                </a:solidFill>
                <a:latin typeface="Calibri" pitchFamily="34" charset="0"/>
                <a:ea typeface="Calibri" pitchFamily="34" charset="-122"/>
                <a:cs typeface="Calibri" pitchFamily="34" charset="-120"/>
              </a:rPr>
              <a:t>3</a:t>
            </a:r>
            <a:endParaRPr lang="en-US" sz="1400" dirty="0"/>
          </a:p>
        </p:txBody>
      </p:sp>
      <p:sp>
        <p:nvSpPr>
          <p:cNvPr id="13" name="Text 10"/>
          <p:cNvSpPr txBox="1"/>
          <p:nvPr/>
        </p:nvSpPr>
        <p:spPr>
          <a:xfrm>
            <a:off x="7955280" y="2907792"/>
            <a:ext cx="3611880" cy="548640"/>
          </a:xfrm>
          <a:prstGeom prst="rect">
            <a:avLst/>
          </a:prstGeom>
          <a:noFill/>
          <a:ln/>
        </p:spPr>
        <p:txBody>
          <a:bodyPr wrap="square" lIns="0" tIns="0" rIns="0" bIns="0" rtlCol="0" anchor="ctr"/>
          <a:lstStyle/>
          <a:p>
            <a:pPr indent="0" marL="0">
              <a:buNone/>
            </a:pPr>
            <a:r>
              <a:rPr lang="en-US" sz="1600" b="1" dirty="0">
                <a:solidFill>
                  <a:srgbClr val="0E2340"/>
                </a:solidFill>
                <a:latin typeface="Calibri" pitchFamily="34" charset="0"/>
                <a:ea typeface="Calibri" pitchFamily="34" charset="-122"/>
                <a:cs typeface="Calibri" pitchFamily="34" charset="-120"/>
              </a:rPr>
              <a:t>Warp</a:t>
            </a:r>
            <a:pPr indent="0" marL="0">
              <a:buNone/>
            </a:pPr>
            <a:r>
              <a:rPr lang="en-US" sz="1600" dirty="0">
                <a:solidFill>
                  <a:srgbClr val="3D4F63"/>
                </a:solidFill>
                <a:latin typeface="Calibri" pitchFamily="34" charset="0"/>
                <a:ea typeface="Calibri" pitchFamily="34" charset="-122"/>
                <a:cs typeface="Calibri" pitchFamily="34" charset="-120"/>
              </a:rPr>
              <a:t> the face so the 5 points line up</a:t>
            </a:r>
            <a:endParaRPr lang="en-US" sz="1600" dirty="0"/>
          </a:p>
        </p:txBody>
      </p:sp>
      <p:sp>
        <p:nvSpPr>
          <p:cNvPr id="14" name="Shape 11"/>
          <p:cNvSpPr/>
          <p:nvPr/>
        </p:nvSpPr>
        <p:spPr>
          <a:xfrm>
            <a:off x="7315200" y="3639312"/>
            <a:ext cx="438912" cy="438912"/>
          </a:xfrm>
          <a:prstGeom prst="ellipse">
            <a:avLst/>
          </a:prstGeom>
          <a:solidFill>
            <a:srgbClr val="0A7A73"/>
          </a:solidFill>
          <a:ln/>
        </p:spPr>
      </p:sp>
      <p:sp>
        <p:nvSpPr>
          <p:cNvPr id="15" name="Text 12"/>
          <p:cNvSpPr txBox="1"/>
          <p:nvPr/>
        </p:nvSpPr>
        <p:spPr>
          <a:xfrm>
            <a:off x="7315200" y="3639312"/>
            <a:ext cx="438912" cy="438912"/>
          </a:xfrm>
          <a:prstGeom prst="rect">
            <a:avLst/>
          </a:prstGeom>
          <a:noFill/>
          <a:ln/>
        </p:spPr>
        <p:txBody>
          <a:bodyPr wrap="square" lIns="0" tIns="0" rIns="0" bIns="0" rtlCol="0" anchor="ctr"/>
          <a:lstStyle/>
          <a:p>
            <a:pPr algn="ctr" indent="0" marL="0">
              <a:buNone/>
            </a:pPr>
            <a:r>
              <a:rPr lang="en-US" sz="1400" b="1" dirty="0">
                <a:solidFill>
                  <a:srgbClr val="EEF4F6"/>
                </a:solidFill>
                <a:latin typeface="Calibri" pitchFamily="34" charset="0"/>
                <a:ea typeface="Calibri" pitchFamily="34" charset="-122"/>
                <a:cs typeface="Calibri" pitchFamily="34" charset="-120"/>
              </a:rPr>
              <a:t>4</a:t>
            </a:r>
            <a:endParaRPr lang="en-US" sz="1400" dirty="0"/>
          </a:p>
        </p:txBody>
      </p:sp>
      <p:sp>
        <p:nvSpPr>
          <p:cNvPr id="16" name="Text 13"/>
          <p:cNvSpPr txBox="1"/>
          <p:nvPr/>
        </p:nvSpPr>
        <p:spPr>
          <a:xfrm>
            <a:off x="7955280" y="3602736"/>
            <a:ext cx="3611880" cy="548640"/>
          </a:xfrm>
          <a:prstGeom prst="rect">
            <a:avLst/>
          </a:prstGeom>
          <a:noFill/>
          <a:ln/>
        </p:spPr>
        <p:txBody>
          <a:bodyPr wrap="square" lIns="0" tIns="0" rIns="0" bIns="0" rtlCol="0" anchor="ctr"/>
          <a:lstStyle/>
          <a:p>
            <a:pPr indent="0" marL="0">
              <a:buNone/>
            </a:pPr>
            <a:r>
              <a:rPr lang="en-US" sz="1600" b="1" dirty="0">
                <a:solidFill>
                  <a:srgbClr val="0E2340"/>
                </a:solidFill>
                <a:latin typeface="Calibri" pitchFamily="34" charset="0"/>
                <a:ea typeface="Calibri" pitchFamily="34" charset="-122"/>
                <a:cs typeface="Calibri" pitchFamily="34" charset="-120"/>
              </a:rPr>
              <a:t>112×112×3</a:t>
            </a:r>
            <a:pPr indent="0" marL="0">
              <a:buNone/>
            </a:pPr>
            <a:r>
              <a:rPr lang="en-US" sz="1600" dirty="0">
                <a:solidFill>
                  <a:srgbClr val="3D4F63"/>
                </a:solidFill>
                <a:latin typeface="Calibri" pitchFamily="34" charset="0"/>
                <a:ea typeface="Calibri" pitchFamily="34" charset="-122"/>
                <a:cs typeface="Calibri" pitchFamily="34" charset="-120"/>
              </a:rPr>
              <a:t> crop is cut out</a:t>
            </a:r>
            <a:endParaRPr lang="en-US" sz="1600" dirty="0"/>
          </a:p>
        </p:txBody>
      </p:sp>
      <p:sp>
        <p:nvSpPr>
          <p:cNvPr id="17" name="Shape 14"/>
          <p:cNvSpPr/>
          <p:nvPr/>
        </p:nvSpPr>
        <p:spPr>
          <a:xfrm>
            <a:off x="7315200" y="4334256"/>
            <a:ext cx="438912" cy="438912"/>
          </a:xfrm>
          <a:prstGeom prst="ellipse">
            <a:avLst/>
          </a:prstGeom>
          <a:solidFill>
            <a:srgbClr val="0A7A73"/>
          </a:solidFill>
          <a:ln/>
        </p:spPr>
      </p:sp>
      <p:sp>
        <p:nvSpPr>
          <p:cNvPr id="18" name="Text 15"/>
          <p:cNvSpPr txBox="1"/>
          <p:nvPr/>
        </p:nvSpPr>
        <p:spPr>
          <a:xfrm>
            <a:off x="7315200" y="4334256"/>
            <a:ext cx="438912" cy="438912"/>
          </a:xfrm>
          <a:prstGeom prst="rect">
            <a:avLst/>
          </a:prstGeom>
          <a:noFill/>
          <a:ln/>
        </p:spPr>
        <p:txBody>
          <a:bodyPr wrap="square" lIns="0" tIns="0" rIns="0" bIns="0" rtlCol="0" anchor="ctr"/>
          <a:lstStyle/>
          <a:p>
            <a:pPr algn="ctr" indent="0" marL="0">
              <a:buNone/>
            </a:pPr>
            <a:r>
              <a:rPr lang="en-US" sz="1400" b="1" dirty="0">
                <a:solidFill>
                  <a:srgbClr val="EEF4F6"/>
                </a:solidFill>
                <a:latin typeface="Calibri" pitchFamily="34" charset="0"/>
                <a:ea typeface="Calibri" pitchFamily="34" charset="-122"/>
                <a:cs typeface="Calibri" pitchFamily="34" charset="-120"/>
              </a:rPr>
              <a:t>5</a:t>
            </a:r>
            <a:endParaRPr lang="en-US" sz="1400" dirty="0"/>
          </a:p>
        </p:txBody>
      </p:sp>
      <p:sp>
        <p:nvSpPr>
          <p:cNvPr id="19" name="Text 16"/>
          <p:cNvSpPr txBox="1"/>
          <p:nvPr/>
        </p:nvSpPr>
        <p:spPr>
          <a:xfrm>
            <a:off x="7955280" y="4297680"/>
            <a:ext cx="3611880" cy="548640"/>
          </a:xfrm>
          <a:prstGeom prst="rect">
            <a:avLst/>
          </a:prstGeom>
          <a:noFill/>
          <a:ln/>
        </p:spPr>
        <p:txBody>
          <a:bodyPr wrap="square" lIns="0" tIns="0" rIns="0" bIns="0" rtlCol="0" anchor="ctr"/>
          <a:lstStyle/>
          <a:p>
            <a:pPr indent="0" marL="0">
              <a:buNone/>
            </a:pPr>
            <a:r>
              <a:rPr lang="en-US" sz="1600" b="1" dirty="0">
                <a:solidFill>
                  <a:srgbClr val="0E2340"/>
                </a:solidFill>
                <a:latin typeface="Calibri" pitchFamily="34" charset="0"/>
                <a:ea typeface="Calibri" pitchFamily="34" charset="-122"/>
                <a:cs typeface="Calibri" pitchFamily="34" charset="-120"/>
              </a:rPr>
              <a:t>ResNet-50</a:t>
            </a:r>
            <a:pPr indent="0" marL="0">
              <a:buNone/>
            </a:pPr>
            <a:r>
              <a:rPr lang="en-US" sz="1600" dirty="0">
                <a:solidFill>
                  <a:srgbClr val="3D4F63"/>
                </a:solidFill>
                <a:latin typeface="Calibri" pitchFamily="34" charset="0"/>
                <a:ea typeface="Calibri" pitchFamily="34" charset="-122"/>
                <a:cs typeface="Calibri" pitchFamily="34" charset="-120"/>
              </a:rPr>
              <a:t>, trained with ArcFace loss</a:t>
            </a:r>
            <a:endParaRPr lang="en-US" sz="1600" dirty="0"/>
          </a:p>
        </p:txBody>
      </p:sp>
      <p:sp>
        <p:nvSpPr>
          <p:cNvPr id="20" name="Shape 17"/>
          <p:cNvSpPr/>
          <p:nvPr/>
        </p:nvSpPr>
        <p:spPr>
          <a:xfrm>
            <a:off x="7315200" y="5029200"/>
            <a:ext cx="438912" cy="438912"/>
          </a:xfrm>
          <a:prstGeom prst="ellipse">
            <a:avLst/>
          </a:prstGeom>
          <a:solidFill>
            <a:srgbClr val="0A7A73"/>
          </a:solidFill>
          <a:ln/>
        </p:spPr>
      </p:sp>
      <p:sp>
        <p:nvSpPr>
          <p:cNvPr id="21" name="Text 18"/>
          <p:cNvSpPr txBox="1"/>
          <p:nvPr/>
        </p:nvSpPr>
        <p:spPr>
          <a:xfrm>
            <a:off x="7315200" y="5029200"/>
            <a:ext cx="438912" cy="438912"/>
          </a:xfrm>
          <a:prstGeom prst="rect">
            <a:avLst/>
          </a:prstGeom>
          <a:noFill/>
          <a:ln/>
        </p:spPr>
        <p:txBody>
          <a:bodyPr wrap="square" lIns="0" tIns="0" rIns="0" bIns="0" rtlCol="0" anchor="ctr"/>
          <a:lstStyle/>
          <a:p>
            <a:pPr algn="ctr" indent="0" marL="0">
              <a:buNone/>
            </a:pPr>
            <a:r>
              <a:rPr lang="en-US" sz="1400" b="1" dirty="0">
                <a:solidFill>
                  <a:srgbClr val="EEF4F6"/>
                </a:solidFill>
                <a:latin typeface="Calibri" pitchFamily="34" charset="0"/>
                <a:ea typeface="Calibri" pitchFamily="34" charset="-122"/>
                <a:cs typeface="Calibri" pitchFamily="34" charset="-120"/>
              </a:rPr>
              <a:t>6</a:t>
            </a:r>
            <a:endParaRPr lang="en-US" sz="1400" dirty="0"/>
          </a:p>
        </p:txBody>
      </p:sp>
      <p:sp>
        <p:nvSpPr>
          <p:cNvPr id="22" name="Text 19"/>
          <p:cNvSpPr txBox="1"/>
          <p:nvPr/>
        </p:nvSpPr>
        <p:spPr>
          <a:xfrm>
            <a:off x="7955280" y="4992624"/>
            <a:ext cx="3611880" cy="548640"/>
          </a:xfrm>
          <a:prstGeom prst="rect">
            <a:avLst/>
          </a:prstGeom>
          <a:noFill/>
          <a:ln/>
        </p:spPr>
        <p:txBody>
          <a:bodyPr wrap="square" lIns="0" tIns="0" rIns="0" bIns="0" rtlCol="0" anchor="ctr"/>
          <a:lstStyle/>
          <a:p>
            <a:pPr indent="0" marL="0">
              <a:buNone/>
            </a:pPr>
            <a:r>
              <a:rPr lang="en-US" sz="1600" b="1" dirty="0">
                <a:solidFill>
                  <a:srgbClr val="0E2340"/>
                </a:solidFill>
                <a:latin typeface="Calibri" pitchFamily="34" charset="0"/>
                <a:ea typeface="Calibri" pitchFamily="34" charset="-122"/>
                <a:cs typeface="Calibri" pitchFamily="34" charset="-120"/>
              </a:rPr>
              <a:t>512 numbers</a:t>
            </a:r>
            <a:pPr indent="0" marL="0">
              <a:buNone/>
            </a:pPr>
            <a:r>
              <a:rPr lang="en-US" sz="1600" dirty="0">
                <a:solidFill>
                  <a:srgbClr val="3D4F63"/>
                </a:solidFill>
                <a:latin typeface="Calibri" pitchFamily="34" charset="0"/>
                <a:ea typeface="Calibri" pitchFamily="34" charset="-122"/>
                <a:cs typeface="Calibri" pitchFamily="34" charset="-120"/>
              </a:rPr>
              <a:t>, scaled to length 1</a:t>
            </a:r>
            <a:endParaRPr lang="en-US" sz="1600" dirty="0"/>
          </a:p>
        </p:txBody>
      </p:sp>
      <p:sp>
        <p:nvSpPr>
          <p:cNvPr id="23" name="Text 20"/>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5B6B7C"/>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2340"/>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731520"/>
          </a:xfrm>
          <a:prstGeom prst="rect">
            <a:avLst/>
          </a:prstGeom>
          <a:noFill/>
          <a:ln/>
        </p:spPr>
        <p:txBody>
          <a:bodyPr wrap="square" lIns="0" tIns="0" rIns="0" bIns="0" rtlCol="0" anchor="ctr"/>
          <a:lstStyle/>
          <a:p>
            <a:pPr indent="0" marL="0">
              <a:buNone/>
            </a:pPr>
            <a:r>
              <a:rPr lang="en-US" sz="3400" b="1" dirty="0">
                <a:solidFill>
                  <a:srgbClr val="EEF4F6"/>
                </a:solidFill>
                <a:latin typeface="Arial" pitchFamily="34" charset="0"/>
                <a:ea typeface="Arial" pitchFamily="34" charset="-122"/>
                <a:cs typeface="Arial" pitchFamily="34" charset="-120"/>
              </a:rPr>
              <a:t>The network never sees the classroom</a:t>
            </a:r>
            <a:endParaRPr lang="en-US" sz="34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508760"/>
            <a:ext cx="6309360" cy="4206240"/>
          </a:xfrm>
          <a:prstGeom prst="rect">
            <a:avLst/>
          </a:prstGeom>
        </p:spPr>
      </p:pic>
      <p:sp>
        <p:nvSpPr>
          <p:cNvPr id="4" name="Text 1"/>
          <p:cNvSpPr txBox="1"/>
          <p:nvPr/>
        </p:nvSpPr>
        <p:spPr>
          <a:xfrm>
            <a:off x="7315200" y="1554480"/>
            <a:ext cx="4206240" cy="731520"/>
          </a:xfrm>
          <a:prstGeom prst="rect">
            <a:avLst/>
          </a:prstGeom>
          <a:noFill/>
          <a:ln/>
        </p:spPr>
        <p:txBody>
          <a:bodyPr wrap="square" lIns="0" tIns="0" rIns="0" bIns="0" rtlCol="0" anchor="t"/>
          <a:lstStyle/>
          <a:p>
            <a:pPr indent="0" marL="0">
              <a:buNone/>
            </a:pPr>
            <a:r>
              <a:rPr lang="en-US" sz="4000" b="1" dirty="0">
                <a:solidFill>
                  <a:srgbClr val="BCD0DD"/>
                </a:solidFill>
                <a:latin typeface="Arial" pitchFamily="34" charset="0"/>
                <a:ea typeface="Arial" pitchFamily="34" charset="-122"/>
                <a:cs typeface="Arial" pitchFamily="34" charset="-120"/>
              </a:rPr>
              <a:t>2,764,800</a:t>
            </a:r>
            <a:endParaRPr lang="en-US" sz="4000" dirty="0"/>
          </a:p>
        </p:txBody>
      </p:sp>
      <p:sp>
        <p:nvSpPr>
          <p:cNvPr id="5" name="Text 2"/>
          <p:cNvSpPr txBox="1"/>
          <p:nvPr/>
        </p:nvSpPr>
        <p:spPr>
          <a:xfrm>
            <a:off x="7315200" y="2286000"/>
            <a:ext cx="4206240" cy="365760"/>
          </a:xfrm>
          <a:prstGeom prst="rect">
            <a:avLst/>
          </a:prstGeom>
          <a:noFill/>
          <a:ln/>
        </p:spPr>
        <p:txBody>
          <a:bodyPr wrap="square" lIns="0" tIns="0" rIns="0" bIns="0" rtlCol="0" anchor="t"/>
          <a:lstStyle/>
          <a:p>
            <a:pPr indent="0" marL="0">
              <a:buNone/>
            </a:pPr>
            <a:r>
              <a:rPr lang="en-US" sz="1600" dirty="0">
                <a:solidFill>
                  <a:srgbClr val="BCD0DD"/>
                </a:solidFill>
                <a:latin typeface="Calibri" pitchFamily="34" charset="0"/>
                <a:ea typeface="Calibri" pitchFamily="34" charset="-122"/>
                <a:cs typeface="Calibri" pitchFamily="34" charset="-120"/>
              </a:rPr>
              <a:t>numbers in one 1280×720 color frame</a:t>
            </a:r>
            <a:endParaRPr lang="en-US" sz="1600" dirty="0"/>
          </a:p>
        </p:txBody>
      </p:sp>
      <p:sp>
        <p:nvSpPr>
          <p:cNvPr id="6" name="Text 3"/>
          <p:cNvSpPr txBox="1"/>
          <p:nvPr/>
        </p:nvSpPr>
        <p:spPr>
          <a:xfrm>
            <a:off x="7315200" y="2971800"/>
            <a:ext cx="4206240" cy="731520"/>
          </a:xfrm>
          <a:prstGeom prst="rect">
            <a:avLst/>
          </a:prstGeom>
          <a:noFill/>
          <a:ln/>
        </p:spPr>
        <p:txBody>
          <a:bodyPr wrap="square" lIns="0" tIns="0" rIns="0" bIns="0" rtlCol="0" anchor="t"/>
          <a:lstStyle/>
          <a:p>
            <a:pPr indent="0" marL="0">
              <a:buNone/>
            </a:pPr>
            <a:r>
              <a:rPr lang="en-US" sz="4000" b="1" dirty="0">
                <a:solidFill>
                  <a:srgbClr val="16B3A8"/>
                </a:solidFill>
                <a:latin typeface="Arial" pitchFamily="34" charset="0"/>
                <a:ea typeface="Arial" pitchFamily="34" charset="-122"/>
                <a:cs typeface="Arial" pitchFamily="34" charset="-120"/>
              </a:rPr>
              <a:t>37,632</a:t>
            </a:r>
            <a:endParaRPr lang="en-US" sz="4000" dirty="0"/>
          </a:p>
        </p:txBody>
      </p:sp>
      <p:sp>
        <p:nvSpPr>
          <p:cNvPr id="7" name="Text 4"/>
          <p:cNvSpPr txBox="1"/>
          <p:nvPr/>
        </p:nvSpPr>
        <p:spPr>
          <a:xfrm>
            <a:off x="7315200" y="3703320"/>
            <a:ext cx="4206240" cy="365760"/>
          </a:xfrm>
          <a:prstGeom prst="rect">
            <a:avLst/>
          </a:prstGeom>
          <a:noFill/>
          <a:ln/>
        </p:spPr>
        <p:txBody>
          <a:bodyPr wrap="square" lIns="0" tIns="0" rIns="0" bIns="0" rtlCol="0" anchor="t"/>
          <a:lstStyle/>
          <a:p>
            <a:pPr indent="0" marL="0">
              <a:buNone/>
            </a:pPr>
            <a:r>
              <a:rPr lang="en-US" sz="1600" dirty="0">
                <a:solidFill>
                  <a:srgbClr val="BCD0DD"/>
                </a:solidFill>
                <a:latin typeface="Calibri" pitchFamily="34" charset="0"/>
                <a:ea typeface="Calibri" pitchFamily="34" charset="-122"/>
                <a:cs typeface="Calibri" pitchFamily="34" charset="-120"/>
              </a:rPr>
              <a:t>numbers ResNet actually reads: 112 × 112 × 3</a:t>
            </a:r>
            <a:endParaRPr lang="en-US" sz="1600" dirty="0"/>
          </a:p>
        </p:txBody>
      </p:sp>
      <p:sp>
        <p:nvSpPr>
          <p:cNvPr id="8" name="Text 5"/>
          <p:cNvSpPr txBox="1"/>
          <p:nvPr/>
        </p:nvSpPr>
        <p:spPr>
          <a:xfrm>
            <a:off x="7315200" y="4480560"/>
            <a:ext cx="4206240" cy="914400"/>
          </a:xfrm>
          <a:prstGeom prst="rect">
            <a:avLst/>
          </a:prstGeom>
          <a:noFill/>
          <a:ln/>
        </p:spPr>
        <p:txBody>
          <a:bodyPr wrap="square" lIns="0" tIns="0" rIns="0" bIns="0" rtlCol="0" anchor="t"/>
          <a:lstStyle/>
          <a:p>
            <a:pPr indent="0" marL="0">
              <a:buNone/>
            </a:pPr>
            <a:r>
              <a:rPr lang="en-US" sz="1800" dirty="0">
                <a:solidFill>
                  <a:srgbClr val="EEF4F6"/>
                </a:solidFill>
                <a:latin typeface="Calibri" pitchFamily="34" charset="0"/>
                <a:ea typeface="Calibri" pitchFamily="34" charset="-122"/>
                <a:cs typeface="Calibri" pitchFamily="34" charset="-120"/>
              </a:rPr>
              <a:t>About </a:t>
            </a:r>
            <a:pPr indent="0" marL="0">
              <a:buNone/>
            </a:pPr>
            <a:r>
              <a:rPr lang="en-US" sz="1800" b="1" dirty="0">
                <a:solidFill>
                  <a:srgbClr val="EEF4F6"/>
                </a:solidFill>
                <a:latin typeface="Calibri" pitchFamily="34" charset="0"/>
                <a:ea typeface="Calibri" pitchFamily="34" charset="-122"/>
                <a:cs typeface="Calibri" pitchFamily="34" charset="-120"/>
              </a:rPr>
              <a:t>73× less</a:t>
            </a:r>
            <a:pPr indent="0" marL="0">
              <a:buNone/>
            </a:pPr>
            <a:r>
              <a:rPr lang="en-US" sz="1800" dirty="0">
                <a:solidFill>
                  <a:srgbClr val="EEF4F6"/>
                </a:solidFill>
                <a:latin typeface="Calibri" pitchFamily="34" charset="0"/>
                <a:ea typeface="Calibri" pitchFamily="34" charset="-122"/>
                <a:cs typeface="Calibri" pitchFamily="34" charset="-120"/>
              </a:rPr>
              <a:t> data — and none of it is the whiteboard behind you.</a:t>
            </a:r>
            <a:endParaRPr lang="en-US" sz="1800" dirty="0"/>
          </a:p>
        </p:txBody>
      </p:sp>
      <p:sp>
        <p:nvSpPr>
          <p:cNvPr id="9" name="Text 6"/>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BCD0DD"/>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7"/>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731520"/>
          </a:xfrm>
          <a:prstGeom prst="rect">
            <a:avLst/>
          </a:prstGeom>
          <a:noFill/>
          <a:ln/>
        </p:spPr>
        <p:txBody>
          <a:bodyPr wrap="square" lIns="0" tIns="0" rIns="0" bIns="0" rtlCol="0" anchor="ctr"/>
          <a:lstStyle/>
          <a:p>
            <a:pPr indent="0" marL="0">
              <a:buNone/>
            </a:pPr>
            <a:r>
              <a:rPr lang="en-US" sz="3400" b="1" dirty="0">
                <a:solidFill>
                  <a:srgbClr val="0E2340"/>
                </a:solidFill>
                <a:latin typeface="Arial" pitchFamily="34" charset="0"/>
                <a:ea typeface="Arial" pitchFamily="34" charset="-122"/>
                <a:cs typeface="Arial" pitchFamily="34" charset="-120"/>
              </a:rPr>
              <a:t>Five dots make every face stand the same way</a:t>
            </a:r>
            <a:endParaRPr lang="en-US" sz="3400" dirty="0"/>
          </a:p>
        </p:txBody>
      </p:sp>
      <p:sp>
        <p:nvSpPr>
          <p:cNvPr id="3" name="Shape 1"/>
          <p:cNvSpPr/>
          <p:nvPr/>
        </p:nvSpPr>
        <p:spPr>
          <a:xfrm>
            <a:off x="640080" y="1600200"/>
            <a:ext cx="1999427" cy="1737360"/>
          </a:xfrm>
          <a:prstGeom prst="roundRect">
            <a:avLst>
              <a:gd name="adj" fmla="val 5263"/>
            </a:avLst>
          </a:prstGeom>
          <a:solidFill>
            <a:srgbClr val="FBFCFC"/>
          </a:solidFill>
          <a:ln w="12700">
            <a:solidFill>
              <a:srgbClr val="D5DFE3"/>
            </a:solidFill>
            <a:prstDash val="solid"/>
          </a:ln>
        </p:spPr>
      </p:sp>
      <p:sp>
        <p:nvSpPr>
          <p:cNvPr id="4" name="Shape 2"/>
          <p:cNvSpPr/>
          <p:nvPr/>
        </p:nvSpPr>
        <p:spPr>
          <a:xfrm>
            <a:off x="868680" y="1828800"/>
            <a:ext cx="548640" cy="548640"/>
          </a:xfrm>
          <a:prstGeom prst="ellipse">
            <a:avLst/>
          </a:prstGeom>
          <a:solidFill>
            <a:srgbClr val="16B3A8"/>
          </a:solidFill>
          <a:ln/>
        </p:spPr>
      </p:sp>
      <p:sp>
        <p:nvSpPr>
          <p:cNvPr id="5" name="Text 3"/>
          <p:cNvSpPr txBox="1"/>
          <p:nvPr/>
        </p:nvSpPr>
        <p:spPr>
          <a:xfrm>
            <a:off x="868680" y="1828800"/>
            <a:ext cx="548640" cy="548640"/>
          </a:xfrm>
          <a:prstGeom prst="rect">
            <a:avLst/>
          </a:prstGeom>
          <a:noFill/>
          <a:ln/>
        </p:spPr>
        <p:txBody>
          <a:bodyPr wrap="square" lIns="0" tIns="0" rIns="0" bIns="0" rtlCol="0" anchor="ctr"/>
          <a:lstStyle/>
          <a:p>
            <a:pPr algn="ctr" indent="0" marL="0">
              <a:buNone/>
            </a:pPr>
            <a:r>
              <a:rPr lang="en-US" sz="1800" b="1" dirty="0">
                <a:solidFill>
                  <a:srgbClr val="0E2340"/>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560320"/>
            <a:ext cx="1542227" cy="640080"/>
          </a:xfrm>
          <a:prstGeom prst="rect">
            <a:avLst/>
          </a:prstGeom>
          <a:noFill/>
          <a:ln/>
        </p:spPr>
        <p:txBody>
          <a:bodyPr wrap="square" lIns="0" tIns="0" rIns="0" bIns="0" rtlCol="0" anchor="t"/>
          <a:lstStyle/>
          <a:p>
            <a:pPr indent="0" marL="0">
              <a:buNone/>
            </a:pPr>
            <a:r>
              <a:rPr lang="en-US" sz="1600" b="1" dirty="0">
                <a:solidFill>
                  <a:srgbClr val="0E2340"/>
                </a:solidFill>
                <a:latin typeface="Calibri" pitchFamily="34" charset="0"/>
                <a:ea typeface="Calibri" pitchFamily="34" charset="-122"/>
                <a:cs typeface="Calibri" pitchFamily="34" charset="-120"/>
              </a:rPr>
              <a:t>Left eye center</a:t>
            </a:r>
            <a:endParaRPr lang="en-US" sz="1600" dirty="0"/>
          </a:p>
        </p:txBody>
      </p:sp>
      <p:sp>
        <p:nvSpPr>
          <p:cNvPr id="7" name="Shape 5"/>
          <p:cNvSpPr/>
          <p:nvPr/>
        </p:nvSpPr>
        <p:spPr>
          <a:xfrm>
            <a:off x="2868107" y="1600200"/>
            <a:ext cx="1999427" cy="1737360"/>
          </a:xfrm>
          <a:prstGeom prst="roundRect">
            <a:avLst>
              <a:gd name="adj" fmla="val 5263"/>
            </a:avLst>
          </a:prstGeom>
          <a:solidFill>
            <a:srgbClr val="FBFCFC"/>
          </a:solidFill>
          <a:ln w="12700">
            <a:solidFill>
              <a:srgbClr val="D5DFE3"/>
            </a:solidFill>
            <a:prstDash val="solid"/>
          </a:ln>
        </p:spPr>
      </p:sp>
      <p:sp>
        <p:nvSpPr>
          <p:cNvPr id="8" name="Shape 6"/>
          <p:cNvSpPr/>
          <p:nvPr/>
        </p:nvSpPr>
        <p:spPr>
          <a:xfrm>
            <a:off x="3096707" y="1828800"/>
            <a:ext cx="548640" cy="548640"/>
          </a:xfrm>
          <a:prstGeom prst="ellipse">
            <a:avLst/>
          </a:prstGeom>
          <a:solidFill>
            <a:srgbClr val="16B3A8"/>
          </a:solidFill>
          <a:ln/>
        </p:spPr>
      </p:sp>
      <p:sp>
        <p:nvSpPr>
          <p:cNvPr id="9" name="Text 7"/>
          <p:cNvSpPr txBox="1"/>
          <p:nvPr/>
        </p:nvSpPr>
        <p:spPr>
          <a:xfrm>
            <a:off x="3096707" y="1828800"/>
            <a:ext cx="548640" cy="548640"/>
          </a:xfrm>
          <a:prstGeom prst="rect">
            <a:avLst/>
          </a:prstGeom>
          <a:noFill/>
          <a:ln/>
        </p:spPr>
        <p:txBody>
          <a:bodyPr wrap="square" lIns="0" tIns="0" rIns="0" bIns="0" rtlCol="0" anchor="ctr"/>
          <a:lstStyle/>
          <a:p>
            <a:pPr algn="ctr" indent="0" marL="0">
              <a:buNone/>
            </a:pPr>
            <a:r>
              <a:rPr lang="en-US" sz="1800" b="1" dirty="0">
                <a:solidFill>
                  <a:srgbClr val="0E2340"/>
                </a:solidFill>
                <a:latin typeface="Courier New" pitchFamily="34" charset="0"/>
                <a:ea typeface="Courier New" pitchFamily="34" charset="-122"/>
                <a:cs typeface="Courier New" pitchFamily="34" charset="-120"/>
              </a:rPr>
              <a:t>2</a:t>
            </a:r>
            <a:endParaRPr lang="en-US" sz="1800" dirty="0"/>
          </a:p>
        </p:txBody>
      </p:sp>
      <p:sp>
        <p:nvSpPr>
          <p:cNvPr id="10" name="Text 8"/>
          <p:cNvSpPr txBox="1"/>
          <p:nvPr/>
        </p:nvSpPr>
        <p:spPr>
          <a:xfrm>
            <a:off x="3096707" y="2560320"/>
            <a:ext cx="1542227" cy="640080"/>
          </a:xfrm>
          <a:prstGeom prst="rect">
            <a:avLst/>
          </a:prstGeom>
          <a:noFill/>
          <a:ln/>
        </p:spPr>
        <p:txBody>
          <a:bodyPr wrap="square" lIns="0" tIns="0" rIns="0" bIns="0" rtlCol="0" anchor="t"/>
          <a:lstStyle/>
          <a:p>
            <a:pPr indent="0" marL="0">
              <a:buNone/>
            </a:pPr>
            <a:r>
              <a:rPr lang="en-US" sz="1600" b="1" dirty="0">
                <a:solidFill>
                  <a:srgbClr val="0E2340"/>
                </a:solidFill>
                <a:latin typeface="Calibri" pitchFamily="34" charset="0"/>
                <a:ea typeface="Calibri" pitchFamily="34" charset="-122"/>
                <a:cs typeface="Calibri" pitchFamily="34" charset="-120"/>
              </a:rPr>
              <a:t>Right eye center</a:t>
            </a:r>
            <a:endParaRPr lang="en-US" sz="1600" dirty="0"/>
          </a:p>
        </p:txBody>
      </p:sp>
      <p:sp>
        <p:nvSpPr>
          <p:cNvPr id="11" name="Shape 9"/>
          <p:cNvSpPr/>
          <p:nvPr/>
        </p:nvSpPr>
        <p:spPr>
          <a:xfrm>
            <a:off x="5096134" y="1600200"/>
            <a:ext cx="1999427" cy="1737360"/>
          </a:xfrm>
          <a:prstGeom prst="roundRect">
            <a:avLst>
              <a:gd name="adj" fmla="val 5263"/>
            </a:avLst>
          </a:prstGeom>
          <a:solidFill>
            <a:srgbClr val="FBFCFC"/>
          </a:solidFill>
          <a:ln w="12700">
            <a:solidFill>
              <a:srgbClr val="D5DFE3"/>
            </a:solidFill>
            <a:prstDash val="solid"/>
          </a:ln>
        </p:spPr>
      </p:sp>
      <p:sp>
        <p:nvSpPr>
          <p:cNvPr id="12" name="Shape 10"/>
          <p:cNvSpPr/>
          <p:nvPr/>
        </p:nvSpPr>
        <p:spPr>
          <a:xfrm>
            <a:off x="5324734" y="1828800"/>
            <a:ext cx="548640" cy="548640"/>
          </a:xfrm>
          <a:prstGeom prst="ellipse">
            <a:avLst/>
          </a:prstGeom>
          <a:solidFill>
            <a:srgbClr val="16B3A8"/>
          </a:solidFill>
          <a:ln/>
        </p:spPr>
      </p:sp>
      <p:sp>
        <p:nvSpPr>
          <p:cNvPr id="13" name="Text 11"/>
          <p:cNvSpPr txBox="1"/>
          <p:nvPr/>
        </p:nvSpPr>
        <p:spPr>
          <a:xfrm>
            <a:off x="5324734" y="1828800"/>
            <a:ext cx="548640" cy="548640"/>
          </a:xfrm>
          <a:prstGeom prst="rect">
            <a:avLst/>
          </a:prstGeom>
          <a:noFill/>
          <a:ln/>
        </p:spPr>
        <p:txBody>
          <a:bodyPr wrap="square" lIns="0" tIns="0" rIns="0" bIns="0" rtlCol="0" anchor="ctr"/>
          <a:lstStyle/>
          <a:p>
            <a:pPr algn="ctr" indent="0" marL="0">
              <a:buNone/>
            </a:pPr>
            <a:r>
              <a:rPr lang="en-US" sz="1800" b="1" dirty="0">
                <a:solidFill>
                  <a:srgbClr val="0E2340"/>
                </a:solidFill>
                <a:latin typeface="Courier New" pitchFamily="34" charset="0"/>
                <a:ea typeface="Courier New" pitchFamily="34" charset="-122"/>
                <a:cs typeface="Courier New" pitchFamily="34" charset="-120"/>
              </a:rPr>
              <a:t>3</a:t>
            </a:r>
            <a:endParaRPr lang="en-US" sz="1800" dirty="0"/>
          </a:p>
        </p:txBody>
      </p:sp>
      <p:sp>
        <p:nvSpPr>
          <p:cNvPr id="14" name="Text 12"/>
          <p:cNvSpPr txBox="1"/>
          <p:nvPr/>
        </p:nvSpPr>
        <p:spPr>
          <a:xfrm>
            <a:off x="5324734" y="2560320"/>
            <a:ext cx="1542227" cy="640080"/>
          </a:xfrm>
          <a:prstGeom prst="rect">
            <a:avLst/>
          </a:prstGeom>
          <a:noFill/>
          <a:ln/>
        </p:spPr>
        <p:txBody>
          <a:bodyPr wrap="square" lIns="0" tIns="0" rIns="0" bIns="0" rtlCol="0" anchor="t"/>
          <a:lstStyle/>
          <a:p>
            <a:pPr indent="0" marL="0">
              <a:buNone/>
            </a:pPr>
            <a:r>
              <a:rPr lang="en-US" sz="1600" b="1" dirty="0">
                <a:solidFill>
                  <a:srgbClr val="0E2340"/>
                </a:solidFill>
                <a:latin typeface="Calibri" pitchFamily="34" charset="0"/>
                <a:ea typeface="Calibri" pitchFamily="34" charset="-122"/>
                <a:cs typeface="Calibri" pitchFamily="34" charset="-120"/>
              </a:rPr>
              <a:t>Nose tip</a:t>
            </a:r>
            <a:endParaRPr lang="en-US" sz="1600" dirty="0"/>
          </a:p>
        </p:txBody>
      </p:sp>
      <p:sp>
        <p:nvSpPr>
          <p:cNvPr id="15" name="Shape 13"/>
          <p:cNvSpPr/>
          <p:nvPr/>
        </p:nvSpPr>
        <p:spPr>
          <a:xfrm>
            <a:off x="7324161" y="1600200"/>
            <a:ext cx="1999427" cy="1737360"/>
          </a:xfrm>
          <a:prstGeom prst="roundRect">
            <a:avLst>
              <a:gd name="adj" fmla="val 5263"/>
            </a:avLst>
          </a:prstGeom>
          <a:solidFill>
            <a:srgbClr val="FBFCFC"/>
          </a:solidFill>
          <a:ln w="12700">
            <a:solidFill>
              <a:srgbClr val="D5DFE3"/>
            </a:solidFill>
            <a:prstDash val="solid"/>
          </a:ln>
        </p:spPr>
      </p:sp>
      <p:sp>
        <p:nvSpPr>
          <p:cNvPr id="16" name="Shape 14"/>
          <p:cNvSpPr/>
          <p:nvPr/>
        </p:nvSpPr>
        <p:spPr>
          <a:xfrm>
            <a:off x="7552761" y="1828800"/>
            <a:ext cx="548640" cy="548640"/>
          </a:xfrm>
          <a:prstGeom prst="ellipse">
            <a:avLst/>
          </a:prstGeom>
          <a:solidFill>
            <a:srgbClr val="16B3A8"/>
          </a:solidFill>
          <a:ln/>
        </p:spPr>
      </p:sp>
      <p:sp>
        <p:nvSpPr>
          <p:cNvPr id="17" name="Text 15"/>
          <p:cNvSpPr txBox="1"/>
          <p:nvPr/>
        </p:nvSpPr>
        <p:spPr>
          <a:xfrm>
            <a:off x="7552761" y="1828800"/>
            <a:ext cx="548640" cy="548640"/>
          </a:xfrm>
          <a:prstGeom prst="rect">
            <a:avLst/>
          </a:prstGeom>
          <a:noFill/>
          <a:ln/>
        </p:spPr>
        <p:txBody>
          <a:bodyPr wrap="square" lIns="0" tIns="0" rIns="0" bIns="0" rtlCol="0" anchor="ctr"/>
          <a:lstStyle/>
          <a:p>
            <a:pPr algn="ctr" indent="0" marL="0">
              <a:buNone/>
            </a:pPr>
            <a:r>
              <a:rPr lang="en-US" sz="1800" b="1" dirty="0">
                <a:solidFill>
                  <a:srgbClr val="0E2340"/>
                </a:solidFill>
                <a:latin typeface="Courier New" pitchFamily="34" charset="0"/>
                <a:ea typeface="Courier New" pitchFamily="34" charset="-122"/>
                <a:cs typeface="Courier New" pitchFamily="34" charset="-120"/>
              </a:rPr>
              <a:t>4</a:t>
            </a:r>
            <a:endParaRPr lang="en-US" sz="1800" dirty="0"/>
          </a:p>
        </p:txBody>
      </p:sp>
      <p:sp>
        <p:nvSpPr>
          <p:cNvPr id="18" name="Text 16"/>
          <p:cNvSpPr txBox="1"/>
          <p:nvPr/>
        </p:nvSpPr>
        <p:spPr>
          <a:xfrm>
            <a:off x="7552761" y="2560320"/>
            <a:ext cx="1542227" cy="640080"/>
          </a:xfrm>
          <a:prstGeom prst="rect">
            <a:avLst/>
          </a:prstGeom>
          <a:noFill/>
          <a:ln/>
        </p:spPr>
        <p:txBody>
          <a:bodyPr wrap="square" lIns="0" tIns="0" rIns="0" bIns="0" rtlCol="0" anchor="t"/>
          <a:lstStyle/>
          <a:p>
            <a:pPr indent="0" marL="0">
              <a:buNone/>
            </a:pPr>
            <a:r>
              <a:rPr lang="en-US" sz="1600" b="1" dirty="0">
                <a:solidFill>
                  <a:srgbClr val="0E2340"/>
                </a:solidFill>
                <a:latin typeface="Calibri" pitchFamily="34" charset="0"/>
                <a:ea typeface="Calibri" pitchFamily="34" charset="-122"/>
                <a:cs typeface="Calibri" pitchFamily="34" charset="-120"/>
              </a:rPr>
              <a:t>Left mouth corner</a:t>
            </a:r>
            <a:endParaRPr lang="en-US" sz="1600" dirty="0"/>
          </a:p>
        </p:txBody>
      </p:sp>
      <p:sp>
        <p:nvSpPr>
          <p:cNvPr id="19" name="Shape 17"/>
          <p:cNvSpPr/>
          <p:nvPr/>
        </p:nvSpPr>
        <p:spPr>
          <a:xfrm>
            <a:off x="9552188" y="1600200"/>
            <a:ext cx="1999427" cy="1737360"/>
          </a:xfrm>
          <a:prstGeom prst="roundRect">
            <a:avLst>
              <a:gd name="adj" fmla="val 5263"/>
            </a:avLst>
          </a:prstGeom>
          <a:solidFill>
            <a:srgbClr val="FBFCFC"/>
          </a:solidFill>
          <a:ln w="12700">
            <a:solidFill>
              <a:srgbClr val="D5DFE3"/>
            </a:solidFill>
            <a:prstDash val="solid"/>
          </a:ln>
        </p:spPr>
      </p:sp>
      <p:sp>
        <p:nvSpPr>
          <p:cNvPr id="20" name="Shape 18"/>
          <p:cNvSpPr/>
          <p:nvPr/>
        </p:nvSpPr>
        <p:spPr>
          <a:xfrm>
            <a:off x="9780788" y="1828800"/>
            <a:ext cx="548640" cy="548640"/>
          </a:xfrm>
          <a:prstGeom prst="ellipse">
            <a:avLst/>
          </a:prstGeom>
          <a:solidFill>
            <a:srgbClr val="16B3A8"/>
          </a:solidFill>
          <a:ln/>
        </p:spPr>
      </p:sp>
      <p:sp>
        <p:nvSpPr>
          <p:cNvPr id="21" name="Text 19"/>
          <p:cNvSpPr txBox="1"/>
          <p:nvPr/>
        </p:nvSpPr>
        <p:spPr>
          <a:xfrm>
            <a:off x="9780788" y="1828800"/>
            <a:ext cx="548640" cy="548640"/>
          </a:xfrm>
          <a:prstGeom prst="rect">
            <a:avLst/>
          </a:prstGeom>
          <a:noFill/>
          <a:ln/>
        </p:spPr>
        <p:txBody>
          <a:bodyPr wrap="square" lIns="0" tIns="0" rIns="0" bIns="0" rtlCol="0" anchor="ctr"/>
          <a:lstStyle/>
          <a:p>
            <a:pPr algn="ctr" indent="0" marL="0">
              <a:buNone/>
            </a:pPr>
            <a:r>
              <a:rPr lang="en-US" sz="1800" b="1" dirty="0">
                <a:solidFill>
                  <a:srgbClr val="0E2340"/>
                </a:solidFill>
                <a:latin typeface="Courier New" pitchFamily="34" charset="0"/>
                <a:ea typeface="Courier New" pitchFamily="34" charset="-122"/>
                <a:cs typeface="Courier New" pitchFamily="34" charset="-120"/>
              </a:rPr>
              <a:t>5</a:t>
            </a:r>
            <a:endParaRPr lang="en-US" sz="1800" dirty="0"/>
          </a:p>
        </p:txBody>
      </p:sp>
      <p:sp>
        <p:nvSpPr>
          <p:cNvPr id="22" name="Text 20"/>
          <p:cNvSpPr txBox="1"/>
          <p:nvPr/>
        </p:nvSpPr>
        <p:spPr>
          <a:xfrm>
            <a:off x="9780788" y="2560320"/>
            <a:ext cx="1542227" cy="640080"/>
          </a:xfrm>
          <a:prstGeom prst="rect">
            <a:avLst/>
          </a:prstGeom>
          <a:noFill/>
          <a:ln/>
        </p:spPr>
        <p:txBody>
          <a:bodyPr wrap="square" lIns="0" tIns="0" rIns="0" bIns="0" rtlCol="0" anchor="t"/>
          <a:lstStyle/>
          <a:p>
            <a:pPr indent="0" marL="0">
              <a:buNone/>
            </a:pPr>
            <a:r>
              <a:rPr lang="en-US" sz="1600" b="1" dirty="0">
                <a:solidFill>
                  <a:srgbClr val="0E2340"/>
                </a:solidFill>
                <a:latin typeface="Calibri" pitchFamily="34" charset="0"/>
                <a:ea typeface="Calibri" pitchFamily="34" charset="-122"/>
                <a:cs typeface="Calibri" pitchFamily="34" charset="-120"/>
              </a:rPr>
              <a:t>Right mouth corner</a:t>
            </a:r>
            <a:endParaRPr lang="en-US" sz="1600" dirty="0"/>
          </a:p>
        </p:txBody>
      </p:sp>
      <p:sp>
        <p:nvSpPr>
          <p:cNvPr id="23" name="Shape 21"/>
          <p:cNvSpPr/>
          <p:nvPr/>
        </p:nvSpPr>
        <p:spPr>
          <a:xfrm>
            <a:off x="640080" y="3657600"/>
            <a:ext cx="5295748" cy="2194560"/>
          </a:xfrm>
          <a:prstGeom prst="roundRect">
            <a:avLst>
              <a:gd name="adj" fmla="val 4167"/>
            </a:avLst>
          </a:prstGeom>
          <a:solidFill>
            <a:srgbClr val="E6EEF0"/>
          </a:solidFill>
          <a:ln w="12700">
            <a:solidFill>
              <a:srgbClr val="E6EEF0"/>
            </a:solidFill>
            <a:prstDash val="solid"/>
          </a:ln>
        </p:spPr>
      </p:sp>
      <p:sp>
        <p:nvSpPr>
          <p:cNvPr id="24" name="Text 22"/>
          <p:cNvSpPr txBox="1"/>
          <p:nvPr/>
        </p:nvSpPr>
        <p:spPr>
          <a:xfrm>
            <a:off x="960120" y="3931920"/>
            <a:ext cx="4655668" cy="45720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Similarity warp</a:t>
            </a:r>
            <a:endParaRPr lang="en-US" sz="2000" dirty="0"/>
          </a:p>
        </p:txBody>
      </p:sp>
      <p:sp>
        <p:nvSpPr>
          <p:cNvPr id="25" name="Text 23"/>
          <p:cNvSpPr txBox="1"/>
          <p:nvPr/>
        </p:nvSpPr>
        <p:spPr>
          <a:xfrm>
            <a:off x="960120" y="4480560"/>
            <a:ext cx="4655668" cy="118872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Rotate, scale and shift the image — no stretching — so the 5 dots land on the same 5 pixels of every 112×112 crop.</a:t>
            </a:r>
            <a:endParaRPr lang="en-US" sz="1600" dirty="0"/>
          </a:p>
        </p:txBody>
      </p:sp>
      <p:sp>
        <p:nvSpPr>
          <p:cNvPr id="26" name="Shape 24"/>
          <p:cNvSpPr/>
          <p:nvPr/>
        </p:nvSpPr>
        <p:spPr>
          <a:xfrm>
            <a:off x="6255868" y="3657600"/>
            <a:ext cx="5295748" cy="2194560"/>
          </a:xfrm>
          <a:prstGeom prst="roundRect">
            <a:avLst>
              <a:gd name="adj" fmla="val 4167"/>
            </a:avLst>
          </a:prstGeom>
          <a:solidFill>
            <a:srgbClr val="E6EEF0"/>
          </a:solidFill>
          <a:ln w="12700">
            <a:solidFill>
              <a:srgbClr val="E6EEF0"/>
            </a:solidFill>
            <a:prstDash val="solid"/>
          </a:ln>
        </p:spPr>
      </p:sp>
      <p:sp>
        <p:nvSpPr>
          <p:cNvPr id="27" name="Text 25"/>
          <p:cNvSpPr txBox="1"/>
          <p:nvPr/>
        </p:nvSpPr>
        <p:spPr>
          <a:xfrm>
            <a:off x="6575908" y="3931920"/>
            <a:ext cx="4655668" cy="45720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Why it matters</a:t>
            </a:r>
            <a:endParaRPr lang="en-US" sz="2000" dirty="0"/>
          </a:p>
        </p:txBody>
      </p:sp>
      <p:sp>
        <p:nvSpPr>
          <p:cNvPr id="28" name="Text 26"/>
          <p:cNvSpPr txBox="1"/>
          <p:nvPr/>
        </p:nvSpPr>
        <p:spPr>
          <a:xfrm>
            <a:off x="6575908" y="4480560"/>
            <a:ext cx="4655668" cy="118872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A tilted head and a straight head now give nearly the same crop, so the network compares faces, not poses.</a:t>
            </a:r>
            <a:endParaRPr lang="en-US" sz="1600" dirty="0"/>
          </a:p>
        </p:txBody>
      </p:sp>
      <p:sp>
        <p:nvSpPr>
          <p:cNvPr id="29" name="Text 27"/>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5B6B7C"/>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7"/>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731520"/>
          </a:xfrm>
          <a:prstGeom prst="rect">
            <a:avLst/>
          </a:prstGeom>
          <a:noFill/>
          <a:ln/>
        </p:spPr>
        <p:txBody>
          <a:bodyPr wrap="square" lIns="0" tIns="0" rIns="0" bIns="0" rtlCol="0" anchor="ctr"/>
          <a:lstStyle/>
          <a:p>
            <a:pPr indent="0" marL="0">
              <a:buNone/>
            </a:pPr>
            <a:r>
              <a:rPr lang="en-US" sz="3400" b="1" dirty="0">
                <a:solidFill>
                  <a:srgbClr val="0E2340"/>
                </a:solidFill>
                <a:latin typeface="Arial" pitchFamily="34" charset="0"/>
                <a:ea typeface="Arial" pitchFamily="34" charset="-122"/>
                <a:cs typeface="Arial" pitchFamily="34" charset="-120"/>
              </a:rPr>
              <a:t>One face becomes 512 numbers</a:t>
            </a:r>
            <a:endParaRPr lang="en-US" sz="3400" dirty="0"/>
          </a:p>
        </p:txBody>
      </p:sp>
      <p:sp>
        <p:nvSpPr>
          <p:cNvPr id="3" name="Shape 1"/>
          <p:cNvSpPr/>
          <p:nvPr/>
        </p:nvSpPr>
        <p:spPr>
          <a:xfrm>
            <a:off x="621792" y="1490472"/>
            <a:ext cx="6345936" cy="4242816"/>
          </a:xfrm>
          <a:prstGeom prst="rect">
            <a:avLst/>
          </a:prstGeom>
          <a:solidFill>
            <a:srgbClr val="FFFFFF"/>
          </a:solidFill>
          <a:ln w="12700">
            <a:solidFill>
              <a:srgbClr val="D5DFE3"/>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40080" y="1508760"/>
            <a:ext cx="6309360" cy="4206240"/>
          </a:xfrm>
          <a:prstGeom prst="rect">
            <a:avLst/>
          </a:prstGeom>
        </p:spPr>
      </p:pic>
      <p:sp>
        <p:nvSpPr>
          <p:cNvPr id="5" name="Text 2"/>
          <p:cNvSpPr txBox="1"/>
          <p:nvPr/>
        </p:nvSpPr>
        <p:spPr>
          <a:xfrm>
            <a:off x="7315200" y="1600200"/>
            <a:ext cx="4206240" cy="548640"/>
          </a:xfrm>
          <a:prstGeom prst="rect">
            <a:avLst/>
          </a:prstGeom>
          <a:noFill/>
          <a:ln/>
        </p:spPr>
        <p:txBody>
          <a:bodyPr wrap="square" lIns="0" tIns="0" rIns="0" bIns="0" rtlCol="0" anchor="t"/>
          <a:lstStyle/>
          <a:p>
            <a:pPr indent="0" marL="0">
              <a:buNone/>
            </a:pPr>
            <a:r>
              <a:rPr lang="en-US" sz="2200" b="1" dirty="0">
                <a:solidFill>
                  <a:srgbClr val="0A7A73"/>
                </a:solidFill>
                <a:latin typeface="Courier New" pitchFamily="34" charset="0"/>
                <a:ea typeface="Courier New" pitchFamily="34" charset="-122"/>
                <a:cs typeface="Courier New" pitchFamily="34" charset="-120"/>
              </a:rPr>
              <a:t>37,632 in → 512 out</a:t>
            </a:r>
            <a:endParaRPr lang="en-US" sz="2200" dirty="0"/>
          </a:p>
        </p:txBody>
      </p:sp>
      <p:sp>
        <p:nvSpPr>
          <p:cNvPr id="6" name="Text 3"/>
          <p:cNvSpPr txBox="1"/>
          <p:nvPr/>
        </p:nvSpPr>
        <p:spPr>
          <a:xfrm>
            <a:off x="7315200" y="2377440"/>
            <a:ext cx="4206240" cy="1371600"/>
          </a:xfrm>
          <a:prstGeom prst="rect">
            <a:avLst/>
          </a:prstGeom>
          <a:noFill/>
          <a:ln/>
        </p:spPr>
        <p:txBody>
          <a:bodyPr wrap="square" lIns="0" tIns="0" rIns="0" bIns="0" rtlCol="0" anchor="t"/>
          <a:lstStyle/>
          <a:p>
            <a:pPr indent="0" marL="0">
              <a:buNone/>
            </a:pPr>
            <a:r>
              <a:rPr lang="en-US" sz="1800" dirty="0">
                <a:solidFill>
                  <a:srgbClr val="3D4F63"/>
                </a:solidFill>
                <a:latin typeface="Calibri" pitchFamily="34" charset="0"/>
                <a:ea typeface="Calibri" pitchFamily="34" charset="-122"/>
                <a:cs typeface="Calibri" pitchFamily="34" charset="-120"/>
              </a:rPr>
              <a:t>Each box mixes information from the whole face. No single box means “eyes” — and </a:t>
            </a:r>
            <a:pPr indent="0" marL="0">
              <a:buNone/>
            </a:pPr>
            <a:r>
              <a:rPr lang="en-US" sz="1800" b="1" dirty="0">
                <a:solidFill>
                  <a:srgbClr val="0E2340"/>
                </a:solidFill>
                <a:latin typeface="Calibri" pitchFamily="34" charset="0"/>
                <a:ea typeface="Calibri" pitchFamily="34" charset="-122"/>
                <a:cs typeface="Calibri" pitchFamily="34" charset="-120"/>
              </a:rPr>
              <a:t>no box means “Erdem.”</a:t>
            </a:r>
            <a:endParaRPr lang="en-US" sz="1800" dirty="0"/>
          </a:p>
        </p:txBody>
      </p:sp>
      <p:sp>
        <p:nvSpPr>
          <p:cNvPr id="7" name="Text 4"/>
          <p:cNvSpPr txBox="1"/>
          <p:nvPr/>
        </p:nvSpPr>
        <p:spPr>
          <a:xfrm>
            <a:off x="7315200" y="3931920"/>
            <a:ext cx="4206240" cy="1097280"/>
          </a:xfrm>
          <a:prstGeom prst="rect">
            <a:avLst/>
          </a:prstGeom>
          <a:noFill/>
          <a:ln/>
        </p:spPr>
        <p:txBody>
          <a:bodyPr wrap="square" lIns="0" tIns="0" rIns="0" bIns="0" rtlCol="0" anchor="t"/>
          <a:lstStyle/>
          <a:p>
            <a:pPr indent="0" marL="0">
              <a:buNone/>
            </a:pPr>
            <a:r>
              <a:rPr lang="en-US" sz="1800" dirty="0">
                <a:solidFill>
                  <a:srgbClr val="3D4F63"/>
                </a:solidFill>
                <a:latin typeface="Calibri" pitchFamily="34" charset="0"/>
                <a:ea typeface="Calibri" pitchFamily="34" charset="-122"/>
                <a:cs typeface="Calibri" pitchFamily="34" charset="-120"/>
              </a:rPr>
              <a:t>The name lives in </a:t>
            </a:r>
            <a:pPr indent="0" marL="0">
              <a:buNone/>
            </a:pPr>
            <a:r>
              <a:rPr lang="en-US" sz="1800" b="1" dirty="0">
                <a:solidFill>
                  <a:srgbClr val="0E2340"/>
                </a:solidFill>
                <a:latin typeface="Calibri" pitchFamily="34" charset="0"/>
                <a:ea typeface="Calibri" pitchFamily="34" charset="-122"/>
                <a:cs typeface="Calibri" pitchFamily="34" charset="-120"/>
              </a:rPr>
              <a:t>your</a:t>
            </a:r>
            <a:pPr indent="0" marL="0">
              <a:buNone/>
            </a:pPr>
            <a:r>
              <a:rPr lang="en-US" sz="1800" dirty="0">
                <a:solidFill>
                  <a:srgbClr val="3D4F63"/>
                </a:solidFill>
                <a:latin typeface="Calibri" pitchFamily="34" charset="0"/>
                <a:ea typeface="Calibri" pitchFamily="34" charset="-122"/>
                <a:cs typeface="Calibri" pitchFamily="34" charset="-120"/>
              </a:rPr>
              <a:t> file, stored next to a vector. The network knows no one.</a:t>
            </a:r>
            <a:endParaRPr lang="en-US" sz="1800" dirty="0"/>
          </a:p>
        </p:txBody>
      </p:sp>
      <p:sp>
        <p:nvSpPr>
          <p:cNvPr id="8" name="Text 5"/>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5B6B7C"/>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6EEF0"/>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731520"/>
          </a:xfrm>
          <a:prstGeom prst="rect">
            <a:avLst/>
          </a:prstGeom>
          <a:noFill/>
          <a:ln/>
        </p:spPr>
        <p:txBody>
          <a:bodyPr wrap="square" lIns="0" tIns="0" rIns="0" bIns="0" rtlCol="0" anchor="ctr"/>
          <a:lstStyle/>
          <a:p>
            <a:pPr indent="0" marL="0">
              <a:buNone/>
            </a:pPr>
            <a:r>
              <a:rPr lang="en-US" sz="3400" b="1" dirty="0">
                <a:solidFill>
                  <a:srgbClr val="0E2340"/>
                </a:solidFill>
                <a:latin typeface="Arial" pitchFamily="34" charset="0"/>
                <a:ea typeface="Arial" pitchFamily="34" charset="-122"/>
                <a:cs typeface="Arial" pitchFamily="34" charset="-120"/>
              </a:rPr>
              <a:t>Recognition is one multiply-and-add</a:t>
            </a:r>
            <a:endParaRPr lang="en-US" sz="3400" dirty="0"/>
          </a:p>
        </p:txBody>
      </p:sp>
      <p:sp>
        <p:nvSpPr>
          <p:cNvPr id="3" name="Shape 1"/>
          <p:cNvSpPr/>
          <p:nvPr/>
        </p:nvSpPr>
        <p:spPr>
          <a:xfrm>
            <a:off x="640080" y="1554480"/>
            <a:ext cx="10911535" cy="1600200"/>
          </a:xfrm>
          <a:prstGeom prst="roundRect">
            <a:avLst>
              <a:gd name="adj" fmla="val 5714"/>
            </a:avLst>
          </a:prstGeom>
          <a:solidFill>
            <a:srgbClr val="0E2340"/>
          </a:solidFill>
          <a:ln w="12700">
            <a:solidFill>
              <a:srgbClr val="0E2340"/>
            </a:solidFill>
            <a:prstDash val="solid"/>
          </a:ln>
        </p:spPr>
      </p:sp>
      <p:sp>
        <p:nvSpPr>
          <p:cNvPr id="4" name="Text 2"/>
          <p:cNvSpPr txBox="1"/>
          <p:nvPr/>
        </p:nvSpPr>
        <p:spPr>
          <a:xfrm>
            <a:off x="1051560" y="1783080"/>
            <a:ext cx="10088575" cy="548640"/>
          </a:xfrm>
          <a:prstGeom prst="rect">
            <a:avLst/>
          </a:prstGeom>
          <a:noFill/>
          <a:ln/>
        </p:spPr>
        <p:txBody>
          <a:bodyPr wrap="square" lIns="0" tIns="0" rIns="0" bIns="0" rtlCol="0" anchor="t"/>
          <a:lstStyle/>
          <a:p>
            <a:pPr indent="0" marL="0">
              <a:buNone/>
            </a:pPr>
            <a:r>
              <a:rPr lang="en-US" sz="2600" dirty="0">
                <a:solidFill>
                  <a:srgbClr val="EEF4F6"/>
                </a:solidFill>
                <a:latin typeface="Courier New" pitchFamily="34" charset="0"/>
                <a:ea typeface="Courier New" pitchFamily="34" charset="-122"/>
                <a:cs typeface="Courier New" pitchFamily="34" charset="-120"/>
              </a:rPr>
              <a:t>score = a₁b₁ + a₂b₂ + … + a₅₁₂b₅₁₂</a:t>
            </a:r>
            <a:endParaRPr lang="en-US" sz="2600" dirty="0"/>
          </a:p>
        </p:txBody>
      </p:sp>
      <p:sp>
        <p:nvSpPr>
          <p:cNvPr id="5" name="Text 3"/>
          <p:cNvSpPr txBox="1"/>
          <p:nvPr/>
        </p:nvSpPr>
        <p:spPr>
          <a:xfrm>
            <a:off x="1051560" y="2468880"/>
            <a:ext cx="10088575" cy="457200"/>
          </a:xfrm>
          <a:prstGeom prst="rect">
            <a:avLst/>
          </a:prstGeom>
          <a:noFill/>
          <a:ln/>
        </p:spPr>
        <p:txBody>
          <a:bodyPr wrap="square" lIns="0" tIns="0" rIns="0" bIns="0" rtlCol="0" anchor="t"/>
          <a:lstStyle/>
          <a:p>
            <a:pPr indent="0" marL="0">
              <a:buNone/>
            </a:pPr>
            <a:r>
              <a:rPr lang="en-US" sz="1700" dirty="0">
                <a:solidFill>
                  <a:srgbClr val="BCD0DD"/>
                </a:solidFill>
                <a:latin typeface="Calibri" pitchFamily="34" charset="0"/>
                <a:ea typeface="Calibri" pitchFamily="34" charset="-122"/>
                <a:cs typeface="Calibri" pitchFamily="34" charset="-120"/>
              </a:rPr>
              <a:t>Both vectors have length 1, so this dot product </a:t>
            </a:r>
            <a:pPr indent="0" marL="0">
              <a:buNone/>
            </a:pPr>
            <a:r>
              <a:rPr lang="en-US" sz="1700" i="1" dirty="0">
                <a:solidFill>
                  <a:srgbClr val="BCD0DD"/>
                </a:solidFill>
                <a:latin typeface="Calibri" pitchFamily="34" charset="0"/>
                <a:ea typeface="Calibri" pitchFamily="34" charset="-122"/>
                <a:cs typeface="Calibri" pitchFamily="34" charset="-120"/>
              </a:rPr>
              <a:t>is</a:t>
            </a:r>
            <a:pPr indent="0" marL="0">
              <a:buNone/>
            </a:pPr>
            <a:r>
              <a:rPr lang="en-US" sz="1700" dirty="0">
                <a:solidFill>
                  <a:srgbClr val="BCD0DD"/>
                </a:solidFill>
                <a:latin typeface="Calibri" pitchFamily="34" charset="0"/>
                <a:ea typeface="Calibri" pitchFamily="34" charset="-122"/>
                <a:cs typeface="Calibri" pitchFamily="34" charset="-120"/>
              </a:rPr>
              <a:t> the cosine of the angle between them:  </a:t>
            </a:r>
            <a:pPr indent="0" marL="0">
              <a:buNone/>
            </a:pPr>
            <a:r>
              <a:rPr lang="en-US" sz="1700" dirty="0">
                <a:solidFill>
                  <a:srgbClr val="16B3A8"/>
                </a:solidFill>
                <a:latin typeface="Courier New" pitchFamily="34" charset="0"/>
                <a:ea typeface="Courier New" pitchFamily="34" charset="-122"/>
                <a:cs typeface="Courier New" pitchFamily="34" charset="-120"/>
              </a:rPr>
              <a:t>np.dot(a, b)</a:t>
            </a:r>
            <a:endParaRPr lang="en-US" sz="1700" dirty="0"/>
          </a:p>
        </p:txBody>
      </p:sp>
      <p:sp>
        <p:nvSpPr>
          <p:cNvPr id="6" name="Shape 4"/>
          <p:cNvSpPr/>
          <p:nvPr/>
        </p:nvSpPr>
        <p:spPr>
          <a:xfrm>
            <a:off x="640080" y="3749040"/>
            <a:ext cx="10911535" cy="182880"/>
          </a:xfrm>
          <a:prstGeom prst="roundRect">
            <a:avLst>
              <a:gd name="adj" fmla="val 50000"/>
            </a:avLst>
          </a:prstGeom>
          <a:solidFill>
            <a:srgbClr val="C9D6DC"/>
          </a:solidFill>
          <a:ln w="12700">
            <a:solidFill>
              <a:srgbClr val="C9D6DC"/>
            </a:solidFill>
            <a:prstDash val="solid"/>
          </a:ln>
        </p:spPr>
      </p:sp>
      <p:sp>
        <p:nvSpPr>
          <p:cNvPr id="7" name="Shape 5"/>
          <p:cNvSpPr/>
          <p:nvPr/>
        </p:nvSpPr>
        <p:spPr>
          <a:xfrm>
            <a:off x="8278155" y="3749040"/>
            <a:ext cx="3273461" cy="182880"/>
          </a:xfrm>
          <a:prstGeom prst="rect">
            <a:avLst/>
          </a:prstGeom>
          <a:solidFill>
            <a:srgbClr val="16B3A8"/>
          </a:solidFill>
          <a:ln w="12700">
            <a:solidFill>
              <a:srgbClr val="16B3A8"/>
            </a:solidFill>
            <a:prstDash val="solid"/>
          </a:ln>
        </p:spPr>
      </p:sp>
      <p:sp>
        <p:nvSpPr>
          <p:cNvPr id="8" name="Shape 6"/>
          <p:cNvSpPr/>
          <p:nvPr/>
        </p:nvSpPr>
        <p:spPr>
          <a:xfrm>
            <a:off x="8250723" y="3566160"/>
            <a:ext cx="54864" cy="548640"/>
          </a:xfrm>
          <a:prstGeom prst="rect">
            <a:avLst/>
          </a:prstGeom>
          <a:solidFill>
            <a:srgbClr val="0E2340"/>
          </a:solidFill>
          <a:ln w="12700">
            <a:solidFill>
              <a:srgbClr val="0E2340"/>
            </a:solidFill>
            <a:prstDash val="solid"/>
          </a:ln>
        </p:spPr>
      </p:sp>
      <p:sp>
        <p:nvSpPr>
          <p:cNvPr id="9" name="Text 7"/>
          <p:cNvSpPr txBox="1"/>
          <p:nvPr/>
        </p:nvSpPr>
        <p:spPr>
          <a:xfrm>
            <a:off x="640080" y="4160520"/>
            <a:ext cx="2286000" cy="365760"/>
          </a:xfrm>
          <a:prstGeom prst="rect">
            <a:avLst/>
          </a:prstGeom>
          <a:noFill/>
          <a:ln/>
        </p:spPr>
        <p:txBody>
          <a:bodyPr wrap="square" lIns="0" tIns="0" rIns="0" bIns="0" rtlCol="0" anchor="t"/>
          <a:lstStyle/>
          <a:p>
            <a:pPr indent="0" marL="0">
              <a:buNone/>
            </a:pPr>
            <a:r>
              <a:rPr lang="en-US" sz="1400" dirty="0">
                <a:solidFill>
                  <a:srgbClr val="3D4F63"/>
                </a:solidFill>
                <a:latin typeface="Calibri" pitchFamily="34" charset="0"/>
                <a:ea typeface="Calibri" pitchFamily="34" charset="-122"/>
                <a:cs typeface="Calibri" pitchFamily="34" charset="-120"/>
              </a:rPr>
              <a:t>−1  opposite</a:t>
            </a:r>
            <a:endParaRPr lang="en-US" sz="1400" dirty="0"/>
          </a:p>
        </p:txBody>
      </p:sp>
      <p:sp>
        <p:nvSpPr>
          <p:cNvPr id="10" name="Text 8"/>
          <p:cNvSpPr txBox="1"/>
          <p:nvPr/>
        </p:nvSpPr>
        <p:spPr>
          <a:xfrm>
            <a:off x="4952848" y="4160520"/>
            <a:ext cx="2286000" cy="365760"/>
          </a:xfrm>
          <a:prstGeom prst="rect">
            <a:avLst/>
          </a:prstGeom>
          <a:noFill/>
          <a:ln/>
        </p:spPr>
        <p:txBody>
          <a:bodyPr wrap="square" lIns="0" tIns="0" rIns="0" bIns="0" rtlCol="0" anchor="t"/>
          <a:lstStyle/>
          <a:p>
            <a:pPr algn="ctr" indent="0" marL="0">
              <a:buNone/>
            </a:pPr>
            <a:r>
              <a:rPr lang="en-US" sz="1400" dirty="0">
                <a:solidFill>
                  <a:srgbClr val="3D4F63"/>
                </a:solidFill>
                <a:latin typeface="Calibri" pitchFamily="34" charset="0"/>
                <a:ea typeface="Calibri" pitchFamily="34" charset="-122"/>
                <a:cs typeface="Calibri" pitchFamily="34" charset="-120"/>
              </a:rPr>
              <a:t>0  unrelated</a:t>
            </a:r>
            <a:endParaRPr lang="en-US" sz="1400" dirty="0"/>
          </a:p>
        </p:txBody>
      </p:sp>
      <p:sp>
        <p:nvSpPr>
          <p:cNvPr id="11" name="Text 9"/>
          <p:cNvSpPr txBox="1"/>
          <p:nvPr/>
        </p:nvSpPr>
        <p:spPr>
          <a:xfrm>
            <a:off x="6906555" y="4160520"/>
            <a:ext cx="2743200" cy="365760"/>
          </a:xfrm>
          <a:prstGeom prst="rect">
            <a:avLst/>
          </a:prstGeom>
          <a:noFill/>
          <a:ln/>
        </p:spPr>
        <p:txBody>
          <a:bodyPr wrap="square" lIns="0" tIns="0" rIns="0" bIns="0" rtlCol="0" anchor="t"/>
          <a:lstStyle/>
          <a:p>
            <a:pPr algn="ctr" indent="0" marL="0">
              <a:buNone/>
            </a:pPr>
            <a:r>
              <a:rPr lang="en-US" sz="1400" b="1" dirty="0">
                <a:solidFill>
                  <a:srgbClr val="0E2340"/>
                </a:solidFill>
                <a:latin typeface="Calibri" pitchFamily="34" charset="0"/>
                <a:ea typeface="Calibri" pitchFamily="34" charset="-122"/>
                <a:cs typeface="Calibri" pitchFamily="34" charset="-120"/>
              </a:rPr>
              <a:t>THRESHOLD ≈ 0.40</a:t>
            </a:r>
            <a:endParaRPr lang="en-US" sz="1400" dirty="0"/>
          </a:p>
        </p:txBody>
      </p:sp>
      <p:sp>
        <p:nvSpPr>
          <p:cNvPr id="12" name="Text 10"/>
          <p:cNvSpPr txBox="1"/>
          <p:nvPr/>
        </p:nvSpPr>
        <p:spPr>
          <a:xfrm>
            <a:off x="9265615" y="4160520"/>
            <a:ext cx="2286000" cy="365760"/>
          </a:xfrm>
          <a:prstGeom prst="rect">
            <a:avLst/>
          </a:prstGeom>
          <a:noFill/>
          <a:ln/>
        </p:spPr>
        <p:txBody>
          <a:bodyPr wrap="square" lIns="0" tIns="0" rIns="0" bIns="0" rtlCol="0" anchor="t"/>
          <a:lstStyle/>
          <a:p>
            <a:pPr algn="r" indent="0" marL="0">
              <a:buNone/>
            </a:pPr>
            <a:r>
              <a:rPr lang="en-US" sz="1400" dirty="0">
                <a:solidFill>
                  <a:srgbClr val="3D4F63"/>
                </a:solidFill>
                <a:latin typeface="Calibri" pitchFamily="34" charset="0"/>
                <a:ea typeface="Calibri" pitchFamily="34" charset="-122"/>
                <a:cs typeface="Calibri" pitchFamily="34" charset="-120"/>
              </a:rPr>
              <a:t>+1  same</a:t>
            </a:r>
            <a:endParaRPr lang="en-US" sz="1400" dirty="0"/>
          </a:p>
        </p:txBody>
      </p:sp>
      <p:sp>
        <p:nvSpPr>
          <p:cNvPr id="13" name="Text 11"/>
          <p:cNvSpPr txBox="1"/>
          <p:nvPr/>
        </p:nvSpPr>
        <p:spPr>
          <a:xfrm>
            <a:off x="640080" y="4937760"/>
            <a:ext cx="10911535" cy="731520"/>
          </a:xfrm>
          <a:prstGeom prst="rect">
            <a:avLst/>
          </a:prstGeom>
          <a:noFill/>
          <a:ln/>
        </p:spPr>
        <p:txBody>
          <a:bodyPr wrap="square" lIns="0" tIns="0" rIns="0" bIns="0" rtlCol="0" anchor="t"/>
          <a:lstStyle/>
          <a:p>
            <a:pPr indent="0" marL="0">
              <a:buNone/>
            </a:pPr>
            <a:r>
              <a:rPr lang="en-US" sz="1800" dirty="0">
                <a:solidFill>
                  <a:srgbClr val="3D4F63"/>
                </a:solidFill>
                <a:latin typeface="Calibri" pitchFamily="34" charset="0"/>
                <a:ea typeface="Calibri" pitchFamily="34" charset="-122"/>
                <a:cs typeface="Calibri" pitchFamily="34" charset="-120"/>
              </a:rPr>
              <a:t>Best score above the line → print that name. Below it → </a:t>
            </a:r>
            <a:pPr indent="0" marL="0">
              <a:buNone/>
            </a:pPr>
            <a:r>
              <a:rPr lang="en-US" sz="1800" b="1" dirty="0">
                <a:solidFill>
                  <a:srgbClr val="0E2340"/>
                </a:solidFill>
                <a:latin typeface="Calibri" pitchFamily="34" charset="0"/>
                <a:ea typeface="Calibri" pitchFamily="34" charset="-122"/>
                <a:cs typeface="Calibri" pitchFamily="34" charset="-120"/>
              </a:rPr>
              <a:t>“Unknown.”</a:t>
            </a:r>
            <a:pPr indent="0" marL="0">
              <a:buNone/>
            </a:pPr>
            <a:r>
              <a:rPr lang="en-US" sz="1800" dirty="0">
                <a:solidFill>
                  <a:srgbClr val="3D4F63"/>
                </a:solidFill>
                <a:latin typeface="Calibri" pitchFamily="34" charset="0"/>
                <a:ea typeface="Calibri" pitchFamily="34" charset="-122"/>
                <a:cs typeface="Calibri" pitchFamily="34" charset="-120"/>
              </a:rPr>
              <a:t> The 0.40 is a starting guess we will tune in lab.</a:t>
            </a:r>
            <a:endParaRPr lang="en-US" sz="1800" dirty="0"/>
          </a:p>
        </p:txBody>
      </p:sp>
      <p:sp>
        <p:nvSpPr>
          <p:cNvPr id="14" name="Text 12"/>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5B6B7C"/>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7"/>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731520"/>
          </a:xfrm>
          <a:prstGeom prst="rect">
            <a:avLst/>
          </a:prstGeom>
          <a:noFill/>
          <a:ln/>
        </p:spPr>
        <p:txBody>
          <a:bodyPr wrap="square" lIns="0" tIns="0" rIns="0" bIns="0" rtlCol="0" anchor="ctr"/>
          <a:lstStyle/>
          <a:p>
            <a:pPr indent="0" marL="0">
              <a:buNone/>
            </a:pPr>
            <a:r>
              <a:rPr lang="en-US" sz="3400" b="1" dirty="0">
                <a:solidFill>
                  <a:srgbClr val="0E2340"/>
                </a:solidFill>
                <a:latin typeface="Arial" pitchFamily="34" charset="0"/>
                <a:ea typeface="Arial" pitchFamily="34" charset="-122"/>
                <a:cs typeface="Arial" pitchFamily="34" charset="-120"/>
              </a:rPr>
              <a:t>The program has two jobs</a:t>
            </a:r>
            <a:endParaRPr lang="en-US" sz="3400" dirty="0"/>
          </a:p>
        </p:txBody>
      </p:sp>
      <p:sp>
        <p:nvSpPr>
          <p:cNvPr id="3" name="Shape 1"/>
          <p:cNvSpPr/>
          <p:nvPr/>
        </p:nvSpPr>
        <p:spPr>
          <a:xfrm>
            <a:off x="640080" y="1600200"/>
            <a:ext cx="5272888" cy="4343400"/>
          </a:xfrm>
          <a:prstGeom prst="roundRect">
            <a:avLst>
              <a:gd name="adj" fmla="val 2105"/>
            </a:avLst>
          </a:prstGeom>
          <a:solidFill>
            <a:srgbClr val="FBFCFC"/>
          </a:solidFill>
          <a:ln w="12700">
            <a:solidFill>
              <a:srgbClr val="D5DFE3"/>
            </a:solidFill>
            <a:prstDash val="solid"/>
          </a:ln>
        </p:spPr>
      </p:sp>
      <p:sp>
        <p:nvSpPr>
          <p:cNvPr id="4" name="Shape 2"/>
          <p:cNvSpPr/>
          <p:nvPr/>
        </p:nvSpPr>
        <p:spPr>
          <a:xfrm>
            <a:off x="960120" y="1920240"/>
            <a:ext cx="4632808" cy="502920"/>
          </a:xfrm>
          <a:prstGeom prst="roundRect">
            <a:avLst>
              <a:gd name="adj" fmla="val 18182"/>
            </a:avLst>
          </a:prstGeom>
          <a:solidFill>
            <a:srgbClr val="0E2340"/>
          </a:solidFill>
          <a:ln w="12700">
            <a:solidFill>
              <a:srgbClr val="0E2340"/>
            </a:solidFill>
            <a:prstDash val="solid"/>
          </a:ln>
        </p:spPr>
      </p:sp>
      <p:sp>
        <p:nvSpPr>
          <p:cNvPr id="5" name="Text 3"/>
          <p:cNvSpPr txBox="1"/>
          <p:nvPr/>
        </p:nvSpPr>
        <p:spPr>
          <a:xfrm>
            <a:off x="1097280" y="1920240"/>
            <a:ext cx="4358488" cy="502920"/>
          </a:xfrm>
          <a:prstGeom prst="rect">
            <a:avLst/>
          </a:prstGeom>
          <a:noFill/>
          <a:ln/>
        </p:spPr>
        <p:txBody>
          <a:bodyPr wrap="square" lIns="0" tIns="0" rIns="0" bIns="0" rtlCol="0" anchor="ctr"/>
          <a:lstStyle/>
          <a:p>
            <a:pPr indent="0" marL="0">
              <a:buNone/>
            </a:pPr>
            <a:r>
              <a:rPr lang="en-US" sz="1500" dirty="0">
                <a:solidFill>
                  <a:srgbClr val="EEF4F6"/>
                </a:solidFill>
                <a:latin typeface="Courier New" pitchFamily="34" charset="0"/>
                <a:ea typeface="Courier New" pitchFamily="34" charset="-122"/>
                <a:cs typeface="Courier New" pitchFamily="34" charset="-120"/>
              </a:rPr>
              <a:t>python face_id.py enroll Erdem</a:t>
            </a:r>
            <a:endParaRPr lang="en-US" sz="1500" dirty="0"/>
          </a:p>
        </p:txBody>
      </p:sp>
      <p:sp>
        <p:nvSpPr>
          <p:cNvPr id="6" name="Text 4"/>
          <p:cNvSpPr txBox="1"/>
          <p:nvPr/>
        </p:nvSpPr>
        <p:spPr>
          <a:xfrm>
            <a:off x="960120" y="2651760"/>
            <a:ext cx="4632808" cy="502920"/>
          </a:xfrm>
          <a:prstGeom prst="rect">
            <a:avLst/>
          </a:prstGeom>
          <a:noFill/>
          <a:ln/>
        </p:spPr>
        <p:txBody>
          <a:bodyPr wrap="square" lIns="0" tIns="0" rIns="0" bIns="0" rtlCol="0" anchor="t"/>
          <a:lstStyle/>
          <a:p>
            <a:pPr indent="0" marL="0">
              <a:buNone/>
            </a:pPr>
            <a:r>
              <a:rPr lang="en-US" sz="2200" b="1" dirty="0">
                <a:solidFill>
                  <a:srgbClr val="0E2340"/>
                </a:solidFill>
                <a:latin typeface="Arial" pitchFamily="34" charset="0"/>
                <a:ea typeface="Arial" pitchFamily="34" charset="-122"/>
                <a:cs typeface="Arial" pitchFamily="34" charset="-120"/>
              </a:rPr>
              <a:t>Enroll — once per person</a:t>
            </a:r>
            <a:endParaRPr lang="en-US" sz="2200" dirty="0"/>
          </a:p>
        </p:txBody>
      </p:sp>
      <p:sp>
        <p:nvSpPr>
          <p:cNvPr id="7" name="Text 5"/>
          <p:cNvSpPr txBox="1"/>
          <p:nvPr/>
        </p:nvSpPr>
        <p:spPr>
          <a:xfrm>
            <a:off x="960120" y="3291840"/>
            <a:ext cx="4632808" cy="237744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700" dirty="0">
                <a:solidFill>
                  <a:srgbClr val="3D4F63"/>
                </a:solidFill>
                <a:latin typeface="Calibri" pitchFamily="34" charset="0"/>
                <a:ea typeface="Calibri" pitchFamily="34" charset="-122"/>
                <a:cs typeface="Calibri" pitchFamily="34" charset="-120"/>
              </a:rPr>
              <a:t>Grab 5 frames with exactly one face</a:t>
            </a:r>
            <a:endParaRPr lang="en-US" sz="1700" dirty="0"/>
          </a:p>
          <a:p>
            <a:pPr marL="342900" indent="-342900">
              <a:spcAft>
                <a:spcPts val="800"/>
              </a:spcAft>
              <a:buSzPct val="100000"/>
              <a:buFont typeface="+mj-lt"/>
              <a:buAutoNum type="arabicPeriod" startAt="1"/>
            </a:pPr>
            <a:r>
              <a:rPr lang="en-US" sz="1700" dirty="0">
                <a:solidFill>
                  <a:srgbClr val="3D4F63"/>
                </a:solidFill>
                <a:latin typeface="Calibri" pitchFamily="34" charset="0"/>
                <a:ea typeface="Calibri" pitchFamily="34" charset="-122"/>
                <a:cs typeface="Calibri" pitchFamily="34" charset="-120"/>
              </a:rPr>
              <a:t>Get 5 embeddings, average them</a:t>
            </a:r>
            <a:endParaRPr lang="en-US" sz="1700" dirty="0"/>
          </a:p>
          <a:p>
            <a:pPr marL="342900" indent="-342900">
              <a:spcAft>
                <a:spcPts val="800"/>
              </a:spcAft>
              <a:buSzPct val="100000"/>
              <a:buFont typeface="+mj-lt"/>
              <a:buAutoNum type="arabicPeriod" startAt="1"/>
            </a:pPr>
            <a:r>
              <a:rPr lang="en-US" sz="1700" dirty="0">
                <a:solidFill>
                  <a:srgbClr val="3D4F63"/>
                </a:solidFill>
                <a:latin typeface="Calibri" pitchFamily="34" charset="0"/>
                <a:ea typeface="Calibri" pitchFamily="34" charset="-122"/>
                <a:cs typeface="Calibri" pitchFamily="34" charset="-120"/>
              </a:rPr>
              <a:t>Rescale the average back to length 1</a:t>
            </a:r>
            <a:endParaRPr lang="en-US" sz="1700" dirty="0"/>
          </a:p>
          <a:p>
            <a:pPr marL="342900" indent="-342900">
              <a:spcAft>
                <a:spcPts val="800"/>
              </a:spcAft>
              <a:buSzPct val="100000"/>
              <a:buFont typeface="+mj-lt"/>
              <a:buAutoNum type="arabicPeriod" startAt="1"/>
            </a:pPr>
            <a:r>
              <a:rPr lang="en-US" sz="1700" dirty="0">
                <a:solidFill>
                  <a:srgbClr val="3D4F63"/>
                </a:solidFill>
                <a:latin typeface="Calibri" pitchFamily="34" charset="0"/>
                <a:ea typeface="Calibri" pitchFamily="34" charset="-122"/>
                <a:cs typeface="Calibri" pitchFamily="34" charset="-120"/>
              </a:rPr>
              <a:t>Save name → vector in faces.npz</a:t>
            </a:r>
            <a:endParaRPr lang="en-US" sz="1700" dirty="0"/>
          </a:p>
        </p:txBody>
      </p:sp>
      <p:sp>
        <p:nvSpPr>
          <p:cNvPr id="8" name="Shape 6"/>
          <p:cNvSpPr/>
          <p:nvPr/>
        </p:nvSpPr>
        <p:spPr>
          <a:xfrm>
            <a:off x="6278728" y="1600200"/>
            <a:ext cx="5272888" cy="4343400"/>
          </a:xfrm>
          <a:prstGeom prst="roundRect">
            <a:avLst>
              <a:gd name="adj" fmla="val 2105"/>
            </a:avLst>
          </a:prstGeom>
          <a:solidFill>
            <a:srgbClr val="FBFCFC"/>
          </a:solidFill>
          <a:ln w="12700">
            <a:solidFill>
              <a:srgbClr val="D5DFE3"/>
            </a:solidFill>
            <a:prstDash val="solid"/>
          </a:ln>
        </p:spPr>
      </p:sp>
      <p:sp>
        <p:nvSpPr>
          <p:cNvPr id="9" name="Shape 7"/>
          <p:cNvSpPr/>
          <p:nvPr/>
        </p:nvSpPr>
        <p:spPr>
          <a:xfrm>
            <a:off x="6598768" y="1920240"/>
            <a:ext cx="4632808" cy="502920"/>
          </a:xfrm>
          <a:prstGeom prst="roundRect">
            <a:avLst>
              <a:gd name="adj" fmla="val 18182"/>
            </a:avLst>
          </a:prstGeom>
          <a:solidFill>
            <a:srgbClr val="0A7A73"/>
          </a:solidFill>
          <a:ln w="12700">
            <a:solidFill>
              <a:srgbClr val="0A7A73"/>
            </a:solidFill>
            <a:prstDash val="solid"/>
          </a:ln>
        </p:spPr>
      </p:sp>
      <p:sp>
        <p:nvSpPr>
          <p:cNvPr id="10" name="Text 8"/>
          <p:cNvSpPr txBox="1"/>
          <p:nvPr/>
        </p:nvSpPr>
        <p:spPr>
          <a:xfrm>
            <a:off x="6735928" y="1920240"/>
            <a:ext cx="4358488" cy="502920"/>
          </a:xfrm>
          <a:prstGeom prst="rect">
            <a:avLst/>
          </a:prstGeom>
          <a:noFill/>
          <a:ln/>
        </p:spPr>
        <p:txBody>
          <a:bodyPr wrap="square" lIns="0" tIns="0" rIns="0" bIns="0" rtlCol="0" anchor="ctr"/>
          <a:lstStyle/>
          <a:p>
            <a:pPr indent="0" marL="0">
              <a:buNone/>
            </a:pPr>
            <a:r>
              <a:rPr lang="en-US" sz="1500" dirty="0">
                <a:solidFill>
                  <a:srgbClr val="EEF4F6"/>
                </a:solidFill>
                <a:latin typeface="Courier New" pitchFamily="34" charset="0"/>
                <a:ea typeface="Courier New" pitchFamily="34" charset="-122"/>
                <a:cs typeface="Courier New" pitchFamily="34" charset="-120"/>
              </a:rPr>
              <a:t>python face_id.py run</a:t>
            </a:r>
            <a:endParaRPr lang="en-US" sz="1500" dirty="0"/>
          </a:p>
        </p:txBody>
      </p:sp>
      <p:sp>
        <p:nvSpPr>
          <p:cNvPr id="11" name="Text 9"/>
          <p:cNvSpPr txBox="1"/>
          <p:nvPr/>
        </p:nvSpPr>
        <p:spPr>
          <a:xfrm>
            <a:off x="6598768" y="2651760"/>
            <a:ext cx="4632808" cy="502920"/>
          </a:xfrm>
          <a:prstGeom prst="rect">
            <a:avLst/>
          </a:prstGeom>
          <a:noFill/>
          <a:ln/>
        </p:spPr>
        <p:txBody>
          <a:bodyPr wrap="square" lIns="0" tIns="0" rIns="0" bIns="0" rtlCol="0" anchor="t"/>
          <a:lstStyle/>
          <a:p>
            <a:pPr indent="0" marL="0">
              <a:buNone/>
            </a:pPr>
            <a:r>
              <a:rPr lang="en-US" sz="2200" b="1" dirty="0">
                <a:solidFill>
                  <a:srgbClr val="0E2340"/>
                </a:solidFill>
                <a:latin typeface="Arial" pitchFamily="34" charset="0"/>
                <a:ea typeface="Arial" pitchFamily="34" charset="-122"/>
                <a:cs typeface="Arial" pitchFamily="34" charset="-120"/>
              </a:rPr>
              <a:t>Recognize — every frame</a:t>
            </a:r>
            <a:endParaRPr lang="en-US" sz="2200" dirty="0"/>
          </a:p>
        </p:txBody>
      </p:sp>
      <p:sp>
        <p:nvSpPr>
          <p:cNvPr id="12" name="Text 10"/>
          <p:cNvSpPr txBox="1"/>
          <p:nvPr/>
        </p:nvSpPr>
        <p:spPr>
          <a:xfrm>
            <a:off x="6598768" y="3291840"/>
            <a:ext cx="4632808" cy="237744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700" dirty="0">
                <a:solidFill>
                  <a:srgbClr val="3D4F63"/>
                </a:solidFill>
                <a:latin typeface="Calibri" pitchFamily="34" charset="0"/>
                <a:ea typeface="Calibri" pitchFamily="34" charset="-122"/>
                <a:cs typeface="Calibri" pitchFamily="34" charset="-120"/>
              </a:rPr>
              <a:t>Detect every face in the frame</a:t>
            </a:r>
            <a:endParaRPr lang="en-US" sz="1700" dirty="0"/>
          </a:p>
          <a:p>
            <a:pPr marL="342900" indent="-342900">
              <a:spcAft>
                <a:spcPts val="800"/>
              </a:spcAft>
              <a:buSzPct val="100000"/>
              <a:buFont typeface="+mj-lt"/>
              <a:buAutoNum type="arabicPeriod" startAt="1"/>
            </a:pPr>
            <a:r>
              <a:rPr lang="en-US" sz="1700" dirty="0">
                <a:solidFill>
                  <a:srgbClr val="3D4F63"/>
                </a:solidFill>
                <a:latin typeface="Calibri" pitchFamily="34" charset="0"/>
                <a:ea typeface="Calibri" pitchFamily="34" charset="-122"/>
                <a:cs typeface="Calibri" pitchFamily="34" charset="-120"/>
              </a:rPr>
              <a:t>Embed each one</a:t>
            </a:r>
            <a:endParaRPr lang="en-US" sz="1700" dirty="0"/>
          </a:p>
          <a:p>
            <a:pPr marL="342900" indent="-342900">
              <a:spcAft>
                <a:spcPts val="800"/>
              </a:spcAft>
              <a:buSzPct val="100000"/>
              <a:buFont typeface="+mj-lt"/>
              <a:buAutoNum type="arabicPeriod" startAt="1"/>
            </a:pPr>
            <a:r>
              <a:rPr lang="en-US" sz="1700" dirty="0">
                <a:solidFill>
                  <a:srgbClr val="3D4F63"/>
                </a:solidFill>
                <a:latin typeface="Calibri" pitchFamily="34" charset="0"/>
                <a:ea typeface="Calibri" pitchFamily="34" charset="-122"/>
                <a:cs typeface="Calibri" pitchFamily="34" charset="-120"/>
              </a:rPr>
              <a:t>Dot it with every vector in faces.npz</a:t>
            </a:r>
            <a:endParaRPr lang="en-US" sz="1700" dirty="0"/>
          </a:p>
          <a:p>
            <a:pPr marL="342900" indent="-342900">
              <a:spcAft>
                <a:spcPts val="800"/>
              </a:spcAft>
              <a:buSzPct val="100000"/>
              <a:buFont typeface="+mj-lt"/>
              <a:buAutoNum type="arabicPeriod" startAt="1"/>
            </a:pPr>
            <a:r>
              <a:rPr lang="en-US" sz="1700" dirty="0">
                <a:solidFill>
                  <a:srgbClr val="3D4F63"/>
                </a:solidFill>
                <a:latin typeface="Calibri" pitchFamily="34" charset="0"/>
                <a:ea typeface="Calibri" pitchFamily="34" charset="-122"/>
                <a:cs typeface="Calibri" pitchFamily="34" charset="-120"/>
              </a:rPr>
              <a:t>Draw box + best name + score</a:t>
            </a:r>
            <a:endParaRPr lang="en-US" sz="1700" dirty="0"/>
          </a:p>
        </p:txBody>
      </p:sp>
      <p:sp>
        <p:nvSpPr>
          <p:cNvPr id="13" name="Text 11"/>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5B6B7C"/>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B34"/>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320040"/>
          </a:xfrm>
          <a:prstGeom prst="rect">
            <a:avLst/>
          </a:prstGeom>
          <a:noFill/>
          <a:ln/>
        </p:spPr>
        <p:txBody>
          <a:bodyPr wrap="square" lIns="0" tIns="0" rIns="0" bIns="0" rtlCol="0" anchor="t"/>
          <a:lstStyle/>
          <a:p>
            <a:pPr indent="0" marL="0">
              <a:buNone/>
            </a:pPr>
            <a:r>
              <a:rPr lang="en-US" sz="1400" spc="200" kern="0" dirty="0">
                <a:solidFill>
                  <a:srgbClr val="16B3A8"/>
                </a:solidFill>
                <a:latin typeface="Courier New" pitchFamily="34" charset="0"/>
                <a:ea typeface="Courier New" pitchFamily="34" charset="-122"/>
                <a:cs typeface="Courier New" pitchFamily="34" charset="-120"/>
              </a:rPr>
              <a:t>ENROLL, ON A REAL PHOTO</a:t>
            </a:r>
            <a:endParaRPr lang="en-US" sz="1400" dirty="0"/>
          </a:p>
        </p:txBody>
      </p:sp>
      <p:sp>
        <p:nvSpPr>
          <p:cNvPr id="3" name="Text 1"/>
          <p:cNvSpPr txBox="1"/>
          <p:nvPr/>
        </p:nvSpPr>
        <p:spPr>
          <a:xfrm>
            <a:off x="640080" y="822960"/>
            <a:ext cx="10911535" cy="640080"/>
          </a:xfrm>
          <a:prstGeom prst="rect">
            <a:avLst/>
          </a:prstGeom>
          <a:noFill/>
          <a:ln/>
        </p:spPr>
        <p:txBody>
          <a:bodyPr wrap="square" lIns="0" tIns="0" rIns="0" bIns="0" rtlCol="0" anchor="ctr"/>
          <a:lstStyle/>
          <a:p>
            <a:pPr indent="0" marL="0">
              <a:buNone/>
            </a:pPr>
            <a:r>
              <a:rPr lang="en-US" sz="3400" b="1" dirty="0">
                <a:solidFill>
                  <a:srgbClr val="EEF4F6"/>
                </a:solidFill>
                <a:latin typeface="Arial" pitchFamily="34" charset="0"/>
                <a:ea typeface="Arial" pitchFamily="34" charset="-122"/>
                <a:cs typeface="Arial" pitchFamily="34" charset="-120"/>
              </a:rPr>
              <a:t>One photo, five steps, one name</a:t>
            </a:r>
            <a:endParaRPr lang="en-US" sz="3400" dirty="0"/>
          </a:p>
        </p:txBody>
      </p:sp>
      <p:pic>
        <p:nvPicPr>
          <p:cNvPr id="4" name="Image 0" descr="Five panels showing how tops3.jpg becomes the enrolled name E.T.: full frame with face box and 5 dots, straightened 112x112 crop, zoomed pixel grid, 512-number fingerprint strip, saved as E.T.">    </p:cNvPr>
          <p:cNvPicPr>
            <a:picLocks noChangeAspect="1"/>
          </p:cNvPicPr>
          <p:nvPr/>
        </p:nvPicPr>
        <p:blipFill>
          <a:blip r:embed="rId1"/>
          <a:stretch>
            <a:fillRect/>
          </a:stretch>
        </p:blipFill>
        <p:spPr>
          <a:xfrm>
            <a:off x="640080" y="1783080"/>
            <a:ext cx="10911535" cy="3079400"/>
          </a:xfrm>
          <a:prstGeom prst="rect">
            <a:avLst/>
          </a:prstGeom>
        </p:spPr>
      </p:pic>
      <p:sp>
        <p:nvSpPr>
          <p:cNvPr id="5" name="Text 2"/>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800" dirty="0">
                <a:solidFill>
                  <a:srgbClr val="BCD0DD"/>
                </a:solidFill>
                <a:latin typeface="Calibri" pitchFamily="34" charset="0"/>
                <a:ea typeface="Calibri" pitchFamily="34" charset="-122"/>
                <a:cs typeface="Calibri" pitchFamily="34" charset="-120"/>
              </a:rPr>
              <a:t>The same pipeline as the videos, run on </a:t>
            </a:r>
            <a:pPr indent="0" marL="0">
              <a:buNone/>
            </a:pPr>
            <a:r>
              <a:rPr lang="en-US" sz="1800" b="1" dirty="0">
                <a:solidFill>
                  <a:srgbClr val="EEF4F6"/>
                </a:solidFill>
                <a:latin typeface="Calibri" pitchFamily="34" charset="0"/>
                <a:ea typeface="Calibri" pitchFamily="34" charset="-122"/>
                <a:cs typeface="Calibri" pitchFamily="34" charset="-120"/>
              </a:rPr>
              <a:t>tops3.jpg</a:t>
            </a:r>
            <a:pPr indent="0" marL="0">
              <a:buNone/>
            </a:pPr>
            <a:r>
              <a:rPr lang="en-US" sz="1800" dirty="0">
                <a:solidFill>
                  <a:srgbClr val="BCD0DD"/>
                </a:solidFill>
                <a:latin typeface="Calibri" pitchFamily="34" charset="0"/>
                <a:ea typeface="Calibri" pitchFamily="34" charset="-122"/>
                <a:cs typeface="Calibri" pitchFamily="34" charset="-120"/>
              </a:rPr>
              <a:t>. Next five slides: one step each.</a:t>
            </a:r>
            <a:endParaRPr lang="en-US" sz="1800" dirty="0"/>
          </a:p>
        </p:txBody>
      </p:sp>
      <p:sp>
        <p:nvSpPr>
          <p:cNvPr id="6" name="Text 3"/>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BCD0DD"/>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7"/>
        </a:solidFill>
      </p:bgPr>
    </p:bg>
    <p:spTree>
      <p:nvGrpSpPr>
        <p:cNvPr id="1" name=""/>
        <p:cNvGrpSpPr/>
        <p:nvPr/>
      </p:nvGrpSpPr>
      <p:grpSpPr>
        <a:xfrm>
          <a:off x="0" y="0"/>
          <a:ext cx="0" cy="0"/>
          <a:chOff x="0" y="0"/>
          <a:chExt cx="0" cy="0"/>
        </a:xfrm>
      </p:grpSpPr>
      <p:sp>
        <p:nvSpPr>
          <p:cNvPr id="2" name="Shape 0"/>
          <p:cNvSpPr/>
          <p:nvPr/>
        </p:nvSpPr>
        <p:spPr>
          <a:xfrm>
            <a:off x="640080" y="457200"/>
            <a:ext cx="850392" cy="365760"/>
          </a:xfrm>
          <a:prstGeom prst="roundRect">
            <a:avLst>
              <a:gd name="adj" fmla="val 50000"/>
            </a:avLst>
          </a:prstGeom>
          <a:solidFill>
            <a:srgbClr val="16B3A8"/>
          </a:solidFill>
          <a:ln w="12700">
            <a:solidFill>
              <a:srgbClr val="16B3A8"/>
            </a:solidFill>
            <a:prstDash val="solid"/>
          </a:ln>
        </p:spPr>
      </p:sp>
      <p:sp>
        <p:nvSpPr>
          <p:cNvPr id="3" name="Text 1"/>
          <p:cNvSpPr txBox="1"/>
          <p:nvPr/>
        </p:nvSpPr>
        <p:spPr>
          <a:xfrm>
            <a:off x="640080" y="457200"/>
            <a:ext cx="850392" cy="365760"/>
          </a:xfrm>
          <a:prstGeom prst="rect">
            <a:avLst/>
          </a:prstGeom>
          <a:noFill/>
          <a:ln/>
        </p:spPr>
        <p:txBody>
          <a:bodyPr wrap="square" lIns="0" tIns="0" rIns="0" bIns="0" rtlCol="0" anchor="ctr"/>
          <a:lstStyle/>
          <a:p>
            <a:pPr algn="ctr" indent="0" marL="0">
              <a:buNone/>
            </a:pPr>
            <a:r>
              <a:rPr lang="en-US" sz="1200" b="1" dirty="0">
                <a:solidFill>
                  <a:srgbClr val="0E2340"/>
                </a:solidFill>
                <a:latin typeface="Calibri" pitchFamily="34" charset="0"/>
                <a:ea typeface="Calibri" pitchFamily="34" charset="-122"/>
                <a:cs typeface="Calibri" pitchFamily="34" charset="-120"/>
              </a:rPr>
              <a:t>1 Find</a:t>
            </a:r>
            <a:endParaRPr lang="en-US" sz="1200" dirty="0"/>
          </a:p>
        </p:txBody>
      </p:sp>
      <p:sp>
        <p:nvSpPr>
          <p:cNvPr id="4" name="Shape 2"/>
          <p:cNvSpPr/>
          <p:nvPr/>
        </p:nvSpPr>
        <p:spPr>
          <a:xfrm>
            <a:off x="1600200" y="457200"/>
            <a:ext cx="1426464" cy="365760"/>
          </a:xfrm>
          <a:prstGeom prst="roundRect">
            <a:avLst>
              <a:gd name="adj" fmla="val 50000"/>
            </a:avLst>
          </a:prstGeom>
          <a:solidFill>
            <a:srgbClr val="E6EEF0"/>
          </a:solidFill>
          <a:ln w="12700">
            <a:solidFill>
              <a:srgbClr val="E6EEF0"/>
            </a:solidFill>
            <a:prstDash val="solid"/>
          </a:ln>
        </p:spPr>
      </p:sp>
      <p:sp>
        <p:nvSpPr>
          <p:cNvPr id="5" name="Text 3"/>
          <p:cNvSpPr txBox="1"/>
          <p:nvPr/>
        </p:nvSpPr>
        <p:spPr>
          <a:xfrm>
            <a:off x="1600200" y="457200"/>
            <a:ext cx="1426464"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2 Straighten</a:t>
            </a:r>
            <a:endParaRPr lang="en-US" sz="1200" dirty="0"/>
          </a:p>
        </p:txBody>
      </p:sp>
      <p:sp>
        <p:nvSpPr>
          <p:cNvPr id="6" name="Shape 4"/>
          <p:cNvSpPr/>
          <p:nvPr/>
        </p:nvSpPr>
        <p:spPr>
          <a:xfrm>
            <a:off x="3136392" y="457200"/>
            <a:ext cx="1042416" cy="365760"/>
          </a:xfrm>
          <a:prstGeom prst="roundRect">
            <a:avLst>
              <a:gd name="adj" fmla="val 50000"/>
            </a:avLst>
          </a:prstGeom>
          <a:solidFill>
            <a:srgbClr val="E6EEF0"/>
          </a:solidFill>
          <a:ln w="12700">
            <a:solidFill>
              <a:srgbClr val="E6EEF0"/>
            </a:solidFill>
            <a:prstDash val="solid"/>
          </a:ln>
        </p:spPr>
      </p:sp>
      <p:sp>
        <p:nvSpPr>
          <p:cNvPr id="7" name="Text 5"/>
          <p:cNvSpPr txBox="1"/>
          <p:nvPr/>
        </p:nvSpPr>
        <p:spPr>
          <a:xfrm>
            <a:off x="3136392" y="457200"/>
            <a:ext cx="1042416"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3 Pixels</a:t>
            </a:r>
            <a:endParaRPr lang="en-US" sz="1200" dirty="0"/>
          </a:p>
        </p:txBody>
      </p:sp>
      <p:sp>
        <p:nvSpPr>
          <p:cNvPr id="8" name="Shape 6"/>
          <p:cNvSpPr/>
          <p:nvPr/>
        </p:nvSpPr>
        <p:spPr>
          <a:xfrm>
            <a:off x="4288536" y="457200"/>
            <a:ext cx="1522476" cy="365760"/>
          </a:xfrm>
          <a:prstGeom prst="roundRect">
            <a:avLst>
              <a:gd name="adj" fmla="val 50000"/>
            </a:avLst>
          </a:prstGeom>
          <a:solidFill>
            <a:srgbClr val="E6EEF0"/>
          </a:solidFill>
          <a:ln w="12700">
            <a:solidFill>
              <a:srgbClr val="E6EEF0"/>
            </a:solidFill>
            <a:prstDash val="solid"/>
          </a:ln>
        </p:spPr>
      </p:sp>
      <p:sp>
        <p:nvSpPr>
          <p:cNvPr id="9" name="Text 7"/>
          <p:cNvSpPr txBox="1"/>
          <p:nvPr/>
        </p:nvSpPr>
        <p:spPr>
          <a:xfrm>
            <a:off x="4288536" y="457200"/>
            <a:ext cx="1522476"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4 Fingerprint</a:t>
            </a:r>
            <a:endParaRPr lang="en-US" sz="1200" dirty="0"/>
          </a:p>
        </p:txBody>
      </p:sp>
      <p:sp>
        <p:nvSpPr>
          <p:cNvPr id="10" name="Shape 8"/>
          <p:cNvSpPr/>
          <p:nvPr/>
        </p:nvSpPr>
        <p:spPr>
          <a:xfrm>
            <a:off x="5920740" y="457200"/>
            <a:ext cx="850392" cy="365760"/>
          </a:xfrm>
          <a:prstGeom prst="roundRect">
            <a:avLst>
              <a:gd name="adj" fmla="val 50000"/>
            </a:avLst>
          </a:prstGeom>
          <a:solidFill>
            <a:srgbClr val="E6EEF0"/>
          </a:solidFill>
          <a:ln w="12700">
            <a:solidFill>
              <a:srgbClr val="E6EEF0"/>
            </a:solidFill>
            <a:prstDash val="solid"/>
          </a:ln>
        </p:spPr>
      </p:sp>
      <p:sp>
        <p:nvSpPr>
          <p:cNvPr id="11" name="Text 9"/>
          <p:cNvSpPr txBox="1"/>
          <p:nvPr/>
        </p:nvSpPr>
        <p:spPr>
          <a:xfrm>
            <a:off x="5920740" y="457200"/>
            <a:ext cx="850392"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5 Save</a:t>
            </a:r>
            <a:endParaRPr lang="en-US" sz="1200" dirty="0"/>
          </a:p>
        </p:txBody>
      </p:sp>
      <p:sp>
        <p:nvSpPr>
          <p:cNvPr id="12" name="Text 10"/>
          <p:cNvSpPr txBox="1"/>
          <p:nvPr/>
        </p:nvSpPr>
        <p:spPr>
          <a:xfrm>
            <a:off x="640080" y="960120"/>
            <a:ext cx="10911535" cy="640080"/>
          </a:xfrm>
          <a:prstGeom prst="rect">
            <a:avLst/>
          </a:prstGeom>
          <a:noFill/>
          <a:ln/>
        </p:spPr>
        <p:txBody>
          <a:bodyPr wrap="square" lIns="0" tIns="0" rIns="0" bIns="0" rtlCol="0" anchor="ctr"/>
          <a:lstStyle/>
          <a:p>
            <a:pPr indent="0" marL="0">
              <a:buNone/>
            </a:pPr>
            <a:r>
              <a:rPr lang="en-US" sz="3200" b="1" dirty="0">
                <a:solidFill>
                  <a:srgbClr val="0E2340"/>
                </a:solidFill>
                <a:latin typeface="Arial" pitchFamily="34" charset="0"/>
                <a:ea typeface="Arial" pitchFamily="34" charset="-122"/>
                <a:cs typeface="Arial" pitchFamily="34" charset="-120"/>
              </a:rPr>
              <a:t>Step 1 · Find the face and its 5 points</a:t>
            </a:r>
            <a:endParaRPr lang="en-US" sz="3200" dirty="0"/>
          </a:p>
        </p:txBody>
      </p:sp>
      <p:sp>
        <p:nvSpPr>
          <p:cNvPr id="13" name="Shape 11"/>
          <p:cNvSpPr/>
          <p:nvPr/>
        </p:nvSpPr>
        <p:spPr>
          <a:xfrm>
            <a:off x="640080" y="1783080"/>
            <a:ext cx="4206240" cy="4206240"/>
          </a:xfrm>
          <a:prstGeom prst="roundRect">
            <a:avLst>
              <a:gd name="adj" fmla="val 2174"/>
            </a:avLst>
          </a:prstGeom>
          <a:solidFill>
            <a:srgbClr val="0D1B34"/>
          </a:solidFill>
          <a:ln w="12700">
            <a:solidFill>
              <a:srgbClr val="0D1B34"/>
            </a:solidFill>
            <a:prstDash val="solid"/>
          </a:ln>
        </p:spPr>
      </p:sp>
      <p:pic>
        <p:nvPicPr>
          <p:cNvPr id="14" name="Image 0" descr="The full 345 by 287 photo with a green box around the face and five gold dots">    </p:cNvPr>
          <p:cNvPicPr>
            <a:picLocks noChangeAspect="1"/>
          </p:cNvPicPr>
          <p:nvPr/>
        </p:nvPicPr>
        <p:blipFill>
          <a:blip r:embed="rId1"/>
          <a:srcRect l="0" r="0" t="0" b="0"/>
          <a:stretch/>
        </p:blipFill>
        <p:spPr>
          <a:xfrm>
            <a:off x="640080" y="1783080"/>
            <a:ext cx="4206240" cy="4206240"/>
          </a:xfrm>
          <a:prstGeom prst="rect">
            <a:avLst/>
          </a:prstGeom>
        </p:spPr>
      </p:pic>
      <p:sp>
        <p:nvSpPr>
          <p:cNvPr id="15" name="Text 12"/>
          <p:cNvSpPr txBox="1"/>
          <p:nvPr/>
        </p:nvSpPr>
        <p:spPr>
          <a:xfrm>
            <a:off x="5257800" y="1828800"/>
            <a:ext cx="6263640" cy="41148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The whole photo goes in</a:t>
            </a:r>
            <a:endParaRPr lang="en-US" sz="2000" dirty="0"/>
          </a:p>
        </p:txBody>
      </p:sp>
      <p:sp>
        <p:nvSpPr>
          <p:cNvPr id="16" name="Text 13"/>
          <p:cNvSpPr txBox="1"/>
          <p:nvPr/>
        </p:nvSpPr>
        <p:spPr>
          <a:xfrm>
            <a:off x="5257800" y="2286000"/>
            <a:ext cx="6263640" cy="86868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345 × 287 pixels, room and suit included. Any size works. The green box is where the SCRFD detector found a face.</a:t>
            </a:r>
            <a:endParaRPr lang="en-US" sz="1600" dirty="0"/>
          </a:p>
        </p:txBody>
      </p:sp>
      <p:sp>
        <p:nvSpPr>
          <p:cNvPr id="17" name="Text 14"/>
          <p:cNvSpPr txBox="1"/>
          <p:nvPr/>
        </p:nvSpPr>
        <p:spPr>
          <a:xfrm>
            <a:off x="5257800" y="3246120"/>
            <a:ext cx="6263640" cy="41148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Confidence 0.88</a:t>
            </a:r>
            <a:endParaRPr lang="en-US" sz="2000" dirty="0"/>
          </a:p>
        </p:txBody>
      </p:sp>
      <p:sp>
        <p:nvSpPr>
          <p:cNvPr id="18" name="Text 15"/>
          <p:cNvSpPr txBox="1"/>
          <p:nvPr/>
        </p:nvSpPr>
        <p:spPr>
          <a:xfrm>
            <a:off x="5257800" y="3703320"/>
            <a:ext cx="6263640" cy="86868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How sure the detector is that the box holds a face. It says nothing yet about whose face.</a:t>
            </a:r>
            <a:endParaRPr lang="en-US" sz="1600" dirty="0"/>
          </a:p>
        </p:txBody>
      </p:sp>
      <p:sp>
        <p:nvSpPr>
          <p:cNvPr id="19" name="Text 16"/>
          <p:cNvSpPr txBox="1"/>
          <p:nvPr/>
        </p:nvSpPr>
        <p:spPr>
          <a:xfrm>
            <a:off x="5257800" y="4663440"/>
            <a:ext cx="6263640" cy="41148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The 5 gold dots</a:t>
            </a:r>
            <a:endParaRPr lang="en-US" sz="2000" dirty="0"/>
          </a:p>
        </p:txBody>
      </p:sp>
      <p:sp>
        <p:nvSpPr>
          <p:cNvPr id="20" name="Text 17"/>
          <p:cNvSpPr txBox="1"/>
          <p:nvPr/>
        </p:nvSpPr>
        <p:spPr>
          <a:xfrm>
            <a:off x="5257800" y="5120640"/>
            <a:ext cx="6263640" cy="86868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Two eye centers, the nose tip, two mouth corners. They are the handles step 2 uses to straighten the face.</a:t>
            </a:r>
            <a:endParaRPr lang="en-US" sz="1600" dirty="0"/>
          </a:p>
        </p:txBody>
      </p:sp>
      <p:sp>
        <p:nvSpPr>
          <p:cNvPr id="21" name="Text 18"/>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5B6B7C"/>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6F7"/>
        </a:solidFill>
      </p:bgPr>
    </p:bg>
    <p:spTree>
      <p:nvGrpSpPr>
        <p:cNvPr id="1" name=""/>
        <p:cNvGrpSpPr/>
        <p:nvPr/>
      </p:nvGrpSpPr>
      <p:grpSpPr>
        <a:xfrm>
          <a:off x="0" y="0"/>
          <a:ext cx="0" cy="0"/>
          <a:chOff x="0" y="0"/>
          <a:chExt cx="0" cy="0"/>
        </a:xfrm>
      </p:grpSpPr>
      <p:sp>
        <p:nvSpPr>
          <p:cNvPr id="2" name="Shape 0"/>
          <p:cNvSpPr/>
          <p:nvPr/>
        </p:nvSpPr>
        <p:spPr>
          <a:xfrm>
            <a:off x="640080" y="457200"/>
            <a:ext cx="850392" cy="365760"/>
          </a:xfrm>
          <a:prstGeom prst="roundRect">
            <a:avLst>
              <a:gd name="adj" fmla="val 50000"/>
            </a:avLst>
          </a:prstGeom>
          <a:solidFill>
            <a:srgbClr val="E6EEF0"/>
          </a:solidFill>
          <a:ln w="12700">
            <a:solidFill>
              <a:srgbClr val="E6EEF0"/>
            </a:solidFill>
            <a:prstDash val="solid"/>
          </a:ln>
        </p:spPr>
      </p:sp>
      <p:sp>
        <p:nvSpPr>
          <p:cNvPr id="3" name="Text 1"/>
          <p:cNvSpPr txBox="1"/>
          <p:nvPr/>
        </p:nvSpPr>
        <p:spPr>
          <a:xfrm>
            <a:off x="640080" y="457200"/>
            <a:ext cx="850392"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1 Find</a:t>
            </a:r>
            <a:endParaRPr lang="en-US" sz="1200" dirty="0"/>
          </a:p>
        </p:txBody>
      </p:sp>
      <p:sp>
        <p:nvSpPr>
          <p:cNvPr id="4" name="Shape 2"/>
          <p:cNvSpPr/>
          <p:nvPr/>
        </p:nvSpPr>
        <p:spPr>
          <a:xfrm>
            <a:off x="1600200" y="457200"/>
            <a:ext cx="1426464" cy="365760"/>
          </a:xfrm>
          <a:prstGeom prst="roundRect">
            <a:avLst>
              <a:gd name="adj" fmla="val 50000"/>
            </a:avLst>
          </a:prstGeom>
          <a:solidFill>
            <a:srgbClr val="16B3A8"/>
          </a:solidFill>
          <a:ln w="12700">
            <a:solidFill>
              <a:srgbClr val="16B3A8"/>
            </a:solidFill>
            <a:prstDash val="solid"/>
          </a:ln>
        </p:spPr>
      </p:sp>
      <p:sp>
        <p:nvSpPr>
          <p:cNvPr id="5" name="Text 3"/>
          <p:cNvSpPr txBox="1"/>
          <p:nvPr/>
        </p:nvSpPr>
        <p:spPr>
          <a:xfrm>
            <a:off x="1600200" y="457200"/>
            <a:ext cx="1426464" cy="365760"/>
          </a:xfrm>
          <a:prstGeom prst="rect">
            <a:avLst/>
          </a:prstGeom>
          <a:noFill/>
          <a:ln/>
        </p:spPr>
        <p:txBody>
          <a:bodyPr wrap="square" lIns="0" tIns="0" rIns="0" bIns="0" rtlCol="0" anchor="ctr"/>
          <a:lstStyle/>
          <a:p>
            <a:pPr algn="ctr" indent="0" marL="0">
              <a:buNone/>
            </a:pPr>
            <a:r>
              <a:rPr lang="en-US" sz="1200" b="1" dirty="0">
                <a:solidFill>
                  <a:srgbClr val="0E2340"/>
                </a:solidFill>
                <a:latin typeface="Calibri" pitchFamily="34" charset="0"/>
                <a:ea typeface="Calibri" pitchFamily="34" charset="-122"/>
                <a:cs typeface="Calibri" pitchFamily="34" charset="-120"/>
              </a:rPr>
              <a:t>2 Straighten</a:t>
            </a:r>
            <a:endParaRPr lang="en-US" sz="1200" dirty="0"/>
          </a:p>
        </p:txBody>
      </p:sp>
      <p:sp>
        <p:nvSpPr>
          <p:cNvPr id="6" name="Shape 4"/>
          <p:cNvSpPr/>
          <p:nvPr/>
        </p:nvSpPr>
        <p:spPr>
          <a:xfrm>
            <a:off x="3136392" y="457200"/>
            <a:ext cx="1042416" cy="365760"/>
          </a:xfrm>
          <a:prstGeom prst="roundRect">
            <a:avLst>
              <a:gd name="adj" fmla="val 50000"/>
            </a:avLst>
          </a:prstGeom>
          <a:solidFill>
            <a:srgbClr val="E6EEF0"/>
          </a:solidFill>
          <a:ln w="12700">
            <a:solidFill>
              <a:srgbClr val="E6EEF0"/>
            </a:solidFill>
            <a:prstDash val="solid"/>
          </a:ln>
        </p:spPr>
      </p:sp>
      <p:sp>
        <p:nvSpPr>
          <p:cNvPr id="7" name="Text 5"/>
          <p:cNvSpPr txBox="1"/>
          <p:nvPr/>
        </p:nvSpPr>
        <p:spPr>
          <a:xfrm>
            <a:off x="3136392" y="457200"/>
            <a:ext cx="1042416"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3 Pixels</a:t>
            </a:r>
            <a:endParaRPr lang="en-US" sz="1200" dirty="0"/>
          </a:p>
        </p:txBody>
      </p:sp>
      <p:sp>
        <p:nvSpPr>
          <p:cNvPr id="8" name="Shape 6"/>
          <p:cNvSpPr/>
          <p:nvPr/>
        </p:nvSpPr>
        <p:spPr>
          <a:xfrm>
            <a:off x="4288536" y="457200"/>
            <a:ext cx="1522476" cy="365760"/>
          </a:xfrm>
          <a:prstGeom prst="roundRect">
            <a:avLst>
              <a:gd name="adj" fmla="val 50000"/>
            </a:avLst>
          </a:prstGeom>
          <a:solidFill>
            <a:srgbClr val="E6EEF0"/>
          </a:solidFill>
          <a:ln w="12700">
            <a:solidFill>
              <a:srgbClr val="E6EEF0"/>
            </a:solidFill>
            <a:prstDash val="solid"/>
          </a:ln>
        </p:spPr>
      </p:sp>
      <p:sp>
        <p:nvSpPr>
          <p:cNvPr id="9" name="Text 7"/>
          <p:cNvSpPr txBox="1"/>
          <p:nvPr/>
        </p:nvSpPr>
        <p:spPr>
          <a:xfrm>
            <a:off x="4288536" y="457200"/>
            <a:ext cx="1522476"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4 Fingerprint</a:t>
            </a:r>
            <a:endParaRPr lang="en-US" sz="1200" dirty="0"/>
          </a:p>
        </p:txBody>
      </p:sp>
      <p:sp>
        <p:nvSpPr>
          <p:cNvPr id="10" name="Shape 8"/>
          <p:cNvSpPr/>
          <p:nvPr/>
        </p:nvSpPr>
        <p:spPr>
          <a:xfrm>
            <a:off x="5920740" y="457200"/>
            <a:ext cx="850392" cy="365760"/>
          </a:xfrm>
          <a:prstGeom prst="roundRect">
            <a:avLst>
              <a:gd name="adj" fmla="val 50000"/>
            </a:avLst>
          </a:prstGeom>
          <a:solidFill>
            <a:srgbClr val="E6EEF0"/>
          </a:solidFill>
          <a:ln w="12700">
            <a:solidFill>
              <a:srgbClr val="E6EEF0"/>
            </a:solidFill>
            <a:prstDash val="solid"/>
          </a:ln>
        </p:spPr>
      </p:sp>
      <p:sp>
        <p:nvSpPr>
          <p:cNvPr id="11" name="Text 9"/>
          <p:cNvSpPr txBox="1"/>
          <p:nvPr/>
        </p:nvSpPr>
        <p:spPr>
          <a:xfrm>
            <a:off x="5920740" y="457200"/>
            <a:ext cx="850392"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5 Save</a:t>
            </a:r>
            <a:endParaRPr lang="en-US" sz="1200" dirty="0"/>
          </a:p>
        </p:txBody>
      </p:sp>
      <p:sp>
        <p:nvSpPr>
          <p:cNvPr id="12" name="Text 10"/>
          <p:cNvSpPr txBox="1"/>
          <p:nvPr/>
        </p:nvSpPr>
        <p:spPr>
          <a:xfrm>
            <a:off x="640080" y="960120"/>
            <a:ext cx="10911535" cy="640080"/>
          </a:xfrm>
          <a:prstGeom prst="rect">
            <a:avLst/>
          </a:prstGeom>
          <a:noFill/>
          <a:ln/>
        </p:spPr>
        <p:txBody>
          <a:bodyPr wrap="square" lIns="0" tIns="0" rIns="0" bIns="0" rtlCol="0" anchor="ctr"/>
          <a:lstStyle/>
          <a:p>
            <a:pPr indent="0" marL="0">
              <a:buNone/>
            </a:pPr>
            <a:r>
              <a:rPr lang="en-US" sz="3200" b="1" dirty="0">
                <a:solidFill>
                  <a:srgbClr val="0E2340"/>
                </a:solidFill>
                <a:latin typeface="Arial" pitchFamily="34" charset="0"/>
                <a:ea typeface="Arial" pitchFamily="34" charset="-122"/>
                <a:cs typeface="Arial" pitchFamily="34" charset="-120"/>
              </a:rPr>
              <a:t>Step 2 · Straighten and crop to 112×112</a:t>
            </a:r>
            <a:endParaRPr lang="en-US" sz="3200" dirty="0"/>
          </a:p>
        </p:txBody>
      </p:sp>
      <p:sp>
        <p:nvSpPr>
          <p:cNvPr id="13" name="Shape 11"/>
          <p:cNvSpPr/>
          <p:nvPr/>
        </p:nvSpPr>
        <p:spPr>
          <a:xfrm>
            <a:off x="640080" y="1783080"/>
            <a:ext cx="4206240" cy="4206240"/>
          </a:xfrm>
          <a:prstGeom prst="roundRect">
            <a:avLst>
              <a:gd name="adj" fmla="val 2174"/>
            </a:avLst>
          </a:prstGeom>
          <a:solidFill>
            <a:srgbClr val="0D1B34"/>
          </a:solidFill>
          <a:ln w="12700">
            <a:solidFill>
              <a:srgbClr val="0D1B34"/>
            </a:solidFill>
            <a:prstDash val="solid"/>
          </a:ln>
        </p:spPr>
      </p:sp>
      <p:pic>
        <p:nvPicPr>
          <p:cNvPr id="14" name="Image 0" descr="The straightened 112 by 112 face crop with gold dots and a teal square around one eye">    </p:cNvPr>
          <p:cNvPicPr>
            <a:picLocks noChangeAspect="1"/>
          </p:cNvPicPr>
          <p:nvPr/>
        </p:nvPicPr>
        <p:blipFill>
          <a:blip r:embed="rId1"/>
          <a:srcRect l="0" r="0" t="0" b="0"/>
          <a:stretch/>
        </p:blipFill>
        <p:spPr>
          <a:xfrm>
            <a:off x="640080" y="1783080"/>
            <a:ext cx="4206240" cy="4206240"/>
          </a:xfrm>
          <a:prstGeom prst="rect">
            <a:avLst/>
          </a:prstGeom>
        </p:spPr>
      </p:pic>
      <p:sp>
        <p:nvSpPr>
          <p:cNvPr id="15" name="Text 12"/>
          <p:cNvSpPr txBox="1"/>
          <p:nvPr/>
        </p:nvSpPr>
        <p:spPr>
          <a:xfrm>
            <a:off x="5257800" y="1828800"/>
            <a:ext cx="6263640" cy="41148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Warp</a:t>
            </a:r>
            <a:endParaRPr lang="en-US" sz="2000" dirty="0"/>
          </a:p>
        </p:txBody>
      </p:sp>
      <p:sp>
        <p:nvSpPr>
          <p:cNvPr id="16" name="Text 13"/>
          <p:cNvSpPr txBox="1"/>
          <p:nvPr/>
        </p:nvSpPr>
        <p:spPr>
          <a:xfrm>
            <a:off x="5257800" y="2286000"/>
            <a:ext cx="6263640" cy="86868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Rotate, scale and shift the photo until the 5 dots land on the same 5 pixel spots used for every face.</a:t>
            </a:r>
            <a:endParaRPr lang="en-US" sz="1600" dirty="0"/>
          </a:p>
        </p:txBody>
      </p:sp>
      <p:sp>
        <p:nvSpPr>
          <p:cNvPr id="17" name="Text 14"/>
          <p:cNvSpPr txBox="1"/>
          <p:nvPr/>
        </p:nvSpPr>
        <p:spPr>
          <a:xfrm>
            <a:off x="5257800" y="3246120"/>
            <a:ext cx="6263640" cy="41148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Cut</a:t>
            </a:r>
            <a:endParaRPr lang="en-US" sz="2000" dirty="0"/>
          </a:p>
        </p:txBody>
      </p:sp>
      <p:sp>
        <p:nvSpPr>
          <p:cNvPr id="18" name="Text 15"/>
          <p:cNvSpPr txBox="1"/>
          <p:nvPr/>
        </p:nvSpPr>
        <p:spPr>
          <a:xfrm>
            <a:off x="5257800" y="3703320"/>
            <a:ext cx="6263640" cy="86868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Keep one 112 × 112 square. The wall, the chair and the suit are gone; only face pixels remain.</a:t>
            </a:r>
            <a:endParaRPr lang="en-US" sz="1600" dirty="0"/>
          </a:p>
        </p:txBody>
      </p:sp>
      <p:sp>
        <p:nvSpPr>
          <p:cNvPr id="19" name="Text 16"/>
          <p:cNvSpPr txBox="1"/>
          <p:nvPr/>
        </p:nvSpPr>
        <p:spPr>
          <a:xfrm>
            <a:off x="5257800" y="4663440"/>
            <a:ext cx="6263640" cy="41148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The “× 3”</a:t>
            </a:r>
            <a:endParaRPr lang="en-US" sz="2000" dirty="0"/>
          </a:p>
        </p:txBody>
      </p:sp>
      <p:sp>
        <p:nvSpPr>
          <p:cNvPr id="20" name="Text 17"/>
          <p:cNvSpPr txBox="1"/>
          <p:nvPr/>
        </p:nvSpPr>
        <p:spPr>
          <a:xfrm>
            <a:off x="5257800" y="5120640"/>
            <a:ext cx="6263640" cy="86868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Each pixel has 3 values: red, green, blue. The teal square marks the eye patch we zoom into next.</a:t>
            </a:r>
            <a:endParaRPr lang="en-US" sz="1600" dirty="0"/>
          </a:p>
        </p:txBody>
      </p:sp>
      <p:sp>
        <p:nvSpPr>
          <p:cNvPr id="21" name="Text 18"/>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5B6B7C"/>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6F7"/>
        </a:solidFill>
      </p:bgPr>
    </p:bg>
    <p:spTree>
      <p:nvGrpSpPr>
        <p:cNvPr id="1" name=""/>
        <p:cNvGrpSpPr/>
        <p:nvPr/>
      </p:nvGrpSpPr>
      <p:grpSpPr>
        <a:xfrm>
          <a:off x="0" y="0"/>
          <a:ext cx="0" cy="0"/>
          <a:chOff x="0" y="0"/>
          <a:chExt cx="0" cy="0"/>
        </a:xfrm>
      </p:grpSpPr>
      <p:sp>
        <p:nvSpPr>
          <p:cNvPr id="2" name="Shape 0"/>
          <p:cNvSpPr/>
          <p:nvPr/>
        </p:nvSpPr>
        <p:spPr>
          <a:xfrm>
            <a:off x="640080" y="457200"/>
            <a:ext cx="850392" cy="365760"/>
          </a:xfrm>
          <a:prstGeom prst="roundRect">
            <a:avLst>
              <a:gd name="adj" fmla="val 50000"/>
            </a:avLst>
          </a:prstGeom>
          <a:solidFill>
            <a:srgbClr val="E6EEF0"/>
          </a:solidFill>
          <a:ln w="12700">
            <a:solidFill>
              <a:srgbClr val="E6EEF0"/>
            </a:solidFill>
            <a:prstDash val="solid"/>
          </a:ln>
        </p:spPr>
      </p:sp>
      <p:sp>
        <p:nvSpPr>
          <p:cNvPr id="3" name="Text 1"/>
          <p:cNvSpPr txBox="1"/>
          <p:nvPr/>
        </p:nvSpPr>
        <p:spPr>
          <a:xfrm>
            <a:off x="640080" y="457200"/>
            <a:ext cx="850392"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1 Find</a:t>
            </a:r>
            <a:endParaRPr lang="en-US" sz="1200" dirty="0"/>
          </a:p>
        </p:txBody>
      </p:sp>
      <p:sp>
        <p:nvSpPr>
          <p:cNvPr id="4" name="Shape 2"/>
          <p:cNvSpPr/>
          <p:nvPr/>
        </p:nvSpPr>
        <p:spPr>
          <a:xfrm>
            <a:off x="1600200" y="457200"/>
            <a:ext cx="1426464" cy="365760"/>
          </a:xfrm>
          <a:prstGeom prst="roundRect">
            <a:avLst>
              <a:gd name="adj" fmla="val 50000"/>
            </a:avLst>
          </a:prstGeom>
          <a:solidFill>
            <a:srgbClr val="E6EEF0"/>
          </a:solidFill>
          <a:ln w="12700">
            <a:solidFill>
              <a:srgbClr val="E6EEF0"/>
            </a:solidFill>
            <a:prstDash val="solid"/>
          </a:ln>
        </p:spPr>
      </p:sp>
      <p:sp>
        <p:nvSpPr>
          <p:cNvPr id="5" name="Text 3"/>
          <p:cNvSpPr txBox="1"/>
          <p:nvPr/>
        </p:nvSpPr>
        <p:spPr>
          <a:xfrm>
            <a:off x="1600200" y="457200"/>
            <a:ext cx="1426464"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2 Straighten</a:t>
            </a:r>
            <a:endParaRPr lang="en-US" sz="1200" dirty="0"/>
          </a:p>
        </p:txBody>
      </p:sp>
      <p:sp>
        <p:nvSpPr>
          <p:cNvPr id="6" name="Shape 4"/>
          <p:cNvSpPr/>
          <p:nvPr/>
        </p:nvSpPr>
        <p:spPr>
          <a:xfrm>
            <a:off x="3136392" y="457200"/>
            <a:ext cx="1042416" cy="365760"/>
          </a:xfrm>
          <a:prstGeom prst="roundRect">
            <a:avLst>
              <a:gd name="adj" fmla="val 50000"/>
            </a:avLst>
          </a:prstGeom>
          <a:solidFill>
            <a:srgbClr val="16B3A8"/>
          </a:solidFill>
          <a:ln w="12700">
            <a:solidFill>
              <a:srgbClr val="16B3A8"/>
            </a:solidFill>
            <a:prstDash val="solid"/>
          </a:ln>
        </p:spPr>
      </p:sp>
      <p:sp>
        <p:nvSpPr>
          <p:cNvPr id="7" name="Text 5"/>
          <p:cNvSpPr txBox="1"/>
          <p:nvPr/>
        </p:nvSpPr>
        <p:spPr>
          <a:xfrm>
            <a:off x="3136392" y="457200"/>
            <a:ext cx="1042416" cy="365760"/>
          </a:xfrm>
          <a:prstGeom prst="rect">
            <a:avLst/>
          </a:prstGeom>
          <a:noFill/>
          <a:ln/>
        </p:spPr>
        <p:txBody>
          <a:bodyPr wrap="square" lIns="0" tIns="0" rIns="0" bIns="0" rtlCol="0" anchor="ctr"/>
          <a:lstStyle/>
          <a:p>
            <a:pPr algn="ctr" indent="0" marL="0">
              <a:buNone/>
            </a:pPr>
            <a:r>
              <a:rPr lang="en-US" sz="1200" b="1" dirty="0">
                <a:solidFill>
                  <a:srgbClr val="0E2340"/>
                </a:solidFill>
                <a:latin typeface="Calibri" pitchFamily="34" charset="0"/>
                <a:ea typeface="Calibri" pitchFamily="34" charset="-122"/>
                <a:cs typeface="Calibri" pitchFamily="34" charset="-120"/>
              </a:rPr>
              <a:t>3 Pixels</a:t>
            </a:r>
            <a:endParaRPr lang="en-US" sz="1200" dirty="0"/>
          </a:p>
        </p:txBody>
      </p:sp>
      <p:sp>
        <p:nvSpPr>
          <p:cNvPr id="8" name="Shape 6"/>
          <p:cNvSpPr/>
          <p:nvPr/>
        </p:nvSpPr>
        <p:spPr>
          <a:xfrm>
            <a:off x="4288536" y="457200"/>
            <a:ext cx="1522476" cy="365760"/>
          </a:xfrm>
          <a:prstGeom prst="roundRect">
            <a:avLst>
              <a:gd name="adj" fmla="val 50000"/>
            </a:avLst>
          </a:prstGeom>
          <a:solidFill>
            <a:srgbClr val="E6EEF0"/>
          </a:solidFill>
          <a:ln w="12700">
            <a:solidFill>
              <a:srgbClr val="E6EEF0"/>
            </a:solidFill>
            <a:prstDash val="solid"/>
          </a:ln>
        </p:spPr>
      </p:sp>
      <p:sp>
        <p:nvSpPr>
          <p:cNvPr id="9" name="Text 7"/>
          <p:cNvSpPr txBox="1"/>
          <p:nvPr/>
        </p:nvSpPr>
        <p:spPr>
          <a:xfrm>
            <a:off x="4288536" y="457200"/>
            <a:ext cx="1522476"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4 Fingerprint</a:t>
            </a:r>
            <a:endParaRPr lang="en-US" sz="1200" dirty="0"/>
          </a:p>
        </p:txBody>
      </p:sp>
      <p:sp>
        <p:nvSpPr>
          <p:cNvPr id="10" name="Shape 8"/>
          <p:cNvSpPr/>
          <p:nvPr/>
        </p:nvSpPr>
        <p:spPr>
          <a:xfrm>
            <a:off x="5920740" y="457200"/>
            <a:ext cx="850392" cy="365760"/>
          </a:xfrm>
          <a:prstGeom prst="roundRect">
            <a:avLst>
              <a:gd name="adj" fmla="val 50000"/>
            </a:avLst>
          </a:prstGeom>
          <a:solidFill>
            <a:srgbClr val="E6EEF0"/>
          </a:solidFill>
          <a:ln w="12700">
            <a:solidFill>
              <a:srgbClr val="E6EEF0"/>
            </a:solidFill>
            <a:prstDash val="solid"/>
          </a:ln>
        </p:spPr>
      </p:sp>
      <p:sp>
        <p:nvSpPr>
          <p:cNvPr id="11" name="Text 9"/>
          <p:cNvSpPr txBox="1"/>
          <p:nvPr/>
        </p:nvSpPr>
        <p:spPr>
          <a:xfrm>
            <a:off x="5920740" y="457200"/>
            <a:ext cx="850392"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5 Save</a:t>
            </a:r>
            <a:endParaRPr lang="en-US" sz="1200" dirty="0"/>
          </a:p>
        </p:txBody>
      </p:sp>
      <p:sp>
        <p:nvSpPr>
          <p:cNvPr id="12" name="Text 10"/>
          <p:cNvSpPr txBox="1"/>
          <p:nvPr/>
        </p:nvSpPr>
        <p:spPr>
          <a:xfrm>
            <a:off x="640080" y="960120"/>
            <a:ext cx="10911535" cy="640080"/>
          </a:xfrm>
          <a:prstGeom prst="rect">
            <a:avLst/>
          </a:prstGeom>
          <a:noFill/>
          <a:ln/>
        </p:spPr>
        <p:txBody>
          <a:bodyPr wrap="square" lIns="0" tIns="0" rIns="0" bIns="0" rtlCol="0" anchor="ctr"/>
          <a:lstStyle/>
          <a:p>
            <a:pPr indent="0" marL="0">
              <a:buNone/>
            </a:pPr>
            <a:r>
              <a:rPr lang="en-US" sz="3200" b="1" dirty="0">
                <a:solidFill>
                  <a:srgbClr val="0E2340"/>
                </a:solidFill>
                <a:latin typeface="Arial" pitchFamily="34" charset="0"/>
                <a:ea typeface="Arial" pitchFamily="34" charset="-122"/>
                <a:cs typeface="Arial" pitchFamily="34" charset="-120"/>
              </a:rPr>
              <a:t>Step 3 · The network only sees numbers</a:t>
            </a:r>
            <a:endParaRPr lang="en-US" sz="3200" dirty="0"/>
          </a:p>
        </p:txBody>
      </p:sp>
      <p:sp>
        <p:nvSpPr>
          <p:cNvPr id="13" name="Shape 11"/>
          <p:cNvSpPr/>
          <p:nvPr/>
        </p:nvSpPr>
        <p:spPr>
          <a:xfrm>
            <a:off x="640080" y="1783080"/>
            <a:ext cx="4206240" cy="4206240"/>
          </a:xfrm>
          <a:prstGeom prst="roundRect">
            <a:avLst>
              <a:gd name="adj" fmla="val 2174"/>
            </a:avLst>
          </a:prstGeom>
          <a:solidFill>
            <a:srgbClr val="0D1B34"/>
          </a:solidFill>
          <a:ln w="12700">
            <a:solidFill>
              <a:srgbClr val="0D1B34"/>
            </a:solidFill>
            <a:prstDash val="solid"/>
          </a:ln>
        </p:spPr>
      </p:sp>
      <p:pic>
        <p:nvPicPr>
          <p:cNvPr id="14" name="Image 0" descr="A zoomed grid of brown pixels around the eye, one cell outlined in gold">    </p:cNvPr>
          <p:cNvPicPr>
            <a:picLocks noChangeAspect="1"/>
          </p:cNvPicPr>
          <p:nvPr/>
        </p:nvPicPr>
        <p:blipFill>
          <a:blip r:embed="rId1"/>
          <a:srcRect l="0" r="0" t="0" b="0"/>
          <a:stretch/>
        </p:blipFill>
        <p:spPr>
          <a:xfrm>
            <a:off x="640080" y="1783080"/>
            <a:ext cx="4206240" cy="4206240"/>
          </a:xfrm>
          <a:prstGeom prst="rect">
            <a:avLst/>
          </a:prstGeom>
        </p:spPr>
      </p:pic>
      <p:sp>
        <p:nvSpPr>
          <p:cNvPr id="15" name="Text 12"/>
          <p:cNvSpPr txBox="1"/>
          <p:nvPr/>
        </p:nvSpPr>
        <p:spPr>
          <a:xfrm>
            <a:off x="5257800" y="1828800"/>
            <a:ext cx="6263640" cy="41148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Zoomed in</a:t>
            </a:r>
            <a:endParaRPr lang="en-US" sz="2000" dirty="0"/>
          </a:p>
        </p:txBody>
      </p:sp>
      <p:sp>
        <p:nvSpPr>
          <p:cNvPr id="16" name="Text 13"/>
          <p:cNvSpPr txBox="1"/>
          <p:nvPr/>
        </p:nvSpPr>
        <p:spPr>
          <a:xfrm>
            <a:off x="5257800" y="2286000"/>
            <a:ext cx="6263640" cy="86868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This is the eye patch from step 2. Every square cell is one pixel.</a:t>
            </a:r>
            <a:endParaRPr lang="en-US" sz="1600" dirty="0"/>
          </a:p>
        </p:txBody>
      </p:sp>
      <p:sp>
        <p:nvSpPr>
          <p:cNvPr id="17" name="Text 14"/>
          <p:cNvSpPr txBox="1"/>
          <p:nvPr/>
        </p:nvSpPr>
        <p:spPr>
          <a:xfrm>
            <a:off x="5257800" y="3246120"/>
            <a:ext cx="6263640" cy="41148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The gold cell: R 54 · G 28 · B 12</a:t>
            </a:r>
            <a:endParaRPr lang="en-US" sz="2000" dirty="0"/>
          </a:p>
        </p:txBody>
      </p:sp>
      <p:sp>
        <p:nvSpPr>
          <p:cNvPr id="18" name="Text 15"/>
          <p:cNvSpPr txBox="1"/>
          <p:nvPr/>
        </p:nvSpPr>
        <p:spPr>
          <a:xfrm>
            <a:off x="5257800" y="3703320"/>
            <a:ext cx="6263640" cy="86868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Three numbers from 0 to 255. Low red, lower green, almost no blue: a dark brown near the pupil.</a:t>
            </a:r>
            <a:endParaRPr lang="en-US" sz="1600" dirty="0"/>
          </a:p>
        </p:txBody>
      </p:sp>
      <p:sp>
        <p:nvSpPr>
          <p:cNvPr id="19" name="Text 16"/>
          <p:cNvSpPr txBox="1"/>
          <p:nvPr/>
        </p:nvSpPr>
        <p:spPr>
          <a:xfrm>
            <a:off x="5257800" y="4663440"/>
            <a:ext cx="6263640" cy="41148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The whole crop: 37,632 numbers</a:t>
            </a:r>
            <a:endParaRPr lang="en-US" sz="2000" dirty="0"/>
          </a:p>
        </p:txBody>
      </p:sp>
      <p:sp>
        <p:nvSpPr>
          <p:cNvPr id="20" name="Text 17"/>
          <p:cNvSpPr txBox="1"/>
          <p:nvPr/>
        </p:nvSpPr>
        <p:spPr>
          <a:xfrm>
            <a:off x="5257800" y="5120640"/>
            <a:ext cx="6263640" cy="86868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112 × 112 × 3. That list of numbers, not the picture, is what goes into ResNet-50.</a:t>
            </a:r>
            <a:endParaRPr lang="en-US" sz="1600" dirty="0"/>
          </a:p>
        </p:txBody>
      </p:sp>
      <p:sp>
        <p:nvSpPr>
          <p:cNvPr id="21" name="Text 18"/>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5B6B7C"/>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6F7"/>
        </a:solidFill>
      </p:bgPr>
    </p:bg>
    <p:spTree>
      <p:nvGrpSpPr>
        <p:cNvPr id="1" name=""/>
        <p:cNvGrpSpPr/>
        <p:nvPr/>
      </p:nvGrpSpPr>
      <p:grpSpPr>
        <a:xfrm>
          <a:off x="0" y="0"/>
          <a:ext cx="0" cy="0"/>
          <a:chOff x="0" y="0"/>
          <a:chExt cx="0" cy="0"/>
        </a:xfrm>
      </p:grpSpPr>
      <p:sp>
        <p:nvSpPr>
          <p:cNvPr id="2" name="Shape 0"/>
          <p:cNvSpPr/>
          <p:nvPr/>
        </p:nvSpPr>
        <p:spPr>
          <a:xfrm>
            <a:off x="640080" y="457200"/>
            <a:ext cx="850392" cy="365760"/>
          </a:xfrm>
          <a:prstGeom prst="roundRect">
            <a:avLst>
              <a:gd name="adj" fmla="val 50000"/>
            </a:avLst>
          </a:prstGeom>
          <a:solidFill>
            <a:srgbClr val="E6EEF0"/>
          </a:solidFill>
          <a:ln w="12700">
            <a:solidFill>
              <a:srgbClr val="E6EEF0"/>
            </a:solidFill>
            <a:prstDash val="solid"/>
          </a:ln>
        </p:spPr>
      </p:sp>
      <p:sp>
        <p:nvSpPr>
          <p:cNvPr id="3" name="Text 1"/>
          <p:cNvSpPr txBox="1"/>
          <p:nvPr/>
        </p:nvSpPr>
        <p:spPr>
          <a:xfrm>
            <a:off x="640080" y="457200"/>
            <a:ext cx="850392"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1 Find</a:t>
            </a:r>
            <a:endParaRPr lang="en-US" sz="1200" dirty="0"/>
          </a:p>
        </p:txBody>
      </p:sp>
      <p:sp>
        <p:nvSpPr>
          <p:cNvPr id="4" name="Shape 2"/>
          <p:cNvSpPr/>
          <p:nvPr/>
        </p:nvSpPr>
        <p:spPr>
          <a:xfrm>
            <a:off x="1600200" y="457200"/>
            <a:ext cx="1426464" cy="365760"/>
          </a:xfrm>
          <a:prstGeom prst="roundRect">
            <a:avLst>
              <a:gd name="adj" fmla="val 50000"/>
            </a:avLst>
          </a:prstGeom>
          <a:solidFill>
            <a:srgbClr val="E6EEF0"/>
          </a:solidFill>
          <a:ln w="12700">
            <a:solidFill>
              <a:srgbClr val="E6EEF0"/>
            </a:solidFill>
            <a:prstDash val="solid"/>
          </a:ln>
        </p:spPr>
      </p:sp>
      <p:sp>
        <p:nvSpPr>
          <p:cNvPr id="5" name="Text 3"/>
          <p:cNvSpPr txBox="1"/>
          <p:nvPr/>
        </p:nvSpPr>
        <p:spPr>
          <a:xfrm>
            <a:off x="1600200" y="457200"/>
            <a:ext cx="1426464"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2 Straighten</a:t>
            </a:r>
            <a:endParaRPr lang="en-US" sz="1200" dirty="0"/>
          </a:p>
        </p:txBody>
      </p:sp>
      <p:sp>
        <p:nvSpPr>
          <p:cNvPr id="6" name="Shape 4"/>
          <p:cNvSpPr/>
          <p:nvPr/>
        </p:nvSpPr>
        <p:spPr>
          <a:xfrm>
            <a:off x="3136392" y="457200"/>
            <a:ext cx="1042416" cy="365760"/>
          </a:xfrm>
          <a:prstGeom prst="roundRect">
            <a:avLst>
              <a:gd name="adj" fmla="val 50000"/>
            </a:avLst>
          </a:prstGeom>
          <a:solidFill>
            <a:srgbClr val="E6EEF0"/>
          </a:solidFill>
          <a:ln w="12700">
            <a:solidFill>
              <a:srgbClr val="E6EEF0"/>
            </a:solidFill>
            <a:prstDash val="solid"/>
          </a:ln>
        </p:spPr>
      </p:sp>
      <p:sp>
        <p:nvSpPr>
          <p:cNvPr id="7" name="Text 5"/>
          <p:cNvSpPr txBox="1"/>
          <p:nvPr/>
        </p:nvSpPr>
        <p:spPr>
          <a:xfrm>
            <a:off x="3136392" y="457200"/>
            <a:ext cx="1042416"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3 Pixels</a:t>
            </a:r>
            <a:endParaRPr lang="en-US" sz="1200" dirty="0"/>
          </a:p>
        </p:txBody>
      </p:sp>
      <p:sp>
        <p:nvSpPr>
          <p:cNvPr id="8" name="Shape 6"/>
          <p:cNvSpPr/>
          <p:nvPr/>
        </p:nvSpPr>
        <p:spPr>
          <a:xfrm>
            <a:off x="4288536" y="457200"/>
            <a:ext cx="1522476" cy="365760"/>
          </a:xfrm>
          <a:prstGeom prst="roundRect">
            <a:avLst>
              <a:gd name="adj" fmla="val 50000"/>
            </a:avLst>
          </a:prstGeom>
          <a:solidFill>
            <a:srgbClr val="16B3A8"/>
          </a:solidFill>
          <a:ln w="12700">
            <a:solidFill>
              <a:srgbClr val="16B3A8"/>
            </a:solidFill>
            <a:prstDash val="solid"/>
          </a:ln>
        </p:spPr>
      </p:sp>
      <p:sp>
        <p:nvSpPr>
          <p:cNvPr id="9" name="Text 7"/>
          <p:cNvSpPr txBox="1"/>
          <p:nvPr/>
        </p:nvSpPr>
        <p:spPr>
          <a:xfrm>
            <a:off x="4288536" y="457200"/>
            <a:ext cx="1522476" cy="365760"/>
          </a:xfrm>
          <a:prstGeom prst="rect">
            <a:avLst/>
          </a:prstGeom>
          <a:noFill/>
          <a:ln/>
        </p:spPr>
        <p:txBody>
          <a:bodyPr wrap="square" lIns="0" tIns="0" rIns="0" bIns="0" rtlCol="0" anchor="ctr"/>
          <a:lstStyle/>
          <a:p>
            <a:pPr algn="ctr" indent="0" marL="0">
              <a:buNone/>
            </a:pPr>
            <a:r>
              <a:rPr lang="en-US" sz="1200" b="1" dirty="0">
                <a:solidFill>
                  <a:srgbClr val="0E2340"/>
                </a:solidFill>
                <a:latin typeface="Calibri" pitchFamily="34" charset="0"/>
                <a:ea typeface="Calibri" pitchFamily="34" charset="-122"/>
                <a:cs typeface="Calibri" pitchFamily="34" charset="-120"/>
              </a:rPr>
              <a:t>4 Fingerprint</a:t>
            </a:r>
            <a:endParaRPr lang="en-US" sz="1200" dirty="0"/>
          </a:p>
        </p:txBody>
      </p:sp>
      <p:sp>
        <p:nvSpPr>
          <p:cNvPr id="10" name="Shape 8"/>
          <p:cNvSpPr/>
          <p:nvPr/>
        </p:nvSpPr>
        <p:spPr>
          <a:xfrm>
            <a:off x="5920740" y="457200"/>
            <a:ext cx="850392" cy="365760"/>
          </a:xfrm>
          <a:prstGeom prst="roundRect">
            <a:avLst>
              <a:gd name="adj" fmla="val 50000"/>
            </a:avLst>
          </a:prstGeom>
          <a:solidFill>
            <a:srgbClr val="E6EEF0"/>
          </a:solidFill>
          <a:ln w="12700">
            <a:solidFill>
              <a:srgbClr val="E6EEF0"/>
            </a:solidFill>
            <a:prstDash val="solid"/>
          </a:ln>
        </p:spPr>
      </p:sp>
      <p:sp>
        <p:nvSpPr>
          <p:cNvPr id="11" name="Text 9"/>
          <p:cNvSpPr txBox="1"/>
          <p:nvPr/>
        </p:nvSpPr>
        <p:spPr>
          <a:xfrm>
            <a:off x="5920740" y="457200"/>
            <a:ext cx="850392"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5 Save</a:t>
            </a:r>
            <a:endParaRPr lang="en-US" sz="1200" dirty="0"/>
          </a:p>
        </p:txBody>
      </p:sp>
      <p:sp>
        <p:nvSpPr>
          <p:cNvPr id="12" name="Text 10"/>
          <p:cNvSpPr txBox="1"/>
          <p:nvPr/>
        </p:nvSpPr>
        <p:spPr>
          <a:xfrm>
            <a:off x="640080" y="960120"/>
            <a:ext cx="10911535" cy="640080"/>
          </a:xfrm>
          <a:prstGeom prst="rect">
            <a:avLst/>
          </a:prstGeom>
          <a:noFill/>
          <a:ln/>
        </p:spPr>
        <p:txBody>
          <a:bodyPr wrap="square" lIns="0" tIns="0" rIns="0" bIns="0" rtlCol="0" anchor="ctr"/>
          <a:lstStyle/>
          <a:p>
            <a:pPr indent="0" marL="0">
              <a:buNone/>
            </a:pPr>
            <a:r>
              <a:rPr lang="en-US" sz="3200" b="1" dirty="0">
                <a:solidFill>
                  <a:srgbClr val="0E2340"/>
                </a:solidFill>
                <a:latin typeface="Arial" pitchFamily="34" charset="0"/>
                <a:ea typeface="Arial" pitchFamily="34" charset="-122"/>
                <a:cs typeface="Arial" pitchFamily="34" charset="-120"/>
              </a:rPr>
              <a:t>Step 4 · 37,632 numbers become 512</a:t>
            </a:r>
            <a:endParaRPr lang="en-US" sz="3200" dirty="0"/>
          </a:p>
        </p:txBody>
      </p:sp>
      <p:sp>
        <p:nvSpPr>
          <p:cNvPr id="13" name="Shape 11"/>
          <p:cNvSpPr/>
          <p:nvPr/>
        </p:nvSpPr>
        <p:spPr>
          <a:xfrm>
            <a:off x="640080" y="1783080"/>
            <a:ext cx="4206240" cy="4206240"/>
          </a:xfrm>
          <a:prstGeom prst="roundRect">
            <a:avLst>
              <a:gd name="adj" fmla="val 2174"/>
            </a:avLst>
          </a:prstGeom>
          <a:solidFill>
            <a:srgbClr val="0D1B34"/>
          </a:solidFill>
          <a:ln w="12700">
            <a:solidFill>
              <a:srgbClr val="0D1B34"/>
            </a:solidFill>
            <a:prstDash val="solid"/>
          </a:ln>
        </p:spPr>
      </p:sp>
      <p:pic>
        <p:nvPicPr>
          <p:cNvPr id="14" name="Image 0" descr="A strip of small red, white and blue cells, one per embedding number, above the first values +0.027, +0.020, +0.000, -0.034">    </p:cNvPr>
          <p:cNvPicPr>
            <a:picLocks noChangeAspect="1"/>
          </p:cNvPicPr>
          <p:nvPr/>
        </p:nvPicPr>
        <p:blipFill>
          <a:blip r:embed="rId1"/>
          <a:srcRect l="0" r="0" t="0" b="0"/>
          <a:stretch/>
        </p:blipFill>
        <p:spPr>
          <a:xfrm>
            <a:off x="640080" y="1783080"/>
            <a:ext cx="4206240" cy="4206240"/>
          </a:xfrm>
          <a:prstGeom prst="rect">
            <a:avLst/>
          </a:prstGeom>
        </p:spPr>
      </p:pic>
      <p:sp>
        <p:nvSpPr>
          <p:cNvPr id="15" name="Text 12"/>
          <p:cNvSpPr txBox="1"/>
          <p:nvPr/>
        </p:nvSpPr>
        <p:spPr>
          <a:xfrm>
            <a:off x="5257800" y="1828800"/>
            <a:ext cx="6263640" cy="41148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The squeeze</a:t>
            </a:r>
            <a:endParaRPr lang="en-US" sz="2000" dirty="0"/>
          </a:p>
        </p:txBody>
      </p:sp>
      <p:sp>
        <p:nvSpPr>
          <p:cNvPr id="16" name="Text 13"/>
          <p:cNvSpPr txBox="1"/>
          <p:nvPr/>
        </p:nvSpPr>
        <p:spPr>
          <a:xfrm>
            <a:off x="5257800" y="2286000"/>
            <a:ext cx="6263640" cy="86868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ResNet-50, trained with ArcFace, turns the crop into a fingerprint of 512 numbers. Each colored cell is one of them.</a:t>
            </a:r>
            <a:endParaRPr lang="en-US" sz="1600" dirty="0"/>
          </a:p>
        </p:txBody>
      </p:sp>
      <p:sp>
        <p:nvSpPr>
          <p:cNvPr id="17" name="Text 14"/>
          <p:cNvSpPr txBox="1"/>
          <p:nvPr/>
        </p:nvSpPr>
        <p:spPr>
          <a:xfrm>
            <a:off x="5257800" y="3246120"/>
            <a:ext cx="6263640" cy="41148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Why so small? +0.027, −0.034</a:t>
            </a:r>
            <a:endParaRPr lang="en-US" sz="2000" dirty="0"/>
          </a:p>
        </p:txBody>
      </p:sp>
      <p:sp>
        <p:nvSpPr>
          <p:cNvPr id="18" name="Text 15"/>
          <p:cNvSpPr txBox="1"/>
          <p:nvPr/>
        </p:nvSpPr>
        <p:spPr>
          <a:xfrm>
            <a:off x="5257800" y="3703320"/>
            <a:ext cx="6263640" cy="86868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The vector is scaled to length 1, so a typical number is about ±0.04 (that is 1 ÷ √512).</a:t>
            </a:r>
            <a:endParaRPr lang="en-US" sz="1600" dirty="0"/>
          </a:p>
        </p:txBody>
      </p:sp>
      <p:sp>
        <p:nvSpPr>
          <p:cNvPr id="19" name="Text 16"/>
          <p:cNvSpPr txBox="1"/>
          <p:nvPr/>
        </p:nvSpPr>
        <p:spPr>
          <a:xfrm>
            <a:off x="5257800" y="4663440"/>
            <a:ext cx="6263640" cy="41148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Only the pattern matters</a:t>
            </a:r>
            <a:endParaRPr lang="en-US" sz="2000" dirty="0"/>
          </a:p>
        </p:txBody>
      </p:sp>
      <p:sp>
        <p:nvSpPr>
          <p:cNvPr id="20" name="Text 17"/>
          <p:cNvSpPr txBox="1"/>
          <p:nvPr/>
        </p:nvSpPr>
        <p:spPr>
          <a:xfrm>
            <a:off x="5257800" y="5120640"/>
            <a:ext cx="6263640" cy="86868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No single number means “nose” or “E.T.”. Similar faces give similar patterns; that is all.</a:t>
            </a:r>
            <a:endParaRPr lang="en-US" sz="1600" dirty="0"/>
          </a:p>
        </p:txBody>
      </p:sp>
      <p:sp>
        <p:nvSpPr>
          <p:cNvPr id="21" name="Text 18"/>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5B6B7C"/>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6F7"/>
        </a:solidFill>
      </p:bgPr>
    </p:bg>
    <p:spTree>
      <p:nvGrpSpPr>
        <p:cNvPr id="1" name=""/>
        <p:cNvGrpSpPr/>
        <p:nvPr/>
      </p:nvGrpSpPr>
      <p:grpSpPr>
        <a:xfrm>
          <a:off x="0" y="0"/>
          <a:ext cx="0" cy="0"/>
          <a:chOff x="0" y="0"/>
          <a:chExt cx="0" cy="0"/>
        </a:xfrm>
      </p:grpSpPr>
      <p:sp>
        <p:nvSpPr>
          <p:cNvPr id="2" name="Shape 0"/>
          <p:cNvSpPr/>
          <p:nvPr/>
        </p:nvSpPr>
        <p:spPr>
          <a:xfrm>
            <a:off x="640080" y="457200"/>
            <a:ext cx="850392" cy="365760"/>
          </a:xfrm>
          <a:prstGeom prst="roundRect">
            <a:avLst>
              <a:gd name="adj" fmla="val 50000"/>
            </a:avLst>
          </a:prstGeom>
          <a:solidFill>
            <a:srgbClr val="E6EEF0"/>
          </a:solidFill>
          <a:ln w="12700">
            <a:solidFill>
              <a:srgbClr val="E6EEF0"/>
            </a:solidFill>
            <a:prstDash val="solid"/>
          </a:ln>
        </p:spPr>
      </p:sp>
      <p:sp>
        <p:nvSpPr>
          <p:cNvPr id="3" name="Text 1"/>
          <p:cNvSpPr txBox="1"/>
          <p:nvPr/>
        </p:nvSpPr>
        <p:spPr>
          <a:xfrm>
            <a:off x="640080" y="457200"/>
            <a:ext cx="850392"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1 Find</a:t>
            </a:r>
            <a:endParaRPr lang="en-US" sz="1200" dirty="0"/>
          </a:p>
        </p:txBody>
      </p:sp>
      <p:sp>
        <p:nvSpPr>
          <p:cNvPr id="4" name="Shape 2"/>
          <p:cNvSpPr/>
          <p:nvPr/>
        </p:nvSpPr>
        <p:spPr>
          <a:xfrm>
            <a:off x="1600200" y="457200"/>
            <a:ext cx="1426464" cy="365760"/>
          </a:xfrm>
          <a:prstGeom prst="roundRect">
            <a:avLst>
              <a:gd name="adj" fmla="val 50000"/>
            </a:avLst>
          </a:prstGeom>
          <a:solidFill>
            <a:srgbClr val="E6EEF0"/>
          </a:solidFill>
          <a:ln w="12700">
            <a:solidFill>
              <a:srgbClr val="E6EEF0"/>
            </a:solidFill>
            <a:prstDash val="solid"/>
          </a:ln>
        </p:spPr>
      </p:sp>
      <p:sp>
        <p:nvSpPr>
          <p:cNvPr id="5" name="Text 3"/>
          <p:cNvSpPr txBox="1"/>
          <p:nvPr/>
        </p:nvSpPr>
        <p:spPr>
          <a:xfrm>
            <a:off x="1600200" y="457200"/>
            <a:ext cx="1426464"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2 Straighten</a:t>
            </a:r>
            <a:endParaRPr lang="en-US" sz="1200" dirty="0"/>
          </a:p>
        </p:txBody>
      </p:sp>
      <p:sp>
        <p:nvSpPr>
          <p:cNvPr id="6" name="Shape 4"/>
          <p:cNvSpPr/>
          <p:nvPr/>
        </p:nvSpPr>
        <p:spPr>
          <a:xfrm>
            <a:off x="3136392" y="457200"/>
            <a:ext cx="1042416" cy="365760"/>
          </a:xfrm>
          <a:prstGeom prst="roundRect">
            <a:avLst>
              <a:gd name="adj" fmla="val 50000"/>
            </a:avLst>
          </a:prstGeom>
          <a:solidFill>
            <a:srgbClr val="E6EEF0"/>
          </a:solidFill>
          <a:ln w="12700">
            <a:solidFill>
              <a:srgbClr val="E6EEF0"/>
            </a:solidFill>
            <a:prstDash val="solid"/>
          </a:ln>
        </p:spPr>
      </p:sp>
      <p:sp>
        <p:nvSpPr>
          <p:cNvPr id="7" name="Text 5"/>
          <p:cNvSpPr txBox="1"/>
          <p:nvPr/>
        </p:nvSpPr>
        <p:spPr>
          <a:xfrm>
            <a:off x="3136392" y="457200"/>
            <a:ext cx="1042416"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3 Pixels</a:t>
            </a:r>
            <a:endParaRPr lang="en-US" sz="1200" dirty="0"/>
          </a:p>
        </p:txBody>
      </p:sp>
      <p:sp>
        <p:nvSpPr>
          <p:cNvPr id="8" name="Shape 6"/>
          <p:cNvSpPr/>
          <p:nvPr/>
        </p:nvSpPr>
        <p:spPr>
          <a:xfrm>
            <a:off x="4288536" y="457200"/>
            <a:ext cx="1522476" cy="365760"/>
          </a:xfrm>
          <a:prstGeom prst="roundRect">
            <a:avLst>
              <a:gd name="adj" fmla="val 50000"/>
            </a:avLst>
          </a:prstGeom>
          <a:solidFill>
            <a:srgbClr val="E6EEF0"/>
          </a:solidFill>
          <a:ln w="12700">
            <a:solidFill>
              <a:srgbClr val="E6EEF0"/>
            </a:solidFill>
            <a:prstDash val="solid"/>
          </a:ln>
        </p:spPr>
      </p:sp>
      <p:sp>
        <p:nvSpPr>
          <p:cNvPr id="9" name="Text 7"/>
          <p:cNvSpPr txBox="1"/>
          <p:nvPr/>
        </p:nvSpPr>
        <p:spPr>
          <a:xfrm>
            <a:off x="4288536" y="457200"/>
            <a:ext cx="1522476" cy="365760"/>
          </a:xfrm>
          <a:prstGeom prst="rect">
            <a:avLst/>
          </a:prstGeom>
          <a:noFill/>
          <a:ln/>
        </p:spPr>
        <p:txBody>
          <a:bodyPr wrap="square" lIns="0" tIns="0" rIns="0" bIns="0" rtlCol="0" anchor="ctr"/>
          <a:lstStyle/>
          <a:p>
            <a:pPr algn="ctr" indent="0" marL="0">
              <a:buNone/>
            </a:pPr>
            <a:r>
              <a:rPr lang="en-US" sz="1200" dirty="0">
                <a:solidFill>
                  <a:srgbClr val="5B6B7C"/>
                </a:solidFill>
                <a:latin typeface="Calibri" pitchFamily="34" charset="0"/>
                <a:ea typeface="Calibri" pitchFamily="34" charset="-122"/>
                <a:cs typeface="Calibri" pitchFamily="34" charset="-120"/>
              </a:rPr>
              <a:t>4 Fingerprint</a:t>
            </a:r>
            <a:endParaRPr lang="en-US" sz="1200" dirty="0"/>
          </a:p>
        </p:txBody>
      </p:sp>
      <p:sp>
        <p:nvSpPr>
          <p:cNvPr id="10" name="Shape 8"/>
          <p:cNvSpPr/>
          <p:nvPr/>
        </p:nvSpPr>
        <p:spPr>
          <a:xfrm>
            <a:off x="5920740" y="457200"/>
            <a:ext cx="850392" cy="365760"/>
          </a:xfrm>
          <a:prstGeom prst="roundRect">
            <a:avLst>
              <a:gd name="adj" fmla="val 50000"/>
            </a:avLst>
          </a:prstGeom>
          <a:solidFill>
            <a:srgbClr val="16B3A8"/>
          </a:solidFill>
          <a:ln w="12700">
            <a:solidFill>
              <a:srgbClr val="16B3A8"/>
            </a:solidFill>
            <a:prstDash val="solid"/>
          </a:ln>
        </p:spPr>
      </p:sp>
      <p:sp>
        <p:nvSpPr>
          <p:cNvPr id="11" name="Text 9"/>
          <p:cNvSpPr txBox="1"/>
          <p:nvPr/>
        </p:nvSpPr>
        <p:spPr>
          <a:xfrm>
            <a:off x="5920740" y="457200"/>
            <a:ext cx="850392" cy="365760"/>
          </a:xfrm>
          <a:prstGeom prst="rect">
            <a:avLst/>
          </a:prstGeom>
          <a:noFill/>
          <a:ln/>
        </p:spPr>
        <p:txBody>
          <a:bodyPr wrap="square" lIns="0" tIns="0" rIns="0" bIns="0" rtlCol="0" anchor="ctr"/>
          <a:lstStyle/>
          <a:p>
            <a:pPr algn="ctr" indent="0" marL="0">
              <a:buNone/>
            </a:pPr>
            <a:r>
              <a:rPr lang="en-US" sz="1200" b="1" dirty="0">
                <a:solidFill>
                  <a:srgbClr val="0E2340"/>
                </a:solidFill>
                <a:latin typeface="Calibri" pitchFamily="34" charset="0"/>
                <a:ea typeface="Calibri" pitchFamily="34" charset="-122"/>
                <a:cs typeface="Calibri" pitchFamily="34" charset="-120"/>
              </a:rPr>
              <a:t>5 Save</a:t>
            </a:r>
            <a:endParaRPr lang="en-US" sz="1200" dirty="0"/>
          </a:p>
        </p:txBody>
      </p:sp>
      <p:sp>
        <p:nvSpPr>
          <p:cNvPr id="12" name="Text 10"/>
          <p:cNvSpPr txBox="1"/>
          <p:nvPr/>
        </p:nvSpPr>
        <p:spPr>
          <a:xfrm>
            <a:off x="640080" y="960120"/>
            <a:ext cx="10911535" cy="640080"/>
          </a:xfrm>
          <a:prstGeom prst="rect">
            <a:avLst/>
          </a:prstGeom>
          <a:noFill/>
          <a:ln/>
        </p:spPr>
        <p:txBody>
          <a:bodyPr wrap="square" lIns="0" tIns="0" rIns="0" bIns="0" rtlCol="0" anchor="ctr"/>
          <a:lstStyle/>
          <a:p>
            <a:pPr indent="0" marL="0">
              <a:buNone/>
            </a:pPr>
            <a:r>
              <a:rPr lang="en-US" sz="3200" b="1" dirty="0">
                <a:solidFill>
                  <a:srgbClr val="0E2340"/>
                </a:solidFill>
                <a:latin typeface="Arial" pitchFamily="34" charset="0"/>
                <a:ea typeface="Arial" pitchFamily="34" charset="-122"/>
                <a:cs typeface="Arial" pitchFamily="34" charset="-120"/>
              </a:rPr>
              <a:t>Step 5 · Save the name with the numbers</a:t>
            </a:r>
            <a:endParaRPr lang="en-US" sz="3200" dirty="0"/>
          </a:p>
        </p:txBody>
      </p:sp>
      <p:sp>
        <p:nvSpPr>
          <p:cNvPr id="13" name="Shape 11"/>
          <p:cNvSpPr/>
          <p:nvPr/>
        </p:nvSpPr>
        <p:spPr>
          <a:xfrm>
            <a:off x="640080" y="1783080"/>
            <a:ext cx="4206240" cy="4206240"/>
          </a:xfrm>
          <a:prstGeom prst="roundRect">
            <a:avLst>
              <a:gd name="adj" fmla="val 2174"/>
            </a:avLst>
          </a:prstGeom>
          <a:solidFill>
            <a:srgbClr val="0D1B34"/>
          </a:solidFill>
          <a:ln w="12700">
            <a:solidFill>
              <a:srgbClr val="0D1B34"/>
            </a:solidFill>
            <a:prstDash val="solid"/>
          </a:ln>
        </p:spPr>
      </p:sp>
      <p:pic>
        <p:nvPicPr>
          <p:cNvPr id="14" name="Image 0" descr="Panel reading: Added to E.T. Only the 512 numbers are averaged into face_fingerprints.json. The photo is not stored there.">    </p:cNvPr>
          <p:cNvPicPr>
            <a:picLocks noChangeAspect="1"/>
          </p:cNvPicPr>
          <p:nvPr/>
        </p:nvPicPr>
        <p:blipFill>
          <a:blip r:embed="rId1"/>
          <a:srcRect l="0" r="0" t="0" b="0"/>
          <a:stretch/>
        </p:blipFill>
        <p:spPr>
          <a:xfrm>
            <a:off x="640080" y="1783080"/>
            <a:ext cx="4206240" cy="4206240"/>
          </a:xfrm>
          <a:prstGeom prst="rect">
            <a:avLst/>
          </a:prstGeom>
        </p:spPr>
      </p:pic>
      <p:sp>
        <p:nvSpPr>
          <p:cNvPr id="15" name="Text 12"/>
          <p:cNvSpPr txBox="1"/>
          <p:nvPr/>
        </p:nvSpPr>
        <p:spPr>
          <a:xfrm>
            <a:off x="5257800" y="1828800"/>
            <a:ext cx="6263640" cy="41148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What is saved</a:t>
            </a:r>
            <a:endParaRPr lang="en-US" sz="2000" dirty="0"/>
          </a:p>
        </p:txBody>
      </p:sp>
      <p:sp>
        <p:nvSpPr>
          <p:cNvPr id="16" name="Text 13"/>
          <p:cNvSpPr txBox="1"/>
          <p:nvPr/>
        </p:nvSpPr>
        <p:spPr>
          <a:xfrm>
            <a:off x="5257800" y="2286000"/>
            <a:ext cx="6263640" cy="86868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E.T. → 512 numbers. With several photos, their fingerprints are averaged, then rescaled to length 1.</a:t>
            </a:r>
            <a:endParaRPr lang="en-US" sz="1600" dirty="0"/>
          </a:p>
        </p:txBody>
      </p:sp>
      <p:sp>
        <p:nvSpPr>
          <p:cNvPr id="17" name="Text 14"/>
          <p:cNvSpPr txBox="1"/>
          <p:nvPr/>
        </p:nvSpPr>
        <p:spPr>
          <a:xfrm>
            <a:off x="5257800" y="3246120"/>
            <a:ext cx="6263640" cy="41148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What is not saved</a:t>
            </a:r>
            <a:endParaRPr lang="en-US" sz="2000" dirty="0"/>
          </a:p>
        </p:txBody>
      </p:sp>
      <p:sp>
        <p:nvSpPr>
          <p:cNvPr id="18" name="Text 15"/>
          <p:cNvSpPr txBox="1"/>
          <p:nvPr/>
        </p:nvSpPr>
        <p:spPr>
          <a:xfrm>
            <a:off x="5257800" y="3703320"/>
            <a:ext cx="6263640" cy="86868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The photo. The fingerprint file holds only a name and numbers.</a:t>
            </a:r>
            <a:endParaRPr lang="en-US" sz="1600" dirty="0"/>
          </a:p>
        </p:txBody>
      </p:sp>
      <p:sp>
        <p:nvSpPr>
          <p:cNvPr id="19" name="Text 16"/>
          <p:cNvSpPr txBox="1"/>
          <p:nvPr/>
        </p:nvSpPr>
        <p:spPr>
          <a:xfrm>
            <a:off x="5257800" y="4663440"/>
            <a:ext cx="6263640" cy="41148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Still private</a:t>
            </a:r>
            <a:endParaRPr lang="en-US" sz="2000" dirty="0"/>
          </a:p>
        </p:txBody>
      </p:sp>
      <p:sp>
        <p:nvSpPr>
          <p:cNvPr id="20" name="Text 17"/>
          <p:cNvSpPr txBox="1"/>
          <p:nvPr/>
        </p:nvSpPr>
        <p:spPr>
          <a:xfrm>
            <a:off x="5257800" y="5120640"/>
            <a:ext cx="6263640" cy="86868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Those 512 numbers can still pick E.T. out of a crowd. That is why the file counts as biometric data.</a:t>
            </a:r>
            <a:endParaRPr lang="en-US" sz="1600" dirty="0"/>
          </a:p>
        </p:txBody>
      </p:sp>
      <p:sp>
        <p:nvSpPr>
          <p:cNvPr id="21" name="Text 18"/>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5B6B7C"/>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B3A8"/>
        </a:solidFill>
      </p:bgPr>
    </p:bg>
    <p:spTree>
      <p:nvGrpSpPr>
        <p:cNvPr id="1" name=""/>
        <p:cNvGrpSpPr/>
        <p:nvPr/>
      </p:nvGrpSpPr>
      <p:grpSpPr>
        <a:xfrm>
          <a:off x="0" y="0"/>
          <a:ext cx="0" cy="0"/>
          <a:chOff x="0" y="0"/>
          <a:chExt cx="0" cy="0"/>
        </a:xfrm>
      </p:grpSpPr>
      <p:sp>
        <p:nvSpPr>
          <p:cNvPr id="2" name="Text 0"/>
          <p:cNvSpPr txBox="1"/>
          <p:nvPr/>
        </p:nvSpPr>
        <p:spPr>
          <a:xfrm>
            <a:off x="640080" y="1188720"/>
            <a:ext cx="10911535" cy="365760"/>
          </a:xfrm>
          <a:prstGeom prst="rect">
            <a:avLst/>
          </a:prstGeom>
          <a:noFill/>
          <a:ln/>
        </p:spPr>
        <p:txBody>
          <a:bodyPr wrap="square" lIns="0" tIns="0" rIns="0" bIns="0" rtlCol="0" anchor="t"/>
          <a:lstStyle/>
          <a:p>
            <a:pPr indent="0" marL="0">
              <a:buNone/>
            </a:pPr>
            <a:r>
              <a:rPr lang="en-US" sz="1600" spc="200" kern="0" dirty="0">
                <a:solidFill>
                  <a:srgbClr val="0E2340"/>
                </a:solidFill>
                <a:latin typeface="Courier New" pitchFamily="34" charset="0"/>
                <a:ea typeface="Courier New" pitchFamily="34" charset="-122"/>
                <a:cs typeface="Courier New" pitchFamily="34" charset="-120"/>
              </a:rPr>
              <a:t>PART 2 · VIBE CODING</a:t>
            </a:r>
            <a:endParaRPr lang="en-US" sz="1600" dirty="0"/>
          </a:p>
        </p:txBody>
      </p:sp>
      <p:sp>
        <p:nvSpPr>
          <p:cNvPr id="3" name="Text 1"/>
          <p:cNvSpPr txBox="1"/>
          <p:nvPr/>
        </p:nvSpPr>
        <p:spPr>
          <a:xfrm>
            <a:off x="640080" y="1828800"/>
            <a:ext cx="10911535" cy="2194560"/>
          </a:xfrm>
          <a:prstGeom prst="rect">
            <a:avLst/>
          </a:prstGeom>
          <a:noFill/>
          <a:ln/>
        </p:spPr>
        <p:txBody>
          <a:bodyPr wrap="square" lIns="0" tIns="0" rIns="0" bIns="0" rtlCol="0" anchor="t"/>
          <a:lstStyle/>
          <a:p>
            <a:pPr indent="0" marL="0">
              <a:buNone/>
            </a:pPr>
            <a:r>
              <a:rPr lang="en-US" sz="5000" b="1" dirty="0">
                <a:solidFill>
                  <a:srgbClr val="0E2340"/>
                </a:solidFill>
                <a:latin typeface="Arial" pitchFamily="34" charset="0"/>
                <a:ea typeface="Arial" pitchFamily="34" charset="-122"/>
                <a:cs typeface="Arial" pitchFamily="34" charset="-120"/>
              </a:rPr>
              <a:t>You describe the four stages.</a:t>
            </a:r>
            <a:endParaRPr lang="en-US" sz="5000" dirty="0"/>
          </a:p>
          <a:p>
            <a:pPr indent="0" marL="0">
              <a:buNone/>
            </a:pPr>
            <a:r>
              <a:rPr lang="en-US" sz="5000" b="1" dirty="0">
                <a:solidFill>
                  <a:srgbClr val="0E2340"/>
                </a:solidFill>
                <a:latin typeface="Arial" pitchFamily="34" charset="0"/>
                <a:ea typeface="Arial" pitchFamily="34" charset="-122"/>
                <a:cs typeface="Arial" pitchFamily="34" charset="-120"/>
              </a:rPr>
              <a:t>The LLM types the Python.</a:t>
            </a:r>
            <a:endParaRPr lang="en-US" sz="5000" dirty="0"/>
          </a:p>
        </p:txBody>
      </p:sp>
      <p:sp>
        <p:nvSpPr>
          <p:cNvPr id="4" name="Text 2"/>
          <p:cNvSpPr txBox="1"/>
          <p:nvPr/>
        </p:nvSpPr>
        <p:spPr>
          <a:xfrm>
            <a:off x="640080" y="4297680"/>
            <a:ext cx="10911535" cy="548640"/>
          </a:xfrm>
          <a:prstGeom prst="rect">
            <a:avLst/>
          </a:prstGeom>
          <a:noFill/>
          <a:ln/>
        </p:spPr>
        <p:txBody>
          <a:bodyPr wrap="square" lIns="0" tIns="0" rIns="0" bIns="0" rtlCol="0" anchor="t"/>
          <a:lstStyle/>
          <a:p>
            <a:pPr indent="0" marL="0">
              <a:buNone/>
            </a:pPr>
            <a:r>
              <a:rPr lang="en-US" sz="2400" dirty="0">
                <a:solidFill>
                  <a:srgbClr val="0E2340"/>
                </a:solidFill>
                <a:latin typeface="Calibri" pitchFamily="34" charset="0"/>
                <a:ea typeface="Calibri" pitchFamily="34" charset="-122"/>
                <a:cs typeface="Calibri" pitchFamily="34" charset="-120"/>
              </a:rPr>
              <a:t>You still own every line it writes.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6F7"/>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731520"/>
          </a:xfrm>
          <a:prstGeom prst="rect">
            <a:avLst/>
          </a:prstGeom>
          <a:noFill/>
          <a:ln/>
        </p:spPr>
        <p:txBody>
          <a:bodyPr wrap="square" lIns="0" tIns="0" rIns="0" bIns="0" rtlCol="0" anchor="ctr"/>
          <a:lstStyle/>
          <a:p>
            <a:pPr indent="0" marL="0">
              <a:buNone/>
            </a:pPr>
            <a:r>
              <a:rPr lang="en-US" sz="3400" b="1" dirty="0">
                <a:solidFill>
                  <a:srgbClr val="0E2340"/>
                </a:solidFill>
                <a:latin typeface="Arial" pitchFamily="34" charset="0"/>
                <a:ea typeface="Arial" pitchFamily="34" charset="-122"/>
                <a:cs typeface="Arial" pitchFamily="34" charset="-120"/>
              </a:rPr>
              <a:t>The loop you will run a dozen times</a:t>
            </a:r>
            <a:endParaRPr lang="en-US" sz="3400" dirty="0"/>
          </a:p>
        </p:txBody>
      </p:sp>
      <p:sp>
        <p:nvSpPr>
          <p:cNvPr id="3" name="Shape 1"/>
          <p:cNvSpPr/>
          <p:nvPr/>
        </p:nvSpPr>
        <p:spPr>
          <a:xfrm>
            <a:off x="640080" y="1645920"/>
            <a:ext cx="1816547" cy="1417320"/>
          </a:xfrm>
          <a:prstGeom prst="roundRect">
            <a:avLst>
              <a:gd name="adj" fmla="val 6452"/>
            </a:avLst>
          </a:prstGeom>
          <a:solidFill>
            <a:srgbClr val="0E2340"/>
          </a:solidFill>
          <a:ln w="12700">
            <a:solidFill>
              <a:srgbClr val="0E2340"/>
            </a:solidFill>
            <a:prstDash val="solid"/>
          </a:ln>
        </p:spPr>
      </p:sp>
      <p:sp>
        <p:nvSpPr>
          <p:cNvPr id="4" name="Text 2"/>
          <p:cNvSpPr txBox="1"/>
          <p:nvPr/>
        </p:nvSpPr>
        <p:spPr>
          <a:xfrm>
            <a:off x="822960" y="1783080"/>
            <a:ext cx="1450787" cy="457200"/>
          </a:xfrm>
          <a:prstGeom prst="rect">
            <a:avLst/>
          </a:prstGeom>
          <a:noFill/>
          <a:ln/>
        </p:spPr>
        <p:txBody>
          <a:bodyPr wrap="square" lIns="0" tIns="0" rIns="0" bIns="0" rtlCol="0" anchor="t"/>
          <a:lstStyle/>
          <a:p>
            <a:pPr indent="0" marL="0">
              <a:buNone/>
            </a:pPr>
            <a:r>
              <a:rPr lang="en-US" sz="2000" b="1" dirty="0">
                <a:solidFill>
                  <a:srgbClr val="EEF4F6"/>
                </a:solidFill>
                <a:latin typeface="Arial" pitchFamily="34" charset="0"/>
                <a:ea typeface="Arial" pitchFamily="34" charset="-122"/>
                <a:cs typeface="Arial" pitchFamily="34" charset="-120"/>
              </a:rPr>
              <a:t>Describe</a:t>
            </a:r>
            <a:endParaRPr lang="en-US" sz="2000" dirty="0"/>
          </a:p>
        </p:txBody>
      </p:sp>
      <p:sp>
        <p:nvSpPr>
          <p:cNvPr id="5" name="Text 3"/>
          <p:cNvSpPr txBox="1"/>
          <p:nvPr/>
        </p:nvSpPr>
        <p:spPr>
          <a:xfrm>
            <a:off x="822960" y="2286000"/>
            <a:ext cx="1450787" cy="640080"/>
          </a:xfrm>
          <a:prstGeom prst="rect">
            <a:avLst/>
          </a:prstGeom>
          <a:noFill/>
          <a:ln/>
        </p:spPr>
        <p:txBody>
          <a:bodyPr wrap="square" lIns="0" tIns="0" rIns="0" bIns="0" rtlCol="0" anchor="t"/>
          <a:lstStyle/>
          <a:p>
            <a:pPr indent="0" marL="0">
              <a:buNone/>
            </a:pPr>
            <a:r>
              <a:rPr lang="en-US" sz="1400" dirty="0">
                <a:solidFill>
                  <a:srgbClr val="BCD0DD"/>
                </a:solidFill>
                <a:latin typeface="Calibri" pitchFamily="34" charset="0"/>
                <a:ea typeface="Calibri" pitchFamily="34" charset="-122"/>
                <a:cs typeface="Calibri" pitchFamily="34" charset="-120"/>
              </a:rPr>
              <a:t>what, with which library</a:t>
            </a:r>
            <a:endParaRPr lang="en-US" sz="1400" dirty="0"/>
          </a:p>
        </p:txBody>
      </p:sp>
      <p:pic>
        <p:nvPicPr>
          <p:cNvPr id="6" name="Image 0" descr="preencoded.png">    </p:cNvPr>
          <p:cNvPicPr>
            <a:picLocks noChangeAspect="1"/>
          </p:cNvPicPr>
          <p:nvPr/>
        </p:nvPicPr>
        <p:blipFill>
          <a:blip r:embed="rId1"/>
          <a:stretch>
            <a:fillRect/>
          </a:stretch>
        </p:blipFill>
        <p:spPr>
          <a:xfrm>
            <a:off x="2566355" y="2194560"/>
            <a:ext cx="237744" cy="237744"/>
          </a:xfrm>
          <a:prstGeom prst="rect">
            <a:avLst/>
          </a:prstGeom>
        </p:spPr>
      </p:pic>
      <p:sp>
        <p:nvSpPr>
          <p:cNvPr id="7" name="Shape 4"/>
          <p:cNvSpPr/>
          <p:nvPr/>
        </p:nvSpPr>
        <p:spPr>
          <a:xfrm>
            <a:off x="2913827" y="1645920"/>
            <a:ext cx="1816547" cy="1417320"/>
          </a:xfrm>
          <a:prstGeom prst="roundRect">
            <a:avLst>
              <a:gd name="adj" fmla="val 6452"/>
            </a:avLst>
          </a:prstGeom>
          <a:solidFill>
            <a:srgbClr val="0E2340"/>
          </a:solidFill>
          <a:ln w="12700">
            <a:solidFill>
              <a:srgbClr val="0E2340"/>
            </a:solidFill>
            <a:prstDash val="solid"/>
          </a:ln>
        </p:spPr>
      </p:sp>
      <p:sp>
        <p:nvSpPr>
          <p:cNvPr id="8" name="Text 5"/>
          <p:cNvSpPr txBox="1"/>
          <p:nvPr/>
        </p:nvSpPr>
        <p:spPr>
          <a:xfrm>
            <a:off x="3096707" y="1783080"/>
            <a:ext cx="1450787" cy="457200"/>
          </a:xfrm>
          <a:prstGeom prst="rect">
            <a:avLst/>
          </a:prstGeom>
          <a:noFill/>
          <a:ln/>
        </p:spPr>
        <p:txBody>
          <a:bodyPr wrap="square" lIns="0" tIns="0" rIns="0" bIns="0" rtlCol="0" anchor="t"/>
          <a:lstStyle/>
          <a:p>
            <a:pPr indent="0" marL="0">
              <a:buNone/>
            </a:pPr>
            <a:r>
              <a:rPr lang="en-US" sz="2000" b="1" dirty="0">
                <a:solidFill>
                  <a:srgbClr val="EEF4F6"/>
                </a:solidFill>
                <a:latin typeface="Arial" pitchFamily="34" charset="0"/>
                <a:ea typeface="Arial" pitchFamily="34" charset="-122"/>
                <a:cs typeface="Arial" pitchFamily="34" charset="-120"/>
              </a:rPr>
              <a:t>Generate</a:t>
            </a:r>
            <a:endParaRPr lang="en-US" sz="2000" dirty="0"/>
          </a:p>
        </p:txBody>
      </p:sp>
      <p:sp>
        <p:nvSpPr>
          <p:cNvPr id="9" name="Text 6"/>
          <p:cNvSpPr txBox="1"/>
          <p:nvPr/>
        </p:nvSpPr>
        <p:spPr>
          <a:xfrm>
            <a:off x="3096707" y="2286000"/>
            <a:ext cx="1450787" cy="640080"/>
          </a:xfrm>
          <a:prstGeom prst="rect">
            <a:avLst/>
          </a:prstGeom>
          <a:noFill/>
          <a:ln/>
        </p:spPr>
        <p:txBody>
          <a:bodyPr wrap="square" lIns="0" tIns="0" rIns="0" bIns="0" rtlCol="0" anchor="t"/>
          <a:lstStyle/>
          <a:p>
            <a:pPr indent="0" marL="0">
              <a:buNone/>
            </a:pPr>
            <a:r>
              <a:rPr lang="en-US" sz="1400" dirty="0">
                <a:solidFill>
                  <a:srgbClr val="BCD0DD"/>
                </a:solidFill>
                <a:latin typeface="Calibri" pitchFamily="34" charset="0"/>
                <a:ea typeface="Calibri" pitchFamily="34" charset="-122"/>
                <a:cs typeface="Calibri" pitchFamily="34" charset="-120"/>
              </a:rPr>
              <a:t>LLM writes the file</a:t>
            </a:r>
            <a:endParaRPr lang="en-US" sz="1400" dirty="0"/>
          </a:p>
        </p:txBody>
      </p:sp>
      <p:pic>
        <p:nvPicPr>
          <p:cNvPr id="10" name="Image 1" descr="preencoded.png">    </p:cNvPr>
          <p:cNvPicPr>
            <a:picLocks noChangeAspect="1"/>
          </p:cNvPicPr>
          <p:nvPr/>
        </p:nvPicPr>
        <p:blipFill>
          <a:blip r:embed="rId2"/>
          <a:stretch>
            <a:fillRect/>
          </a:stretch>
        </p:blipFill>
        <p:spPr>
          <a:xfrm>
            <a:off x="4840102" y="2194560"/>
            <a:ext cx="237744" cy="237744"/>
          </a:xfrm>
          <a:prstGeom prst="rect">
            <a:avLst/>
          </a:prstGeom>
        </p:spPr>
      </p:pic>
      <p:sp>
        <p:nvSpPr>
          <p:cNvPr id="11" name="Shape 7"/>
          <p:cNvSpPr/>
          <p:nvPr/>
        </p:nvSpPr>
        <p:spPr>
          <a:xfrm>
            <a:off x="5187574" y="1645920"/>
            <a:ext cx="1816547" cy="1417320"/>
          </a:xfrm>
          <a:prstGeom prst="roundRect">
            <a:avLst>
              <a:gd name="adj" fmla="val 6452"/>
            </a:avLst>
          </a:prstGeom>
          <a:solidFill>
            <a:srgbClr val="0E2340"/>
          </a:solidFill>
          <a:ln w="12700">
            <a:solidFill>
              <a:srgbClr val="0E2340"/>
            </a:solidFill>
            <a:prstDash val="solid"/>
          </a:ln>
        </p:spPr>
      </p:sp>
      <p:sp>
        <p:nvSpPr>
          <p:cNvPr id="12" name="Text 8"/>
          <p:cNvSpPr txBox="1"/>
          <p:nvPr/>
        </p:nvSpPr>
        <p:spPr>
          <a:xfrm>
            <a:off x="5370454" y="1783080"/>
            <a:ext cx="1450787" cy="457200"/>
          </a:xfrm>
          <a:prstGeom prst="rect">
            <a:avLst/>
          </a:prstGeom>
          <a:noFill/>
          <a:ln/>
        </p:spPr>
        <p:txBody>
          <a:bodyPr wrap="square" lIns="0" tIns="0" rIns="0" bIns="0" rtlCol="0" anchor="t"/>
          <a:lstStyle/>
          <a:p>
            <a:pPr indent="0" marL="0">
              <a:buNone/>
            </a:pPr>
            <a:r>
              <a:rPr lang="en-US" sz="2000" b="1" dirty="0">
                <a:solidFill>
                  <a:srgbClr val="EEF4F6"/>
                </a:solidFill>
                <a:latin typeface="Arial" pitchFamily="34" charset="0"/>
                <a:ea typeface="Arial" pitchFamily="34" charset="-122"/>
                <a:cs typeface="Arial" pitchFamily="34" charset="-120"/>
              </a:rPr>
              <a:t>Read</a:t>
            </a:r>
            <a:endParaRPr lang="en-US" sz="2000" dirty="0"/>
          </a:p>
        </p:txBody>
      </p:sp>
      <p:sp>
        <p:nvSpPr>
          <p:cNvPr id="13" name="Text 9"/>
          <p:cNvSpPr txBox="1"/>
          <p:nvPr/>
        </p:nvSpPr>
        <p:spPr>
          <a:xfrm>
            <a:off x="5370454" y="2286000"/>
            <a:ext cx="1450787" cy="640080"/>
          </a:xfrm>
          <a:prstGeom prst="rect">
            <a:avLst/>
          </a:prstGeom>
          <a:noFill/>
          <a:ln/>
        </p:spPr>
        <p:txBody>
          <a:bodyPr wrap="square" lIns="0" tIns="0" rIns="0" bIns="0" rtlCol="0" anchor="t"/>
          <a:lstStyle/>
          <a:p>
            <a:pPr indent="0" marL="0">
              <a:buNone/>
            </a:pPr>
            <a:r>
              <a:rPr lang="en-US" sz="1400" dirty="0">
                <a:solidFill>
                  <a:srgbClr val="BCD0DD"/>
                </a:solidFill>
                <a:latin typeface="Calibri" pitchFamily="34" charset="0"/>
                <a:ea typeface="Calibri" pitchFamily="34" charset="-122"/>
                <a:cs typeface="Calibri" pitchFamily="34" charset="-120"/>
              </a:rPr>
              <a:t>before you run it</a:t>
            </a:r>
            <a:endParaRPr lang="en-US" sz="1400" dirty="0"/>
          </a:p>
        </p:txBody>
      </p:sp>
      <p:pic>
        <p:nvPicPr>
          <p:cNvPr id="14" name="Image 2" descr="preencoded.png">    </p:cNvPr>
          <p:cNvPicPr>
            <a:picLocks noChangeAspect="1"/>
          </p:cNvPicPr>
          <p:nvPr/>
        </p:nvPicPr>
        <p:blipFill>
          <a:blip r:embed="rId3"/>
          <a:stretch>
            <a:fillRect/>
          </a:stretch>
        </p:blipFill>
        <p:spPr>
          <a:xfrm>
            <a:off x="7113849" y="2194560"/>
            <a:ext cx="237744" cy="237744"/>
          </a:xfrm>
          <a:prstGeom prst="rect">
            <a:avLst/>
          </a:prstGeom>
        </p:spPr>
      </p:pic>
      <p:sp>
        <p:nvSpPr>
          <p:cNvPr id="15" name="Shape 10"/>
          <p:cNvSpPr/>
          <p:nvPr/>
        </p:nvSpPr>
        <p:spPr>
          <a:xfrm>
            <a:off x="7461321" y="1645920"/>
            <a:ext cx="1816547" cy="1417320"/>
          </a:xfrm>
          <a:prstGeom prst="roundRect">
            <a:avLst>
              <a:gd name="adj" fmla="val 6452"/>
            </a:avLst>
          </a:prstGeom>
          <a:solidFill>
            <a:srgbClr val="0E2340"/>
          </a:solidFill>
          <a:ln w="12700">
            <a:solidFill>
              <a:srgbClr val="0E2340"/>
            </a:solidFill>
            <a:prstDash val="solid"/>
          </a:ln>
        </p:spPr>
      </p:sp>
      <p:sp>
        <p:nvSpPr>
          <p:cNvPr id="16" name="Text 11"/>
          <p:cNvSpPr txBox="1"/>
          <p:nvPr/>
        </p:nvSpPr>
        <p:spPr>
          <a:xfrm>
            <a:off x="7644201" y="1783080"/>
            <a:ext cx="1450787" cy="457200"/>
          </a:xfrm>
          <a:prstGeom prst="rect">
            <a:avLst/>
          </a:prstGeom>
          <a:noFill/>
          <a:ln/>
        </p:spPr>
        <p:txBody>
          <a:bodyPr wrap="square" lIns="0" tIns="0" rIns="0" bIns="0" rtlCol="0" anchor="t"/>
          <a:lstStyle/>
          <a:p>
            <a:pPr indent="0" marL="0">
              <a:buNone/>
            </a:pPr>
            <a:r>
              <a:rPr lang="en-US" sz="2000" b="1" dirty="0">
                <a:solidFill>
                  <a:srgbClr val="EEF4F6"/>
                </a:solidFill>
                <a:latin typeface="Arial" pitchFamily="34" charset="0"/>
                <a:ea typeface="Arial" pitchFamily="34" charset="-122"/>
                <a:cs typeface="Arial" pitchFamily="34" charset="-120"/>
              </a:rPr>
              <a:t>Run</a:t>
            </a:r>
            <a:endParaRPr lang="en-US" sz="2000" dirty="0"/>
          </a:p>
        </p:txBody>
      </p:sp>
      <p:sp>
        <p:nvSpPr>
          <p:cNvPr id="17" name="Text 12"/>
          <p:cNvSpPr txBox="1"/>
          <p:nvPr/>
        </p:nvSpPr>
        <p:spPr>
          <a:xfrm>
            <a:off x="7644201" y="2286000"/>
            <a:ext cx="1450787" cy="640080"/>
          </a:xfrm>
          <a:prstGeom prst="rect">
            <a:avLst/>
          </a:prstGeom>
          <a:noFill/>
          <a:ln/>
        </p:spPr>
        <p:txBody>
          <a:bodyPr wrap="square" lIns="0" tIns="0" rIns="0" bIns="0" rtlCol="0" anchor="t"/>
          <a:lstStyle/>
          <a:p>
            <a:pPr indent="0" marL="0">
              <a:buNone/>
            </a:pPr>
            <a:r>
              <a:rPr lang="en-US" sz="1400" dirty="0">
                <a:solidFill>
                  <a:srgbClr val="BCD0DD"/>
                </a:solidFill>
                <a:latin typeface="Calibri" pitchFamily="34" charset="0"/>
                <a:ea typeface="Calibri" pitchFamily="34" charset="-122"/>
                <a:cs typeface="Calibri" pitchFamily="34" charset="-120"/>
              </a:rPr>
              <a:t>in the terminal</a:t>
            </a:r>
            <a:endParaRPr lang="en-US" sz="1400" dirty="0"/>
          </a:p>
        </p:txBody>
      </p:sp>
      <p:pic>
        <p:nvPicPr>
          <p:cNvPr id="18" name="Image 3" descr="preencoded.png">    </p:cNvPr>
          <p:cNvPicPr>
            <a:picLocks noChangeAspect="1"/>
          </p:cNvPicPr>
          <p:nvPr/>
        </p:nvPicPr>
        <p:blipFill>
          <a:blip r:embed="rId4"/>
          <a:stretch>
            <a:fillRect/>
          </a:stretch>
        </p:blipFill>
        <p:spPr>
          <a:xfrm>
            <a:off x="9387596" y="2194560"/>
            <a:ext cx="237744" cy="237744"/>
          </a:xfrm>
          <a:prstGeom prst="rect">
            <a:avLst/>
          </a:prstGeom>
        </p:spPr>
      </p:pic>
      <p:sp>
        <p:nvSpPr>
          <p:cNvPr id="19" name="Shape 13"/>
          <p:cNvSpPr/>
          <p:nvPr/>
        </p:nvSpPr>
        <p:spPr>
          <a:xfrm>
            <a:off x="9735068" y="1645920"/>
            <a:ext cx="1816547" cy="1417320"/>
          </a:xfrm>
          <a:prstGeom prst="roundRect">
            <a:avLst>
              <a:gd name="adj" fmla="val 6452"/>
            </a:avLst>
          </a:prstGeom>
          <a:solidFill>
            <a:srgbClr val="16B3A8"/>
          </a:solidFill>
          <a:ln w="12700">
            <a:solidFill>
              <a:srgbClr val="16B3A8"/>
            </a:solidFill>
            <a:prstDash val="solid"/>
          </a:ln>
        </p:spPr>
      </p:sp>
      <p:sp>
        <p:nvSpPr>
          <p:cNvPr id="20" name="Text 14"/>
          <p:cNvSpPr txBox="1"/>
          <p:nvPr/>
        </p:nvSpPr>
        <p:spPr>
          <a:xfrm>
            <a:off x="9917948" y="1783080"/>
            <a:ext cx="1450787" cy="45720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Paste back</a:t>
            </a:r>
            <a:endParaRPr lang="en-US" sz="2000" dirty="0"/>
          </a:p>
        </p:txBody>
      </p:sp>
      <p:sp>
        <p:nvSpPr>
          <p:cNvPr id="21" name="Text 15"/>
          <p:cNvSpPr txBox="1"/>
          <p:nvPr/>
        </p:nvSpPr>
        <p:spPr>
          <a:xfrm>
            <a:off x="9917948" y="2286000"/>
            <a:ext cx="1450787" cy="640080"/>
          </a:xfrm>
          <a:prstGeom prst="rect">
            <a:avLst/>
          </a:prstGeom>
          <a:noFill/>
          <a:ln/>
        </p:spPr>
        <p:txBody>
          <a:bodyPr wrap="square" lIns="0" tIns="0" rIns="0" bIns="0" rtlCol="0" anchor="t"/>
          <a:lstStyle/>
          <a:p>
            <a:pPr indent="0" marL="0">
              <a:buNone/>
            </a:pPr>
            <a:r>
              <a:rPr lang="en-US" sz="1400" dirty="0">
                <a:solidFill>
                  <a:srgbClr val="0E2340"/>
                </a:solidFill>
                <a:latin typeface="Calibri" pitchFamily="34" charset="0"/>
                <a:ea typeface="Calibri" pitchFamily="34" charset="-122"/>
                <a:cs typeface="Calibri" pitchFamily="34" charset="-120"/>
              </a:rPr>
              <a:t>the full error</a:t>
            </a:r>
            <a:endParaRPr lang="en-US" sz="1400" dirty="0"/>
          </a:p>
        </p:txBody>
      </p:sp>
      <p:sp>
        <p:nvSpPr>
          <p:cNvPr id="22" name="Text 16"/>
          <p:cNvSpPr txBox="1"/>
          <p:nvPr/>
        </p:nvSpPr>
        <p:spPr>
          <a:xfrm>
            <a:off x="8351215" y="3154680"/>
            <a:ext cx="3200400" cy="320040"/>
          </a:xfrm>
          <a:prstGeom prst="rect">
            <a:avLst/>
          </a:prstGeom>
          <a:noFill/>
          <a:ln/>
        </p:spPr>
        <p:txBody>
          <a:bodyPr wrap="square" lIns="0" tIns="0" rIns="0" bIns="0" rtlCol="0" anchor="t"/>
          <a:lstStyle/>
          <a:p>
            <a:pPr algn="r" indent="0" marL="0">
              <a:buNone/>
            </a:pPr>
            <a:r>
              <a:rPr lang="en-US" sz="1300" i="1" dirty="0">
                <a:solidFill>
                  <a:srgbClr val="0A7A73"/>
                </a:solidFill>
                <a:latin typeface="Calibri" pitchFamily="34" charset="0"/>
                <a:ea typeface="Calibri" pitchFamily="34" charset="-122"/>
                <a:cs typeface="Calibri" pitchFamily="34" charset="-120"/>
              </a:rPr>
              <a:t>↺  then back to Generate</a:t>
            </a:r>
            <a:endParaRPr lang="en-US" sz="1300" dirty="0"/>
          </a:p>
        </p:txBody>
      </p:sp>
      <p:sp>
        <p:nvSpPr>
          <p:cNvPr id="23" name="Shape 17"/>
          <p:cNvSpPr/>
          <p:nvPr/>
        </p:nvSpPr>
        <p:spPr>
          <a:xfrm>
            <a:off x="640080" y="3749040"/>
            <a:ext cx="5295748" cy="2011680"/>
          </a:xfrm>
          <a:prstGeom prst="roundRect">
            <a:avLst>
              <a:gd name="adj" fmla="val 4545"/>
            </a:avLst>
          </a:prstGeom>
          <a:solidFill>
            <a:srgbClr val="E6EEF0"/>
          </a:solidFill>
          <a:ln w="12700">
            <a:solidFill>
              <a:srgbClr val="E6EEF0"/>
            </a:solidFill>
            <a:prstDash val="solid"/>
          </a:ln>
        </p:spPr>
      </p:sp>
      <p:sp>
        <p:nvSpPr>
          <p:cNvPr id="24" name="Text 18"/>
          <p:cNvSpPr txBox="1"/>
          <p:nvPr/>
        </p:nvSpPr>
        <p:spPr>
          <a:xfrm>
            <a:off x="960120" y="4023360"/>
            <a:ext cx="4655668" cy="45720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Paste the whole traceback</a:t>
            </a:r>
            <a:endParaRPr lang="en-US" sz="2000" dirty="0"/>
          </a:p>
        </p:txBody>
      </p:sp>
      <p:sp>
        <p:nvSpPr>
          <p:cNvPr id="25" name="Text 19"/>
          <p:cNvSpPr txBox="1"/>
          <p:nvPr/>
        </p:nvSpPr>
        <p:spPr>
          <a:xfrm>
            <a:off x="960120" y="4572000"/>
            <a:ext cx="4655668" cy="100584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“It doesn’t work” gets a guess. The last 20 lines of red text get a fix.</a:t>
            </a:r>
            <a:endParaRPr lang="en-US" sz="1600" dirty="0"/>
          </a:p>
        </p:txBody>
      </p:sp>
      <p:sp>
        <p:nvSpPr>
          <p:cNvPr id="26" name="Shape 20"/>
          <p:cNvSpPr/>
          <p:nvPr/>
        </p:nvSpPr>
        <p:spPr>
          <a:xfrm>
            <a:off x="6255868" y="3749040"/>
            <a:ext cx="5295748" cy="2011680"/>
          </a:xfrm>
          <a:prstGeom prst="roundRect">
            <a:avLst>
              <a:gd name="adj" fmla="val 4545"/>
            </a:avLst>
          </a:prstGeom>
          <a:solidFill>
            <a:srgbClr val="E6EEF0"/>
          </a:solidFill>
          <a:ln w="12700">
            <a:solidFill>
              <a:srgbClr val="E6EEF0"/>
            </a:solidFill>
            <a:prstDash val="solid"/>
          </a:ln>
        </p:spPr>
      </p:sp>
      <p:sp>
        <p:nvSpPr>
          <p:cNvPr id="27" name="Text 21"/>
          <p:cNvSpPr txBox="1"/>
          <p:nvPr/>
        </p:nvSpPr>
        <p:spPr>
          <a:xfrm>
            <a:off x="6575908" y="4023360"/>
            <a:ext cx="4655668" cy="45720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Ask “explain line 42”</a:t>
            </a:r>
            <a:endParaRPr lang="en-US" sz="2000" dirty="0"/>
          </a:p>
        </p:txBody>
      </p:sp>
      <p:sp>
        <p:nvSpPr>
          <p:cNvPr id="28" name="Text 22"/>
          <p:cNvSpPr txBox="1"/>
          <p:nvPr/>
        </p:nvSpPr>
        <p:spPr>
          <a:xfrm>
            <a:off x="6575908" y="4572000"/>
            <a:ext cx="4655668" cy="100584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If you can’t say what a block does, ask before you accept it.</a:t>
            </a:r>
            <a:endParaRPr lang="en-US" sz="1600" dirty="0"/>
          </a:p>
        </p:txBody>
      </p:sp>
      <p:sp>
        <p:nvSpPr>
          <p:cNvPr id="29" name="Text 23"/>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5B6B7C"/>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2340"/>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731520"/>
          </a:xfrm>
          <a:prstGeom prst="rect">
            <a:avLst/>
          </a:prstGeom>
          <a:noFill/>
          <a:ln/>
        </p:spPr>
        <p:txBody>
          <a:bodyPr wrap="square" lIns="0" tIns="0" rIns="0" bIns="0" rtlCol="0" anchor="ctr"/>
          <a:lstStyle/>
          <a:p>
            <a:pPr indent="0" marL="0">
              <a:buNone/>
            </a:pPr>
            <a:r>
              <a:rPr lang="en-US" sz="3400" b="1" dirty="0">
                <a:solidFill>
                  <a:srgbClr val="EEF4F6"/>
                </a:solidFill>
                <a:latin typeface="Arial" pitchFamily="34" charset="0"/>
                <a:ea typeface="Arial" pitchFamily="34" charset="-122"/>
                <a:cs typeface="Arial" pitchFamily="34" charset="-120"/>
              </a:rPr>
              <a:t>The prompt we paste into the LLM</a:t>
            </a:r>
            <a:endParaRPr lang="en-US" sz="3400" dirty="0"/>
          </a:p>
        </p:txBody>
      </p:sp>
      <p:sp>
        <p:nvSpPr>
          <p:cNvPr id="3" name="Shape 1"/>
          <p:cNvSpPr/>
          <p:nvPr/>
        </p:nvSpPr>
        <p:spPr>
          <a:xfrm>
            <a:off x="640080" y="1463040"/>
            <a:ext cx="10911535" cy="4617720"/>
          </a:xfrm>
          <a:prstGeom prst="roundRect">
            <a:avLst>
              <a:gd name="adj" fmla="val 1980"/>
            </a:avLst>
          </a:prstGeom>
          <a:solidFill>
            <a:srgbClr val="16304F"/>
          </a:solidFill>
          <a:ln w="12700">
            <a:solidFill>
              <a:srgbClr val="2C4A6E"/>
            </a:solidFill>
            <a:prstDash val="solid"/>
          </a:ln>
        </p:spPr>
      </p:sp>
      <p:sp>
        <p:nvSpPr>
          <p:cNvPr id="4" name="Text 2"/>
          <p:cNvSpPr txBox="1"/>
          <p:nvPr/>
        </p:nvSpPr>
        <p:spPr>
          <a:xfrm>
            <a:off x="1005840" y="1691640"/>
            <a:ext cx="10180015" cy="4206240"/>
          </a:xfrm>
          <a:prstGeom prst="rect">
            <a:avLst/>
          </a:prstGeom>
          <a:noFill/>
          <a:ln/>
        </p:spPr>
        <p:txBody>
          <a:bodyPr wrap="square" lIns="0" tIns="0" rIns="0" bIns="0" rtlCol="0" anchor="t"/>
          <a:lstStyle/>
          <a:p>
            <a:pPr indent="0" marL="0">
              <a:lnSpc>
                <a:spcPct val="110000"/>
              </a:lnSpc>
              <a:spcAft>
                <a:spcPts val="1000"/>
              </a:spcAft>
              <a:buNone/>
            </a:pPr>
            <a:r>
              <a:rPr lang="en-US" sz="1500" dirty="0">
                <a:solidFill>
                  <a:srgbClr val="EEF4F6"/>
                </a:solidFill>
                <a:latin typeface="Courier New" pitchFamily="34" charset="0"/>
                <a:ea typeface="Courier New" pitchFamily="34" charset="-122"/>
                <a:cs typeface="Courier New" pitchFamily="34" charset="-120"/>
              </a:rPr>
              <a:t>Write one Python 3.11 file, </a:t>
            </a:r>
            <a:pPr indent="0" marL="0">
              <a:lnSpc>
                <a:spcPct val="110000"/>
              </a:lnSpc>
              <a:spcAft>
                <a:spcPts val="1000"/>
              </a:spcAft>
              <a:buNone/>
            </a:pPr>
            <a:r>
              <a:rPr lang="en-US" sz="1500" dirty="0">
                <a:solidFill>
                  <a:srgbClr val="16B3A8"/>
                </a:solidFill>
                <a:latin typeface="Courier New" pitchFamily="34" charset="0"/>
                <a:ea typeface="Courier New" pitchFamily="34" charset="-122"/>
                <a:cs typeface="Courier New" pitchFamily="34" charset="-120"/>
              </a:rPr>
              <a:t>face_id.py</a:t>
            </a:r>
            <a:pPr indent="0" marL="0">
              <a:lnSpc>
                <a:spcPct val="110000"/>
              </a:lnSpc>
              <a:spcAft>
                <a:spcPts val="1000"/>
              </a:spcAft>
              <a:buNone/>
            </a:pPr>
            <a:r>
              <a:rPr lang="en-US" sz="1500" dirty="0">
                <a:solidFill>
                  <a:srgbClr val="EEF4F6"/>
                </a:solidFill>
                <a:latin typeface="Courier New" pitchFamily="34" charset="0"/>
                <a:ea typeface="Courier New" pitchFamily="34" charset="-122"/>
                <a:cs typeface="Courier New" pitchFamily="34" charset="-120"/>
              </a:rPr>
              <a:t>, for a laptop webcam on [Windows / macOS].</a:t>
            </a:r>
            <a:pPr indent="0" marL="0">
              <a:lnSpc>
                <a:spcPct val="110000"/>
              </a:lnSpc>
              <a:spcAft>
                <a:spcPts val="1000"/>
              </a:spcAft>
              <a:buNone/>
            </a:pPr>
            <a:endParaRPr lang="en-US" sz="1500" dirty="0"/>
          </a:p>
          <a:p>
            <a:pPr indent="0" marL="0">
              <a:lnSpc>
                <a:spcPct val="110000"/>
              </a:lnSpc>
              <a:spcAft>
                <a:spcPts val="1000"/>
              </a:spcAft>
              <a:buNone/>
            </a:pPr>
            <a:r>
              <a:rPr lang="en-US" sz="1500" dirty="0">
                <a:solidFill>
                  <a:srgbClr val="EEF4F6"/>
                </a:solidFill>
                <a:latin typeface="Courier New" pitchFamily="34" charset="0"/>
                <a:ea typeface="Courier New" pitchFamily="34" charset="-122"/>
                <a:cs typeface="Courier New" pitchFamily="34" charset="-120"/>
              </a:rPr>
              <a:t>Use </a:t>
            </a:r>
            <a:pPr indent="0" marL="0">
              <a:lnSpc>
                <a:spcPct val="110000"/>
              </a:lnSpc>
              <a:spcAft>
                <a:spcPts val="1000"/>
              </a:spcAft>
              <a:buNone/>
            </a:pPr>
            <a:r>
              <a:rPr lang="en-US" sz="1500" dirty="0">
                <a:solidFill>
                  <a:srgbClr val="16B3A8"/>
                </a:solidFill>
                <a:latin typeface="Courier New" pitchFamily="34" charset="0"/>
                <a:ea typeface="Courier New" pitchFamily="34" charset="-122"/>
                <a:cs typeface="Courier New" pitchFamily="34" charset="-120"/>
              </a:rPr>
              <a:t>insightface</a:t>
            </a:r>
            <a:pPr indent="0" marL="0">
              <a:lnSpc>
                <a:spcPct val="110000"/>
              </a:lnSpc>
              <a:spcAft>
                <a:spcPts val="1000"/>
              </a:spcAft>
              <a:buNone/>
            </a:pPr>
            <a:r>
              <a:rPr lang="en-US" sz="1500" dirty="0">
                <a:solidFill>
                  <a:srgbClr val="EEF4F6"/>
                </a:solidFill>
                <a:latin typeface="Courier New" pitchFamily="34" charset="0"/>
                <a:ea typeface="Courier New" pitchFamily="34" charset="-122"/>
                <a:cs typeface="Courier New" pitchFamily="34" charset="-120"/>
              </a:rPr>
              <a:t> (model pack </a:t>
            </a:r>
            <a:pPr indent="0" marL="0">
              <a:lnSpc>
                <a:spcPct val="110000"/>
              </a:lnSpc>
              <a:spcAft>
                <a:spcPts val="1000"/>
              </a:spcAft>
              <a:buNone/>
            </a:pPr>
            <a:r>
              <a:rPr lang="en-US" sz="1500" dirty="0">
                <a:solidFill>
                  <a:srgbClr val="16B3A8"/>
                </a:solidFill>
                <a:latin typeface="Courier New" pitchFamily="34" charset="0"/>
                <a:ea typeface="Courier New" pitchFamily="34" charset="-122"/>
                <a:cs typeface="Courier New" pitchFamily="34" charset="-120"/>
              </a:rPr>
              <a:t>buffalo_l</a:t>
            </a:r>
            <a:pPr indent="0" marL="0">
              <a:lnSpc>
                <a:spcPct val="110000"/>
              </a:lnSpc>
              <a:spcAft>
                <a:spcPts val="1000"/>
              </a:spcAft>
              <a:buNone/>
            </a:pPr>
            <a:r>
              <a:rPr lang="en-US" sz="1500" dirty="0">
                <a:solidFill>
                  <a:srgbClr val="EEF4F6"/>
                </a:solidFill>
                <a:latin typeface="Courier New" pitchFamily="34" charset="0"/>
                <a:ea typeface="Courier New" pitchFamily="34" charset="-122"/>
                <a:cs typeface="Courier New" pitchFamily="34" charset="-120"/>
              </a:rPr>
              <a:t>) on CPU with onnxruntime, plus OpenCV and NumPy.</a:t>
            </a:r>
            <a:pPr indent="0" marL="0">
              <a:lnSpc>
                <a:spcPct val="110000"/>
              </a:lnSpc>
              <a:spcAft>
                <a:spcPts val="1000"/>
              </a:spcAft>
              <a:buNone/>
            </a:pPr>
            <a:endParaRPr lang="en-US" sz="1500" dirty="0"/>
          </a:p>
          <a:p>
            <a:pPr indent="0" marL="0">
              <a:lnSpc>
                <a:spcPct val="110000"/>
              </a:lnSpc>
              <a:spcAft>
                <a:spcPts val="1000"/>
              </a:spcAft>
              <a:buNone/>
            </a:pPr>
            <a:r>
              <a:rPr lang="en-US" sz="1500" dirty="0">
                <a:solidFill>
                  <a:srgbClr val="EEF4F6"/>
                </a:solidFill>
                <a:latin typeface="Courier New" pitchFamily="34" charset="0"/>
                <a:ea typeface="Courier New" pitchFamily="34" charset="-122"/>
                <a:cs typeface="Courier New" pitchFamily="34" charset="-120"/>
              </a:rPr>
              <a:t>Mode </a:t>
            </a:r>
            <a:pPr indent="0" marL="0">
              <a:lnSpc>
                <a:spcPct val="110000"/>
              </a:lnSpc>
              <a:spcAft>
                <a:spcPts val="1000"/>
              </a:spcAft>
              <a:buNone/>
            </a:pPr>
            <a:r>
              <a:rPr lang="en-US" sz="1500" dirty="0">
                <a:solidFill>
                  <a:srgbClr val="16B3A8"/>
                </a:solidFill>
                <a:latin typeface="Courier New" pitchFamily="34" charset="0"/>
                <a:ea typeface="Courier New" pitchFamily="34" charset="-122"/>
                <a:cs typeface="Courier New" pitchFamily="34" charset="-120"/>
              </a:rPr>
              <a:t>enroll NAME</a:t>
            </a:r>
            <a:pPr indent="0" marL="0">
              <a:lnSpc>
                <a:spcPct val="110000"/>
              </a:lnSpc>
              <a:spcAft>
                <a:spcPts val="1000"/>
              </a:spcAft>
              <a:buNone/>
            </a:pPr>
            <a:r>
              <a:rPr lang="en-US" sz="1500" dirty="0">
                <a:solidFill>
                  <a:srgbClr val="EEF4F6"/>
                </a:solidFill>
                <a:latin typeface="Courier New" pitchFamily="34" charset="0"/>
                <a:ea typeface="Courier New" pitchFamily="34" charset="-122"/>
                <a:cs typeface="Courier New" pitchFamily="34" charset="-120"/>
              </a:rPr>
              <a:t>: capture 5 frames that contain exactly one face, average their normed_embedding, re-normalize to length 1, and save name → vector in faces.npz.</a:t>
            </a:r>
            <a:pPr indent="0" marL="0">
              <a:lnSpc>
                <a:spcPct val="110000"/>
              </a:lnSpc>
              <a:spcAft>
                <a:spcPts val="1000"/>
              </a:spcAft>
              <a:buNone/>
            </a:pPr>
            <a:endParaRPr lang="en-US" sz="1500" dirty="0"/>
          </a:p>
          <a:p>
            <a:pPr indent="0" marL="0">
              <a:lnSpc>
                <a:spcPct val="110000"/>
              </a:lnSpc>
              <a:spcAft>
                <a:spcPts val="1000"/>
              </a:spcAft>
              <a:buNone/>
            </a:pPr>
            <a:r>
              <a:rPr lang="en-US" sz="1500" dirty="0">
                <a:solidFill>
                  <a:srgbClr val="EEF4F6"/>
                </a:solidFill>
                <a:latin typeface="Courier New" pitchFamily="34" charset="0"/>
                <a:ea typeface="Courier New" pitchFamily="34" charset="-122"/>
                <a:cs typeface="Courier New" pitchFamily="34" charset="-120"/>
              </a:rPr>
              <a:t>Mode </a:t>
            </a:r>
            <a:pPr indent="0" marL="0">
              <a:lnSpc>
                <a:spcPct val="110000"/>
              </a:lnSpc>
              <a:spcAft>
                <a:spcPts val="1000"/>
              </a:spcAft>
              <a:buNone/>
            </a:pPr>
            <a:r>
              <a:rPr lang="en-US" sz="1500" dirty="0">
                <a:solidFill>
                  <a:srgbClr val="16B3A8"/>
                </a:solidFill>
                <a:latin typeface="Courier New" pitchFamily="34" charset="0"/>
                <a:ea typeface="Courier New" pitchFamily="34" charset="-122"/>
                <a:cs typeface="Courier New" pitchFamily="34" charset="-120"/>
              </a:rPr>
              <a:t>run</a:t>
            </a:r>
            <a:pPr indent="0" marL="0">
              <a:lnSpc>
                <a:spcPct val="110000"/>
              </a:lnSpc>
              <a:spcAft>
                <a:spcPts val="1000"/>
              </a:spcAft>
              <a:buNone/>
            </a:pPr>
            <a:r>
              <a:rPr lang="en-US" sz="1500" dirty="0">
                <a:solidFill>
                  <a:srgbClr val="EEF4F6"/>
                </a:solidFill>
                <a:latin typeface="Courier New" pitchFamily="34" charset="0"/>
                <a:ea typeface="Courier New" pitchFamily="34" charset="-122"/>
                <a:cs typeface="Courier New" pitchFamily="34" charset="-120"/>
              </a:rPr>
              <a:t>: for every frame, detect all faces, dot each embedding with every saved vector, and draw the box with the best name and score. If the best score is below </a:t>
            </a:r>
            <a:pPr indent="0" marL="0">
              <a:lnSpc>
                <a:spcPct val="110000"/>
              </a:lnSpc>
              <a:spcAft>
                <a:spcPts val="1000"/>
              </a:spcAft>
              <a:buNone/>
            </a:pPr>
            <a:r>
              <a:rPr lang="en-US" sz="1500" dirty="0">
                <a:solidFill>
                  <a:srgbClr val="16B3A8"/>
                </a:solidFill>
                <a:latin typeface="Courier New" pitchFamily="34" charset="0"/>
                <a:ea typeface="Courier New" pitchFamily="34" charset="-122"/>
                <a:cs typeface="Courier New" pitchFamily="34" charset="-120"/>
              </a:rPr>
              <a:t>THRESHOLD = 0.40</a:t>
            </a:r>
            <a:pPr indent="0" marL="0">
              <a:lnSpc>
                <a:spcPct val="110000"/>
              </a:lnSpc>
              <a:spcAft>
                <a:spcPts val="1000"/>
              </a:spcAft>
              <a:buNone/>
            </a:pPr>
            <a:r>
              <a:rPr lang="en-US" sz="1500" dirty="0">
                <a:solidFill>
                  <a:srgbClr val="EEF4F6"/>
                </a:solidFill>
                <a:latin typeface="Courier New" pitchFamily="34" charset="0"/>
                <a:ea typeface="Courier New" pitchFamily="34" charset="-122"/>
                <a:cs typeface="Courier New" pitchFamily="34" charset="-120"/>
              </a:rPr>
              <a:t>, show “Unknown”.</a:t>
            </a:r>
            <a:pPr indent="0" marL="0">
              <a:lnSpc>
                <a:spcPct val="110000"/>
              </a:lnSpc>
              <a:spcAft>
                <a:spcPts val="1000"/>
              </a:spcAft>
              <a:buNone/>
            </a:pPr>
            <a:endParaRPr lang="en-US" sz="1500" dirty="0"/>
          </a:p>
          <a:p>
            <a:pPr indent="0" marL="0">
              <a:lnSpc>
                <a:spcPct val="110000"/>
              </a:lnSpc>
              <a:spcAft>
                <a:spcPts val="1000"/>
              </a:spcAft>
              <a:buNone/>
            </a:pPr>
            <a:r>
              <a:rPr lang="en-US" sz="1500" dirty="0">
                <a:solidFill>
                  <a:srgbClr val="EEF4F6"/>
                </a:solidFill>
                <a:latin typeface="Courier New" pitchFamily="34" charset="0"/>
                <a:ea typeface="Courier New" pitchFamily="34" charset="-122"/>
                <a:cs typeface="Courier New" pitchFamily="34" charset="-120"/>
              </a:rPr>
              <a:t>Press q to quit. No network calls except the first model download. Comment every block for a beginner and list the pip install command at the top.</a:t>
            </a:r>
            <a:endParaRPr lang="en-US" sz="1500" dirty="0"/>
          </a:p>
        </p:txBody>
      </p:sp>
      <p:sp>
        <p:nvSpPr>
          <p:cNvPr id="5" name="Text 3"/>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BCD0DD"/>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6F7"/>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731520"/>
          </a:xfrm>
          <a:prstGeom prst="rect">
            <a:avLst/>
          </a:prstGeom>
          <a:noFill/>
          <a:ln/>
        </p:spPr>
        <p:txBody>
          <a:bodyPr wrap="square" lIns="0" tIns="0" rIns="0" bIns="0" rtlCol="0" anchor="ctr"/>
          <a:lstStyle/>
          <a:p>
            <a:pPr indent="0" marL="0">
              <a:buNone/>
            </a:pPr>
            <a:r>
              <a:rPr lang="en-US" sz="3400" b="1" dirty="0">
                <a:solidFill>
                  <a:srgbClr val="0E2340"/>
                </a:solidFill>
                <a:latin typeface="Arial" pitchFamily="34" charset="0"/>
                <a:ea typeface="Arial" pitchFamily="34" charset="-122"/>
                <a:cs typeface="Arial" pitchFamily="34" charset="-120"/>
              </a:rPr>
              <a:t>Six lines to find before you press Enter</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911535" cy="914400"/>
        </p:xfrm>
        <a:graphic>
          <a:graphicData uri="http://schemas.openxmlformats.org/drawingml/2006/table">
            <a:tbl>
              <a:tblPr/>
              <a:tblGrid>
                <a:gridCol w="5120640"/>
                <a:gridCol w="5790895"/>
              </a:tblGrid>
              <a:tr h="0">
                <a:tc>
                  <a:txBody>
                    <a:bodyPr/>
                    <a:lstStyle/>
                    <a:p>
                      <a:pPr indent="0" marL="0">
                        <a:buNone/>
                      </a:pPr>
                      <a:r>
                        <a:rPr lang="en-US" sz="1600" b="1" dirty="0">
                          <a:solidFill>
                            <a:srgbClr val="EEF4F6"/>
                          </a:solidFill>
                          <a:latin typeface="Arial" pitchFamily="34" charset="0"/>
                          <a:ea typeface="Arial" pitchFamily="34" charset="-122"/>
                          <a:cs typeface="Arial" pitchFamily="34" charset="-120"/>
                        </a:rPr>
                        <a:t>Look for</a:t>
                      </a:r>
                      <a:endParaRPr lang="en-US" sz="1600" dirty="0">
                        <a:latin typeface="Arial" charset="0"/>
                        <a:ea typeface="Arial" charset="0"/>
                        <a:cs typeface="Arial"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0E2340"/>
                    </a:solidFill>
                  </a:tcPr>
                </a:tc>
                <a:tc>
                  <a:txBody>
                    <a:bodyPr/>
                    <a:lstStyle/>
                    <a:p>
                      <a:pPr indent="0" marL="0">
                        <a:buNone/>
                      </a:pPr>
                      <a:r>
                        <a:rPr lang="en-US" sz="1600" b="1" dirty="0">
                          <a:solidFill>
                            <a:srgbClr val="EEF4F6"/>
                          </a:solidFill>
                          <a:latin typeface="Arial" pitchFamily="34" charset="0"/>
                          <a:ea typeface="Arial" pitchFamily="34" charset="-122"/>
                          <a:cs typeface="Arial" pitchFamily="34" charset="-120"/>
                        </a:rPr>
                        <a:t>Why it matters</a:t>
                      </a:r>
                      <a:endParaRPr lang="en-US" sz="1600" dirty="0">
                        <a:latin typeface="Arial" charset="0"/>
                        <a:ea typeface="Arial" charset="0"/>
                        <a:cs typeface="Arial"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0E2340"/>
                    </a:solidFill>
                  </a:tcPr>
                </a:tc>
              </a:tr>
              <a:tr h="0">
                <a:tc>
                  <a:txBody>
                    <a:bodyPr/>
                    <a:lstStyle/>
                    <a:p>
                      <a:pPr indent="0" marL="0">
                        <a:buNone/>
                      </a:pPr>
                      <a:r>
                        <a:rPr lang="en-US" sz="1600" dirty="0">
                          <a:solidFill>
                            <a:srgbClr val="0A7A73"/>
                          </a:solidFill>
                          <a:latin typeface="Courier New" pitchFamily="34" charset="0"/>
                          <a:ea typeface="Courier New" pitchFamily="34" charset="-122"/>
                          <a:cs typeface="Courier New" pitchFamily="34" charset="-120"/>
                        </a:rPr>
                        <a:t>FaceAnalysis(name="buffalo_l")</a:t>
                      </a:r>
                      <a:endParaRPr lang="en-US" sz="1600" dirty="0">
                        <a:latin typeface="Courier New" charset="0"/>
                        <a:ea typeface="Courier New" charset="0"/>
                        <a:cs typeface="Courier New"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c>
                  <a:txBody>
                    <a:bodyPr/>
                    <a:lstStyle/>
                    <a:p>
                      <a:pPr indent="0" marL="0">
                        <a:buNone/>
                      </a:pPr>
                      <a:r>
                        <a:rPr lang="en-US" sz="1600" dirty="0">
                          <a:solidFill>
                            <a:srgbClr val="0E2340"/>
                          </a:solidFill>
                          <a:latin typeface="Calibri" pitchFamily="34" charset="0"/>
                          <a:ea typeface="Calibri" pitchFamily="34" charset="-122"/>
                          <a:cs typeface="Calibri" pitchFamily="34" charset="-120"/>
                        </a:rPr>
                        <a:t>SCRFD + ArcFace, the pipeline from the videos</a:t>
                      </a:r>
                      <a:endParaRPr lang="en-US" sz="16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r>
              <a:tr h="0">
                <a:tc>
                  <a:txBody>
                    <a:bodyPr/>
                    <a:lstStyle/>
                    <a:p>
                      <a:pPr indent="0" marL="0">
                        <a:buNone/>
                      </a:pPr>
                      <a:r>
                        <a:rPr lang="en-US" sz="1600" dirty="0">
                          <a:solidFill>
                            <a:srgbClr val="0A7A73"/>
                          </a:solidFill>
                          <a:latin typeface="Courier New" pitchFamily="34" charset="0"/>
                          <a:ea typeface="Courier New" pitchFamily="34" charset="-122"/>
                          <a:cs typeface="Courier New" pitchFamily="34" charset="-120"/>
                        </a:rPr>
                        <a:t>app.prepare(ctx_id=-1)</a:t>
                      </a:r>
                      <a:endParaRPr lang="en-US" sz="1600" dirty="0">
                        <a:latin typeface="Courier New" charset="0"/>
                        <a:ea typeface="Courier New" charset="0"/>
                        <a:cs typeface="Courier New"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c>
                  <a:txBody>
                    <a:bodyPr/>
                    <a:lstStyle/>
                    <a:p>
                      <a:pPr indent="0" marL="0">
                        <a:buNone/>
                      </a:pPr>
                      <a:r>
                        <a:rPr lang="en-US" sz="1600" dirty="0">
                          <a:solidFill>
                            <a:srgbClr val="0E2340"/>
                          </a:solidFill>
                          <a:latin typeface="Calibri" pitchFamily="34" charset="0"/>
                          <a:ea typeface="Calibri" pitchFamily="34" charset="-122"/>
                          <a:cs typeface="Calibri" pitchFamily="34" charset="-120"/>
                        </a:rPr>
                        <a:t>−1 means CPU: no GPU needed on lab laptops</a:t>
                      </a:r>
                      <a:endParaRPr lang="en-US" sz="16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r>
              <a:tr h="0">
                <a:tc>
                  <a:txBody>
                    <a:bodyPr/>
                    <a:lstStyle/>
                    <a:p>
                      <a:pPr indent="0" marL="0">
                        <a:buNone/>
                      </a:pPr>
                      <a:r>
                        <a:rPr lang="en-US" sz="1600" dirty="0">
                          <a:solidFill>
                            <a:srgbClr val="0A7A73"/>
                          </a:solidFill>
                          <a:latin typeface="Courier New" pitchFamily="34" charset="0"/>
                          <a:ea typeface="Courier New" pitchFamily="34" charset="-122"/>
                          <a:cs typeface="Courier New" pitchFamily="34" charset="-120"/>
                        </a:rPr>
                        <a:t>face.normed_embedding</a:t>
                      </a:r>
                      <a:endParaRPr lang="en-US" sz="1600" dirty="0">
                        <a:latin typeface="Courier New" charset="0"/>
                        <a:ea typeface="Courier New" charset="0"/>
                        <a:cs typeface="Courier New"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c>
                  <a:txBody>
                    <a:bodyPr/>
                    <a:lstStyle/>
                    <a:p>
                      <a:pPr indent="0" marL="0">
                        <a:buNone/>
                      </a:pPr>
                      <a:r>
                        <a:rPr lang="en-US" sz="1600" dirty="0">
                          <a:solidFill>
                            <a:srgbClr val="0E2340"/>
                          </a:solidFill>
                          <a:latin typeface="Calibri" pitchFamily="34" charset="0"/>
                          <a:ea typeface="Calibri" pitchFamily="34" charset="-122"/>
                          <a:cs typeface="Calibri" pitchFamily="34" charset="-120"/>
                        </a:rPr>
                        <a:t>Already length 1, so the dot product is the cosine</a:t>
                      </a:r>
                      <a:endParaRPr lang="en-US" sz="16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r>
              <a:tr h="0">
                <a:tc>
                  <a:txBody>
                    <a:bodyPr/>
                    <a:lstStyle/>
                    <a:p>
                      <a:pPr indent="0" marL="0">
                        <a:buNone/>
                      </a:pPr>
                      <a:r>
                        <a:rPr lang="en-US" sz="1600" dirty="0">
                          <a:solidFill>
                            <a:srgbClr val="0A7A73"/>
                          </a:solidFill>
                          <a:latin typeface="Courier New" pitchFamily="34" charset="0"/>
                          <a:ea typeface="Courier New" pitchFamily="34" charset="-122"/>
                          <a:cs typeface="Courier New" pitchFamily="34" charset="-120"/>
                        </a:rPr>
                        <a:t>mean / np.linalg.norm(mean)</a:t>
                      </a:r>
                      <a:endParaRPr lang="en-US" sz="1600" dirty="0">
                        <a:latin typeface="Courier New" charset="0"/>
                        <a:ea typeface="Courier New" charset="0"/>
                        <a:cs typeface="Courier New"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c>
                  <a:txBody>
                    <a:bodyPr/>
                    <a:lstStyle/>
                    <a:p>
                      <a:pPr indent="0" marL="0">
                        <a:buNone/>
                      </a:pPr>
                      <a:r>
                        <a:rPr lang="en-US" sz="1600" dirty="0">
                          <a:solidFill>
                            <a:srgbClr val="0E2340"/>
                          </a:solidFill>
                          <a:latin typeface="Calibri" pitchFamily="34" charset="0"/>
                          <a:ea typeface="Calibri" pitchFamily="34" charset="-122"/>
                          <a:cs typeface="Calibri" pitchFamily="34" charset="-120"/>
                        </a:rPr>
                        <a:t>An average of unit vectors is shorter than 1</a:t>
                      </a:r>
                      <a:endParaRPr lang="en-US" sz="16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r>
              <a:tr h="0">
                <a:tc>
                  <a:txBody>
                    <a:bodyPr/>
                    <a:lstStyle/>
                    <a:p>
                      <a:pPr indent="0" marL="0">
                        <a:buNone/>
                      </a:pPr>
                      <a:r>
                        <a:rPr lang="en-US" sz="1600" dirty="0">
                          <a:solidFill>
                            <a:srgbClr val="0A7A73"/>
                          </a:solidFill>
                          <a:latin typeface="Courier New" pitchFamily="34" charset="0"/>
                          <a:ea typeface="Courier New" pitchFamily="34" charset="-122"/>
                          <a:cs typeface="Courier New" pitchFamily="34" charset="-120"/>
                        </a:rPr>
                        <a:t>THRESHOLD = 0.40</a:t>
                      </a:r>
                      <a:endParaRPr lang="en-US" sz="1600" dirty="0">
                        <a:latin typeface="Courier New" charset="0"/>
                        <a:ea typeface="Courier New" charset="0"/>
                        <a:cs typeface="Courier New"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c>
                  <a:txBody>
                    <a:bodyPr/>
                    <a:lstStyle/>
                    <a:p>
                      <a:pPr indent="0" marL="0">
                        <a:buNone/>
                      </a:pPr>
                      <a:r>
                        <a:rPr lang="en-US" sz="1600" dirty="0">
                          <a:solidFill>
                            <a:srgbClr val="0E2340"/>
                          </a:solidFill>
                          <a:latin typeface="Calibri" pitchFamily="34" charset="0"/>
                          <a:ea typeface="Calibri" pitchFamily="34" charset="-122"/>
                          <a:cs typeface="Calibri" pitchFamily="34" charset="-120"/>
                        </a:rPr>
                        <a:t>One named knob at the top, not a number buried in a loop</a:t>
                      </a:r>
                      <a:endParaRPr lang="en-US" sz="16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r>
              <a:tr h="0">
                <a:tc>
                  <a:txBody>
                    <a:bodyPr/>
                    <a:lstStyle/>
                    <a:p>
                      <a:pPr indent="0" marL="0">
                        <a:buNone/>
                      </a:pPr>
                      <a:r>
                        <a:rPr lang="en-US" sz="1600" dirty="0">
                          <a:solidFill>
                            <a:srgbClr val="0A7A73"/>
                          </a:solidFill>
                          <a:latin typeface="Courier New" pitchFamily="34" charset="0"/>
                          <a:ea typeface="Courier New" pitchFamily="34" charset="-122"/>
                          <a:cs typeface="Courier New" pitchFamily="34" charset="-120"/>
                        </a:rPr>
                        <a:t>cv2.VideoCapture(0)</a:t>
                      </a:r>
                      <a:endParaRPr lang="en-US" sz="1600" dirty="0">
                        <a:latin typeface="Courier New" charset="0"/>
                        <a:ea typeface="Courier New" charset="0"/>
                        <a:cs typeface="Courier New"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c>
                  <a:txBody>
                    <a:bodyPr/>
                    <a:lstStyle/>
                    <a:p>
                      <a:pPr indent="0" marL="0">
                        <a:buNone/>
                      </a:pPr>
                      <a:r>
                        <a:rPr lang="en-US" sz="1600" dirty="0">
                          <a:solidFill>
                            <a:srgbClr val="0E2340"/>
                          </a:solidFill>
                          <a:latin typeface="Calibri" pitchFamily="34" charset="0"/>
                          <a:ea typeface="Calibri" pitchFamily="34" charset="-122"/>
                          <a:cs typeface="Calibri" pitchFamily="34" charset="-120"/>
                        </a:rPr>
                        <a:t>Camera index: try 1 if the window is black</a:t>
                      </a:r>
                      <a:endParaRPr lang="en-US" sz="16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r>
            </a:tbl>
          </a:graphicData>
        </a:graphic>
      </p:graphicFrame>
      <p:sp>
        <p:nvSpPr>
          <p:cNvPr id="4" name="Text 1"/>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5B6B7C"/>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6EEF0"/>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731520"/>
          </a:xfrm>
          <a:prstGeom prst="rect">
            <a:avLst/>
          </a:prstGeom>
          <a:noFill/>
          <a:ln/>
        </p:spPr>
        <p:txBody>
          <a:bodyPr wrap="square" lIns="0" tIns="0" rIns="0" bIns="0" rtlCol="0" anchor="ctr"/>
          <a:lstStyle/>
          <a:p>
            <a:pPr indent="0" marL="0">
              <a:buNone/>
            </a:pPr>
            <a:r>
              <a:rPr lang="en-US" sz="3400" b="1" dirty="0">
                <a:solidFill>
                  <a:srgbClr val="0E2340"/>
                </a:solidFill>
                <a:latin typeface="Arial" pitchFamily="34" charset="0"/>
                <a:ea typeface="Arial" pitchFamily="34" charset="-122"/>
                <a:cs typeface="Arial" pitchFamily="34" charset="-120"/>
              </a:rPr>
              <a:t>What will go wrong first</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911535" cy="914400"/>
        </p:xfrm>
        <a:graphic>
          <a:graphicData uri="http://schemas.openxmlformats.org/drawingml/2006/table">
            <a:tbl>
              <a:tblPr/>
              <a:tblGrid>
                <a:gridCol w="4114800"/>
                <a:gridCol w="3108960"/>
                <a:gridCol w="3687775"/>
              </a:tblGrid>
              <a:tr h="0">
                <a:tc>
                  <a:txBody>
                    <a:bodyPr/>
                    <a:lstStyle/>
                    <a:p>
                      <a:pPr indent="0" marL="0">
                        <a:buNone/>
                      </a:pPr>
                      <a:r>
                        <a:rPr lang="en-US" sz="1500" b="1" dirty="0">
                          <a:solidFill>
                            <a:srgbClr val="EEF4F6"/>
                          </a:solidFill>
                          <a:latin typeface="Arial" pitchFamily="34" charset="0"/>
                          <a:ea typeface="Arial" pitchFamily="34" charset="-122"/>
                          <a:cs typeface="Arial" pitchFamily="34" charset="-120"/>
                        </a:rPr>
                        <a:t>You see</a:t>
                      </a:r>
                      <a:endParaRPr lang="en-US" sz="1500" dirty="0">
                        <a:latin typeface="Arial" charset="0"/>
                        <a:ea typeface="Arial" charset="0"/>
                        <a:cs typeface="Arial"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0E2340"/>
                    </a:solidFill>
                  </a:tcPr>
                </a:tc>
                <a:tc>
                  <a:txBody>
                    <a:bodyPr/>
                    <a:lstStyle/>
                    <a:p>
                      <a:pPr indent="0" marL="0">
                        <a:buNone/>
                      </a:pPr>
                      <a:r>
                        <a:rPr lang="en-US" sz="1500" b="1" dirty="0">
                          <a:solidFill>
                            <a:srgbClr val="EEF4F6"/>
                          </a:solidFill>
                          <a:latin typeface="Arial" pitchFamily="34" charset="0"/>
                          <a:ea typeface="Arial" pitchFamily="34" charset="-122"/>
                          <a:cs typeface="Arial" pitchFamily="34" charset="-120"/>
                        </a:rPr>
                        <a:t>Likely cause</a:t>
                      </a:r>
                      <a:endParaRPr lang="en-US" sz="1500" dirty="0">
                        <a:latin typeface="Arial" charset="0"/>
                        <a:ea typeface="Arial" charset="0"/>
                        <a:cs typeface="Arial"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0E2340"/>
                    </a:solidFill>
                  </a:tcPr>
                </a:tc>
                <a:tc>
                  <a:txBody>
                    <a:bodyPr/>
                    <a:lstStyle/>
                    <a:p>
                      <a:pPr indent="0" marL="0">
                        <a:buNone/>
                      </a:pPr>
                      <a:r>
                        <a:rPr lang="en-US" sz="1500" b="1" dirty="0">
                          <a:solidFill>
                            <a:srgbClr val="EEF4F6"/>
                          </a:solidFill>
                          <a:latin typeface="Arial" pitchFamily="34" charset="0"/>
                          <a:ea typeface="Arial" pitchFamily="34" charset="-122"/>
                          <a:cs typeface="Arial" pitchFamily="34" charset="-120"/>
                        </a:rPr>
                        <a:t>Try</a:t>
                      </a:r>
                      <a:endParaRPr lang="en-US" sz="1500" dirty="0">
                        <a:latin typeface="Arial" charset="0"/>
                        <a:ea typeface="Arial" charset="0"/>
                        <a:cs typeface="Arial"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0E2340"/>
                    </a:solidFill>
                  </a:tcPr>
                </a:tc>
              </a:tr>
              <a:tr h="0">
                <a:tc>
                  <a:txBody>
                    <a:bodyPr/>
                    <a:lstStyle/>
                    <a:p>
                      <a:pPr indent="0" marL="0">
                        <a:buNone/>
                      </a:pPr>
                      <a:r>
                        <a:rPr lang="en-US" sz="1500" dirty="0">
                          <a:solidFill>
                            <a:srgbClr val="0E2340"/>
                          </a:solidFill>
                          <a:latin typeface="Calibri" pitchFamily="34" charset="0"/>
                          <a:ea typeface="Calibri" pitchFamily="34" charset="-122"/>
                          <a:cs typeface="Calibri" pitchFamily="34" charset="-120"/>
                        </a:rPr>
                        <a:t>No module named 'insightface'</a:t>
                      </a:r>
                      <a:endParaRPr lang="en-US" sz="15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c>
                  <a:txBody>
                    <a:bodyPr/>
                    <a:lstStyle/>
                    <a:p>
                      <a:pPr indent="0" marL="0">
                        <a:buNone/>
                      </a:pPr>
                      <a:r>
                        <a:rPr lang="en-US" sz="1500" dirty="0">
                          <a:solidFill>
                            <a:srgbClr val="0E2340"/>
                          </a:solidFill>
                          <a:latin typeface="Calibri" pitchFamily="34" charset="0"/>
                          <a:ea typeface="Calibri" pitchFamily="34" charset="-122"/>
                          <a:cs typeface="Calibri" pitchFamily="34" charset="-120"/>
                        </a:rPr>
                        <a:t>Wrong environment</a:t>
                      </a:r>
                      <a:endParaRPr lang="en-US" sz="15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c>
                  <a:txBody>
                    <a:bodyPr/>
                    <a:lstStyle/>
                    <a:p>
                      <a:pPr indent="0" marL="0">
                        <a:buNone/>
                      </a:pPr>
                      <a:r>
                        <a:rPr lang="en-US" sz="1500" dirty="0">
                          <a:solidFill>
                            <a:srgbClr val="0E2340"/>
                          </a:solidFill>
                          <a:latin typeface="Calibri" pitchFamily="34" charset="0"/>
                          <a:ea typeface="Calibri" pitchFamily="34" charset="-122"/>
                          <a:cs typeface="Calibri" pitchFamily="34" charset="-120"/>
                        </a:rPr>
                        <a:t>pip install insightface onnxruntime opencv-python</a:t>
                      </a:r>
                      <a:endParaRPr lang="en-US" sz="15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r>
              <a:tr h="0">
                <a:tc>
                  <a:txBody>
                    <a:bodyPr/>
                    <a:lstStyle/>
                    <a:p>
                      <a:pPr indent="0" marL="0">
                        <a:buNone/>
                      </a:pPr>
                      <a:r>
                        <a:rPr lang="en-US" sz="1500" dirty="0">
                          <a:solidFill>
                            <a:srgbClr val="0E2340"/>
                          </a:solidFill>
                          <a:latin typeface="Calibri" pitchFamily="34" charset="0"/>
                          <a:ea typeface="Calibri" pitchFamily="34" charset="-122"/>
                          <a:cs typeface="Calibri" pitchFamily="34" charset="-120"/>
                        </a:rPr>
                        <a:t>Microsoft Visual C++ 14.0 is required</a:t>
                      </a:r>
                      <a:endParaRPr lang="en-US" sz="15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c>
                  <a:txBody>
                    <a:bodyPr/>
                    <a:lstStyle/>
                    <a:p>
                      <a:pPr indent="0" marL="0">
                        <a:buNone/>
                      </a:pPr>
                      <a:r>
                        <a:rPr lang="en-US" sz="1500" dirty="0">
                          <a:solidFill>
                            <a:srgbClr val="0E2340"/>
                          </a:solidFill>
                          <a:latin typeface="Calibri" pitchFamily="34" charset="0"/>
                          <a:ea typeface="Calibri" pitchFamily="34" charset="-122"/>
                          <a:cs typeface="Calibri" pitchFamily="34" charset="-120"/>
                        </a:rPr>
                        <a:t>Windows can’t compile the package</a:t>
                      </a:r>
                      <a:endParaRPr lang="en-US" sz="15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c>
                  <a:txBody>
                    <a:bodyPr/>
                    <a:lstStyle/>
                    <a:p>
                      <a:pPr indent="0" marL="0">
                        <a:buNone/>
                      </a:pPr>
                      <a:r>
                        <a:rPr lang="en-US" sz="1500" dirty="0">
                          <a:solidFill>
                            <a:srgbClr val="0E2340"/>
                          </a:solidFill>
                          <a:latin typeface="Calibri" pitchFamily="34" charset="0"/>
                          <a:ea typeface="Calibri" pitchFamily="34" charset="-122"/>
                          <a:cs typeface="Calibri" pitchFamily="34" charset="-120"/>
                        </a:rPr>
                        <a:t>Install VS Build Tools, or paste the error back</a:t>
                      </a:r>
                      <a:endParaRPr lang="en-US" sz="15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r>
              <a:tr h="0">
                <a:tc>
                  <a:txBody>
                    <a:bodyPr/>
                    <a:lstStyle/>
                    <a:p>
                      <a:pPr indent="0" marL="0">
                        <a:buNone/>
                      </a:pPr>
                      <a:r>
                        <a:rPr lang="en-US" sz="1500" dirty="0">
                          <a:solidFill>
                            <a:srgbClr val="0E2340"/>
                          </a:solidFill>
                          <a:latin typeface="Calibri" pitchFamily="34" charset="0"/>
                          <a:ea typeface="Calibri" pitchFamily="34" charset="-122"/>
                          <a:cs typeface="Calibri" pitchFamily="34" charset="-120"/>
                        </a:rPr>
                        <a:t>Black window, or frame is None</a:t>
                      </a:r>
                      <a:endParaRPr lang="en-US" sz="15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c>
                  <a:txBody>
                    <a:bodyPr/>
                    <a:lstStyle/>
                    <a:p>
                      <a:pPr indent="0" marL="0">
                        <a:buNone/>
                      </a:pPr>
                      <a:r>
                        <a:rPr lang="en-US" sz="1500" dirty="0">
                          <a:solidFill>
                            <a:srgbClr val="0E2340"/>
                          </a:solidFill>
                          <a:latin typeface="Calibri" pitchFamily="34" charset="0"/>
                          <a:ea typeface="Calibri" pitchFamily="34" charset="-122"/>
                          <a:cs typeface="Calibri" pitchFamily="34" charset="-120"/>
                        </a:rPr>
                        <a:t>Wrong camera or no permission</a:t>
                      </a:r>
                      <a:endParaRPr lang="en-US" sz="15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c>
                  <a:txBody>
                    <a:bodyPr/>
                    <a:lstStyle/>
                    <a:p>
                      <a:pPr indent="0" marL="0">
                        <a:buNone/>
                      </a:pPr>
                      <a:r>
                        <a:rPr lang="en-US" sz="1500" dirty="0">
                          <a:solidFill>
                            <a:srgbClr val="0E2340"/>
                          </a:solidFill>
                          <a:latin typeface="Calibri" pitchFamily="34" charset="0"/>
                          <a:ea typeface="Calibri" pitchFamily="34" charset="-122"/>
                          <a:cs typeface="Calibri" pitchFamily="34" charset="-120"/>
                        </a:rPr>
                        <a:t>VideoCapture(1); allow camera for Terminal</a:t>
                      </a:r>
                      <a:endParaRPr lang="en-US" sz="15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r>
              <a:tr h="0">
                <a:tc>
                  <a:txBody>
                    <a:bodyPr/>
                    <a:lstStyle/>
                    <a:p>
                      <a:pPr indent="0" marL="0">
                        <a:buNone/>
                      </a:pPr>
                      <a:r>
                        <a:rPr lang="en-US" sz="1500" dirty="0">
                          <a:solidFill>
                            <a:srgbClr val="0E2340"/>
                          </a:solidFill>
                          <a:latin typeface="Calibri" pitchFamily="34" charset="0"/>
                          <a:ea typeface="Calibri" pitchFamily="34" charset="-122"/>
                          <a:cs typeface="Calibri" pitchFamily="34" charset="-120"/>
                        </a:rPr>
                        <a:t>Everyone is “Unknown”</a:t>
                      </a:r>
                      <a:endParaRPr lang="en-US" sz="15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c>
                  <a:txBody>
                    <a:bodyPr/>
                    <a:lstStyle/>
                    <a:p>
                      <a:pPr indent="0" marL="0">
                        <a:buNone/>
                      </a:pPr>
                      <a:r>
                        <a:rPr lang="en-US" sz="1500" dirty="0">
                          <a:solidFill>
                            <a:srgbClr val="0E2340"/>
                          </a:solidFill>
                          <a:latin typeface="Calibri" pitchFamily="34" charset="0"/>
                          <a:ea typeface="Calibri" pitchFamily="34" charset="-122"/>
                          <a:cs typeface="Calibri" pitchFamily="34" charset="-120"/>
                        </a:rPr>
                        <a:t>Threshold too high, dark enrollment</a:t>
                      </a:r>
                      <a:endParaRPr lang="en-US" sz="15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c>
                  <a:txBody>
                    <a:bodyPr/>
                    <a:lstStyle/>
                    <a:p>
                      <a:pPr indent="0" marL="0">
                        <a:buNone/>
                      </a:pPr>
                      <a:r>
                        <a:rPr lang="en-US" sz="1500" dirty="0">
                          <a:solidFill>
                            <a:srgbClr val="0E2340"/>
                          </a:solidFill>
                          <a:latin typeface="Calibri" pitchFamily="34" charset="0"/>
                          <a:ea typeface="Calibri" pitchFamily="34" charset="-122"/>
                          <a:cs typeface="Calibri" pitchFamily="34" charset="-120"/>
                        </a:rPr>
                        <a:t>Print the scores; re-enroll in room light</a:t>
                      </a:r>
                      <a:endParaRPr lang="en-US" sz="15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r>
              <a:tr h="0">
                <a:tc>
                  <a:txBody>
                    <a:bodyPr/>
                    <a:lstStyle/>
                    <a:p>
                      <a:pPr indent="0" marL="0">
                        <a:buNone/>
                      </a:pPr>
                      <a:r>
                        <a:rPr lang="en-US" sz="1500" dirty="0">
                          <a:solidFill>
                            <a:srgbClr val="0E2340"/>
                          </a:solidFill>
                          <a:latin typeface="Calibri" pitchFamily="34" charset="0"/>
                          <a:ea typeface="Calibri" pitchFamily="34" charset="-122"/>
                          <a:cs typeface="Calibri" pitchFamily="34" charset="-120"/>
                        </a:rPr>
                        <a:t>Your friend is labeled as you</a:t>
                      </a:r>
                      <a:endParaRPr lang="en-US" sz="15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c>
                  <a:txBody>
                    <a:bodyPr/>
                    <a:lstStyle/>
                    <a:p>
                      <a:pPr indent="0" marL="0">
                        <a:buNone/>
                      </a:pPr>
                      <a:r>
                        <a:rPr lang="en-US" sz="1500" dirty="0">
                          <a:solidFill>
                            <a:srgbClr val="0E2340"/>
                          </a:solidFill>
                          <a:latin typeface="Calibri" pitchFamily="34" charset="0"/>
                          <a:ea typeface="Calibri" pitchFamily="34" charset="-122"/>
                          <a:cs typeface="Calibri" pitchFamily="34" charset="-120"/>
                        </a:rPr>
                        <a:t>Threshold too low</a:t>
                      </a:r>
                      <a:endParaRPr lang="en-US" sz="15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c>
                  <a:txBody>
                    <a:bodyPr/>
                    <a:lstStyle/>
                    <a:p>
                      <a:pPr indent="0" marL="0">
                        <a:buNone/>
                      </a:pPr>
                      <a:r>
                        <a:rPr lang="en-US" sz="1500" dirty="0">
                          <a:solidFill>
                            <a:srgbClr val="0E2340"/>
                          </a:solidFill>
                          <a:latin typeface="Calibri" pitchFamily="34" charset="0"/>
                          <a:ea typeface="Calibri" pitchFamily="34" charset="-122"/>
                          <a:cs typeface="Calibri" pitchFamily="34" charset="-120"/>
                        </a:rPr>
                        <a:t>Raise THRESHOLD; enroll more frames</a:t>
                      </a:r>
                      <a:endParaRPr lang="en-US" sz="15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r>
            </a:tbl>
          </a:graphicData>
        </a:graphic>
      </p:graphicFrame>
      <p:sp>
        <p:nvSpPr>
          <p:cNvPr id="4" name="Text 1"/>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5B6B7C"/>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6F7"/>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731520"/>
          </a:xfrm>
          <a:prstGeom prst="rect">
            <a:avLst/>
          </a:prstGeom>
          <a:noFill/>
          <a:ln/>
        </p:spPr>
        <p:txBody>
          <a:bodyPr wrap="square" lIns="0" tIns="0" rIns="0" bIns="0" rtlCol="0" anchor="ctr"/>
          <a:lstStyle/>
          <a:p>
            <a:pPr indent="0" marL="0">
              <a:buNone/>
            </a:pPr>
            <a:r>
              <a:rPr lang="en-US" sz="3400" b="1" dirty="0">
                <a:solidFill>
                  <a:srgbClr val="0E2340"/>
                </a:solidFill>
                <a:latin typeface="Arial" pitchFamily="34" charset="0"/>
                <a:ea typeface="Arial" pitchFamily="34" charset="-122"/>
                <a:cs typeface="Arial" pitchFamily="34" charset="-120"/>
              </a:rPr>
              <a:t>Lab: break your own recognizer</a:t>
            </a:r>
            <a:endParaRPr lang="en-US" sz="3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6766560" cy="914400"/>
        </p:xfrm>
        <a:graphic>
          <a:graphicData uri="http://schemas.openxmlformats.org/drawingml/2006/table">
            <a:tbl>
              <a:tblPr/>
              <a:tblGrid>
                <a:gridCol w="3840480"/>
                <a:gridCol w="1463040"/>
                <a:gridCol w="1463040"/>
              </a:tblGrid>
              <a:tr h="0">
                <a:tc>
                  <a:txBody>
                    <a:bodyPr/>
                    <a:lstStyle/>
                    <a:p>
                      <a:pPr indent="0" marL="0">
                        <a:buNone/>
                      </a:pPr>
                      <a:r>
                        <a:rPr lang="en-US" sz="1700" b="1" dirty="0">
                          <a:solidFill>
                            <a:srgbClr val="EEF4F6"/>
                          </a:solidFill>
                          <a:latin typeface="Arial" pitchFamily="34" charset="0"/>
                          <a:ea typeface="Arial" pitchFamily="34" charset="-122"/>
                          <a:cs typeface="Arial" pitchFamily="34" charset="-120"/>
                        </a:rPr>
                        <a:t>Condition</a:t>
                      </a:r>
                      <a:endParaRPr lang="en-US" sz="1700" dirty="0">
                        <a:latin typeface="Arial" charset="0"/>
                        <a:ea typeface="Arial" charset="0"/>
                        <a:cs typeface="Arial"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0E2340"/>
                    </a:solidFill>
                  </a:tcPr>
                </a:tc>
                <a:tc>
                  <a:txBody>
                    <a:bodyPr/>
                    <a:lstStyle/>
                    <a:p>
                      <a:pPr indent="0" marL="0">
                        <a:buNone/>
                      </a:pPr>
                      <a:r>
                        <a:rPr lang="en-US" sz="1700" b="1" dirty="0">
                          <a:solidFill>
                            <a:srgbClr val="EEF4F6"/>
                          </a:solidFill>
                          <a:latin typeface="Arial" pitchFamily="34" charset="0"/>
                          <a:ea typeface="Arial" pitchFamily="34" charset="-122"/>
                          <a:cs typeface="Arial" pitchFamily="34" charset="-120"/>
                        </a:rPr>
                        <a:t>Score</a:t>
                      </a:r>
                      <a:endParaRPr lang="en-US" sz="1700" dirty="0">
                        <a:latin typeface="Arial" charset="0"/>
                        <a:ea typeface="Arial" charset="0"/>
                        <a:cs typeface="Arial"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0E2340"/>
                    </a:solidFill>
                  </a:tcPr>
                </a:tc>
                <a:tc>
                  <a:txBody>
                    <a:bodyPr/>
                    <a:lstStyle/>
                    <a:p>
                      <a:pPr indent="0" marL="0">
                        <a:buNone/>
                      </a:pPr>
                      <a:r>
                        <a:rPr lang="en-US" sz="1700" b="1" dirty="0">
                          <a:solidFill>
                            <a:srgbClr val="EEF4F6"/>
                          </a:solidFill>
                          <a:latin typeface="Arial" pitchFamily="34" charset="0"/>
                          <a:ea typeface="Arial" pitchFamily="34" charset="-122"/>
                          <a:cs typeface="Arial" pitchFamily="34" charset="-120"/>
                        </a:rPr>
                        <a:t>Named?</a:t>
                      </a:r>
                      <a:endParaRPr lang="en-US" sz="1700" dirty="0">
                        <a:latin typeface="Arial" charset="0"/>
                        <a:ea typeface="Arial" charset="0"/>
                        <a:cs typeface="Arial"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0E2340"/>
                    </a:solidFill>
                  </a:tcPr>
                </a:tc>
              </a:tr>
              <a:tr h="0">
                <a:tc>
                  <a:txBody>
                    <a:bodyPr/>
                    <a:lstStyle/>
                    <a:p>
                      <a:pPr indent="0" marL="0">
                        <a:buNone/>
                      </a:pPr>
                      <a:r>
                        <a:rPr lang="en-US" sz="1700" dirty="0">
                          <a:solidFill>
                            <a:srgbClr val="0E2340"/>
                          </a:solidFill>
                          <a:latin typeface="Calibri" pitchFamily="34" charset="0"/>
                          <a:ea typeface="Calibri" pitchFamily="34" charset="-122"/>
                          <a:cs typeface="Calibri" pitchFamily="34" charset="-120"/>
                        </a:rPr>
                        <a:t>Straight on, room light</a:t>
                      </a: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c>
                  <a:txBody>
                    <a:bodyPr/>
                    <a:lstStyle/>
                    <a:p>
                      <a:pPr indent="0" marL="0">
                        <a:buNone/>
                      </a:pP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c>
                  <a:txBody>
                    <a:bodyPr/>
                    <a:lstStyle/>
                    <a:p>
                      <a:pPr indent="0" marL="0">
                        <a:buNone/>
                      </a:pP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r>
              <a:tr h="0">
                <a:tc>
                  <a:txBody>
                    <a:bodyPr/>
                    <a:lstStyle/>
                    <a:p>
                      <a:pPr indent="0" marL="0">
                        <a:buNone/>
                      </a:pPr>
                      <a:r>
                        <a:rPr lang="en-US" sz="1700" dirty="0">
                          <a:solidFill>
                            <a:srgbClr val="0E2340"/>
                          </a:solidFill>
                          <a:latin typeface="Calibri" pitchFamily="34" charset="0"/>
                          <a:ea typeface="Calibri" pitchFamily="34" charset="-122"/>
                          <a:cs typeface="Calibri" pitchFamily="34" charset="-120"/>
                        </a:rPr>
                        <a:t>Glasses or hat on</a:t>
                      </a: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c>
                  <a:txBody>
                    <a:bodyPr/>
                    <a:lstStyle/>
                    <a:p>
                      <a:pPr indent="0" marL="0">
                        <a:buNone/>
                      </a:pP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c>
                  <a:txBody>
                    <a:bodyPr/>
                    <a:lstStyle/>
                    <a:p>
                      <a:pPr indent="0" marL="0">
                        <a:buNone/>
                      </a:pP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r>
              <a:tr h="0">
                <a:tc>
                  <a:txBody>
                    <a:bodyPr/>
                    <a:lstStyle/>
                    <a:p>
                      <a:pPr indent="0" marL="0">
                        <a:buNone/>
                      </a:pPr>
                      <a:r>
                        <a:rPr lang="en-US" sz="1700" dirty="0">
                          <a:solidFill>
                            <a:srgbClr val="0E2340"/>
                          </a:solidFill>
                          <a:latin typeface="Calibri" pitchFamily="34" charset="0"/>
                          <a:ea typeface="Calibri" pitchFamily="34" charset="-122"/>
                          <a:cs typeface="Calibri" pitchFamily="34" charset="-120"/>
                        </a:rPr>
                        <a:t>Head turned about 45°</a:t>
                      </a: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c>
                  <a:txBody>
                    <a:bodyPr/>
                    <a:lstStyle/>
                    <a:p>
                      <a:pPr indent="0" marL="0">
                        <a:buNone/>
                      </a:pP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c>
                  <a:txBody>
                    <a:bodyPr/>
                    <a:lstStyle/>
                    <a:p>
                      <a:pPr indent="0" marL="0">
                        <a:buNone/>
                      </a:pP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r>
              <a:tr h="0">
                <a:tc>
                  <a:txBody>
                    <a:bodyPr/>
                    <a:lstStyle/>
                    <a:p>
                      <a:pPr indent="0" marL="0">
                        <a:buNone/>
                      </a:pPr>
                      <a:r>
                        <a:rPr lang="en-US" sz="1700" dirty="0">
                          <a:solidFill>
                            <a:srgbClr val="0E2340"/>
                          </a:solidFill>
                          <a:latin typeface="Calibri" pitchFamily="34" charset="0"/>
                          <a:ea typeface="Calibri" pitchFamily="34" charset="-122"/>
                          <a:cs typeface="Calibri" pitchFamily="34" charset="-120"/>
                        </a:rPr>
                        <a:t>Lights dimmed</a:t>
                      </a: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c>
                  <a:txBody>
                    <a:bodyPr/>
                    <a:lstStyle/>
                    <a:p>
                      <a:pPr indent="0" marL="0">
                        <a:buNone/>
                      </a:pP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c>
                  <a:txBody>
                    <a:bodyPr/>
                    <a:lstStyle/>
                    <a:p>
                      <a:pPr indent="0" marL="0">
                        <a:buNone/>
                      </a:pP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r>
              <a:tr h="0">
                <a:tc>
                  <a:txBody>
                    <a:bodyPr/>
                    <a:lstStyle/>
                    <a:p>
                      <a:pPr indent="0" marL="0">
                        <a:buNone/>
                      </a:pPr>
                      <a:r>
                        <a:rPr lang="en-US" sz="1700" dirty="0">
                          <a:solidFill>
                            <a:srgbClr val="0E2340"/>
                          </a:solidFill>
                          <a:latin typeface="Calibri" pitchFamily="34" charset="0"/>
                          <a:ea typeface="Calibri" pitchFamily="34" charset="-122"/>
                          <a:cs typeface="Calibri" pitchFamily="34" charset="-120"/>
                        </a:rPr>
                        <a:t>Your photo on a phone screen</a:t>
                      </a: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c>
                  <a:txBody>
                    <a:bodyPr/>
                    <a:lstStyle/>
                    <a:p>
                      <a:pPr indent="0" marL="0">
                        <a:buNone/>
                      </a:pP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c>
                  <a:txBody>
                    <a:bodyPr/>
                    <a:lstStyle/>
                    <a:p>
                      <a:pPr indent="0" marL="0">
                        <a:buNone/>
                      </a:pP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FBFCFC"/>
                    </a:solidFill>
                  </a:tcPr>
                </a:tc>
              </a:tr>
              <a:tr h="0">
                <a:tc>
                  <a:txBody>
                    <a:bodyPr/>
                    <a:lstStyle/>
                    <a:p>
                      <a:pPr indent="0" marL="0">
                        <a:buNone/>
                      </a:pPr>
                      <a:r>
                        <a:rPr lang="en-US" sz="1700" dirty="0">
                          <a:solidFill>
                            <a:srgbClr val="0E2340"/>
                          </a:solidFill>
                          <a:latin typeface="Calibri" pitchFamily="34" charset="0"/>
                          <a:ea typeface="Calibri" pitchFamily="34" charset="-122"/>
                          <a:cs typeface="Calibri" pitchFamily="34" charset="-120"/>
                        </a:rPr>
                        <a:t>A classmate (with consent)</a:t>
                      </a: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c>
                  <a:txBody>
                    <a:bodyPr/>
                    <a:lstStyle/>
                    <a:p>
                      <a:pPr indent="0" marL="0">
                        <a:buNone/>
                      </a:pP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c>
                  <a:txBody>
                    <a:bodyPr/>
                    <a:lstStyle/>
                    <a:p>
                      <a:pPr indent="0" marL="0">
                        <a:buNone/>
                      </a:pPr>
                      <a:endParaRPr lang="en-US" sz="1700" dirty="0">
                        <a:latin typeface="Calibri" charset="0"/>
                        <a:ea typeface="Calibri" charset="0"/>
                        <a:cs typeface="Calibri" charset="0"/>
                      </a:endParaRPr>
                    </a:p>
                  </a:txBody>
                  <a:tcPr marL="128016" marR="128016" marT="73152" marB="73152" anchor="ctr">
                    <a:lnL w="9525" cap="flat" cmpd="sng" algn="ctr">
                      <a:solidFill>
                        <a:srgbClr val="D5DFE3"/>
                      </a:solidFill>
                      <a:prstDash val="solid"/>
                      <a:round/>
                      <a:headEnd type="none" w="med" len="med"/>
                      <a:tailEnd type="none" w="med" len="med"/>
                    </a:lnL>
                    <a:lnR w="9525" cap="flat" cmpd="sng" algn="ctr">
                      <a:solidFill>
                        <a:srgbClr val="D5DFE3"/>
                      </a:solidFill>
                      <a:prstDash val="solid"/>
                      <a:round/>
                      <a:headEnd type="none" w="med" len="med"/>
                      <a:tailEnd type="none" w="med" len="med"/>
                    </a:lnR>
                    <a:lnT w="9525" cap="flat" cmpd="sng" algn="ctr">
                      <a:solidFill>
                        <a:srgbClr val="D5DFE3"/>
                      </a:solidFill>
                      <a:prstDash val="solid"/>
                      <a:round/>
                      <a:headEnd type="none" w="med" len="med"/>
                      <a:tailEnd type="none" w="med" len="med"/>
                    </a:lnT>
                    <a:lnB w="9525" cap="flat" cmpd="sng" algn="ctr">
                      <a:solidFill>
                        <a:srgbClr val="D5DFE3"/>
                      </a:solidFill>
                      <a:prstDash val="solid"/>
                      <a:round/>
                      <a:headEnd type="none" w="med" len="med"/>
                      <a:tailEnd type="none" w="med" len="med"/>
                    </a:lnB>
                    <a:solidFill>
                      <a:srgbClr val="E6EEF0"/>
                    </a:solidFill>
                  </a:tcPr>
                </a:tc>
              </a:tr>
            </a:tbl>
          </a:graphicData>
        </a:graphic>
      </p:graphicFrame>
      <p:sp>
        <p:nvSpPr>
          <p:cNvPr id="4" name="Shape 1"/>
          <p:cNvSpPr/>
          <p:nvPr/>
        </p:nvSpPr>
        <p:spPr>
          <a:xfrm>
            <a:off x="7863840" y="1554480"/>
            <a:ext cx="3687775" cy="2926080"/>
          </a:xfrm>
          <a:prstGeom prst="roundRect">
            <a:avLst>
              <a:gd name="adj" fmla="val 3125"/>
            </a:avLst>
          </a:prstGeom>
          <a:solidFill>
            <a:srgbClr val="E6EEF0"/>
          </a:solidFill>
          <a:ln w="12700">
            <a:solidFill>
              <a:srgbClr val="E6EEF0"/>
            </a:solidFill>
            <a:prstDash val="solid"/>
          </a:ln>
        </p:spPr>
      </p:sp>
      <p:sp>
        <p:nvSpPr>
          <p:cNvPr id="5" name="Text 2"/>
          <p:cNvSpPr txBox="1"/>
          <p:nvPr/>
        </p:nvSpPr>
        <p:spPr>
          <a:xfrm>
            <a:off x="8183880" y="1828800"/>
            <a:ext cx="3017520" cy="457200"/>
          </a:xfrm>
          <a:prstGeom prst="rect">
            <a:avLst/>
          </a:prstGeom>
          <a:noFill/>
          <a:ln/>
        </p:spPr>
        <p:txBody>
          <a:bodyPr wrap="square" lIns="0" tIns="0" rIns="0" bIns="0" rtlCol="0" anchor="t"/>
          <a:lstStyle/>
          <a:p>
            <a:pPr indent="0" marL="0">
              <a:buNone/>
            </a:pPr>
            <a:r>
              <a:rPr lang="en-US" sz="2000" b="1" dirty="0">
                <a:solidFill>
                  <a:srgbClr val="0E2340"/>
                </a:solidFill>
                <a:latin typeface="Arial" pitchFamily="34" charset="0"/>
                <a:ea typeface="Arial" pitchFamily="34" charset="-122"/>
                <a:cs typeface="Arial" pitchFamily="34" charset="-120"/>
              </a:rPr>
              <a:t>Then decide</a:t>
            </a:r>
            <a:endParaRPr lang="en-US" sz="2000" dirty="0"/>
          </a:p>
        </p:txBody>
      </p:sp>
      <p:sp>
        <p:nvSpPr>
          <p:cNvPr id="6" name="Text 3"/>
          <p:cNvSpPr txBox="1"/>
          <p:nvPr/>
        </p:nvSpPr>
        <p:spPr>
          <a:xfrm>
            <a:off x="8183880" y="2377440"/>
            <a:ext cx="3017520" cy="1920240"/>
          </a:xfrm>
          <a:prstGeom prst="rect">
            <a:avLst/>
          </a:prstGeom>
          <a:noFill/>
          <a:ln/>
        </p:spPr>
        <p:txBody>
          <a:bodyPr wrap="square" lIns="0" tIns="0" rIns="0" bIns="0" rtlCol="0" anchor="t"/>
          <a:lstStyle/>
          <a:p>
            <a:pPr indent="0" marL="0">
              <a:buNone/>
            </a:pPr>
            <a:r>
              <a:rPr lang="en-US" sz="1600" dirty="0">
                <a:solidFill>
                  <a:srgbClr val="3D4F63"/>
                </a:solidFill>
                <a:latin typeface="Calibri" pitchFamily="34" charset="0"/>
                <a:ea typeface="Calibri" pitchFamily="34" charset="-122"/>
                <a:cs typeface="Calibri" pitchFamily="34" charset="-120"/>
              </a:rPr>
              <a:t>Pick the THRESHOLD that names you in rows 1–4 and never names your classmate. Write down why.</a:t>
            </a:r>
            <a:endParaRPr lang="en-US" sz="1600" dirty="0"/>
          </a:p>
        </p:txBody>
      </p:sp>
      <p:sp>
        <p:nvSpPr>
          <p:cNvPr id="7" name="Text 4"/>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5B6B7C"/>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2340"/>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731520"/>
          </a:xfrm>
          <a:prstGeom prst="rect">
            <a:avLst/>
          </a:prstGeom>
          <a:noFill/>
          <a:ln/>
        </p:spPr>
        <p:txBody>
          <a:bodyPr wrap="square" lIns="0" tIns="0" rIns="0" bIns="0" rtlCol="0" anchor="ctr"/>
          <a:lstStyle/>
          <a:p>
            <a:pPr indent="0" marL="0">
              <a:buNone/>
            </a:pPr>
            <a:r>
              <a:rPr lang="en-US" sz="3400" b="1" dirty="0">
                <a:solidFill>
                  <a:srgbClr val="EEF4F6"/>
                </a:solidFill>
                <a:latin typeface="Arial" pitchFamily="34" charset="0"/>
                <a:ea typeface="Arial" pitchFamily="34" charset="-122"/>
                <a:cs typeface="Arial" pitchFamily="34" charset="-120"/>
              </a:rPr>
              <a:t>faces.npz is biometric data. Treat it that way.</a:t>
            </a:r>
            <a:endParaRPr lang="en-US" sz="3400" dirty="0"/>
          </a:p>
        </p:txBody>
      </p:sp>
      <p:sp>
        <p:nvSpPr>
          <p:cNvPr id="3" name="Shape 1"/>
          <p:cNvSpPr/>
          <p:nvPr/>
        </p:nvSpPr>
        <p:spPr>
          <a:xfrm>
            <a:off x="640080" y="1600200"/>
            <a:ext cx="3423818" cy="3383280"/>
          </a:xfrm>
          <a:prstGeom prst="roundRect">
            <a:avLst>
              <a:gd name="adj" fmla="val 2703"/>
            </a:avLst>
          </a:prstGeom>
          <a:solidFill>
            <a:srgbClr val="16304F"/>
          </a:solidFill>
          <a:ln w="12700">
            <a:solidFill>
              <a:srgbClr val="2C4A6E"/>
            </a:solidFill>
            <a:prstDash val="solid"/>
          </a:ln>
        </p:spPr>
      </p:sp>
      <p:pic>
        <p:nvPicPr>
          <p:cNvPr id="4" name="Image 0" descr="preencoded.png">    </p:cNvPr>
          <p:cNvPicPr>
            <a:picLocks noChangeAspect="1"/>
          </p:cNvPicPr>
          <p:nvPr/>
        </p:nvPicPr>
        <p:blipFill>
          <a:blip r:embed="rId1"/>
          <a:stretch>
            <a:fillRect/>
          </a:stretch>
        </p:blipFill>
        <p:spPr>
          <a:xfrm>
            <a:off x="960120" y="1920240"/>
            <a:ext cx="502920" cy="502920"/>
          </a:xfrm>
          <a:prstGeom prst="rect">
            <a:avLst/>
          </a:prstGeom>
        </p:spPr>
      </p:pic>
      <p:sp>
        <p:nvSpPr>
          <p:cNvPr id="5" name="Text 2"/>
          <p:cNvSpPr txBox="1"/>
          <p:nvPr/>
        </p:nvSpPr>
        <p:spPr>
          <a:xfrm>
            <a:off x="960120" y="2651760"/>
            <a:ext cx="2783738" cy="457200"/>
          </a:xfrm>
          <a:prstGeom prst="rect">
            <a:avLst/>
          </a:prstGeom>
          <a:noFill/>
          <a:ln/>
        </p:spPr>
        <p:txBody>
          <a:bodyPr wrap="square" lIns="0" tIns="0" rIns="0" bIns="0" rtlCol="0" anchor="t"/>
          <a:lstStyle/>
          <a:p>
            <a:pPr indent="0" marL="0">
              <a:buNone/>
            </a:pPr>
            <a:r>
              <a:rPr lang="en-US" sz="2000" b="1" dirty="0">
                <a:solidFill>
                  <a:srgbClr val="EEF4F6"/>
                </a:solidFill>
                <a:latin typeface="Arial" pitchFamily="34" charset="0"/>
                <a:ea typeface="Arial" pitchFamily="34" charset="-122"/>
                <a:cs typeface="Arial" pitchFamily="34" charset="-120"/>
              </a:rPr>
              <a:t>Enroll only a yes</a:t>
            </a:r>
            <a:endParaRPr lang="en-US" sz="2000" dirty="0"/>
          </a:p>
        </p:txBody>
      </p:sp>
      <p:sp>
        <p:nvSpPr>
          <p:cNvPr id="6" name="Text 3"/>
          <p:cNvSpPr txBox="1"/>
          <p:nvPr/>
        </p:nvSpPr>
        <p:spPr>
          <a:xfrm>
            <a:off x="960120" y="3200400"/>
            <a:ext cx="2783738" cy="1554480"/>
          </a:xfrm>
          <a:prstGeom prst="rect">
            <a:avLst/>
          </a:prstGeom>
          <a:noFill/>
          <a:ln/>
        </p:spPr>
        <p:txBody>
          <a:bodyPr wrap="square" lIns="0" tIns="0" rIns="0" bIns="0" rtlCol="0" anchor="t"/>
          <a:lstStyle/>
          <a:p>
            <a:pPr indent="0" marL="0">
              <a:buNone/>
            </a:pPr>
            <a:r>
              <a:rPr lang="en-US" sz="1600" dirty="0">
                <a:solidFill>
                  <a:srgbClr val="BCD0DD"/>
                </a:solidFill>
                <a:latin typeface="Calibri" pitchFamily="34" charset="0"/>
                <a:ea typeface="Calibri" pitchFamily="34" charset="-122"/>
                <a:cs typeface="Calibri" pitchFamily="34" charset="-120"/>
              </a:rPr>
              <a:t>Yourself, or a classmate who agreed out loud. Never a photo of someone from the internet.</a:t>
            </a:r>
            <a:endParaRPr lang="en-US" sz="1600" dirty="0"/>
          </a:p>
        </p:txBody>
      </p:sp>
      <p:sp>
        <p:nvSpPr>
          <p:cNvPr id="7" name="Shape 4"/>
          <p:cNvSpPr/>
          <p:nvPr/>
        </p:nvSpPr>
        <p:spPr>
          <a:xfrm>
            <a:off x="4383938" y="1600200"/>
            <a:ext cx="3423818" cy="3383280"/>
          </a:xfrm>
          <a:prstGeom prst="roundRect">
            <a:avLst>
              <a:gd name="adj" fmla="val 2703"/>
            </a:avLst>
          </a:prstGeom>
          <a:solidFill>
            <a:srgbClr val="16304F"/>
          </a:solidFill>
          <a:ln w="12700">
            <a:solidFill>
              <a:srgbClr val="2C4A6E"/>
            </a:solidFill>
            <a:prstDash val="solid"/>
          </a:ln>
        </p:spPr>
      </p:sp>
      <p:pic>
        <p:nvPicPr>
          <p:cNvPr id="8" name="Image 1" descr="preencoded.png">    </p:cNvPr>
          <p:cNvPicPr>
            <a:picLocks noChangeAspect="1"/>
          </p:cNvPicPr>
          <p:nvPr/>
        </p:nvPicPr>
        <p:blipFill>
          <a:blip r:embed="rId2"/>
          <a:stretch>
            <a:fillRect/>
          </a:stretch>
        </p:blipFill>
        <p:spPr>
          <a:xfrm>
            <a:off x="4703978" y="1920240"/>
            <a:ext cx="502920" cy="502920"/>
          </a:xfrm>
          <a:prstGeom prst="rect">
            <a:avLst/>
          </a:prstGeom>
        </p:spPr>
      </p:pic>
      <p:sp>
        <p:nvSpPr>
          <p:cNvPr id="9" name="Text 5"/>
          <p:cNvSpPr txBox="1"/>
          <p:nvPr/>
        </p:nvSpPr>
        <p:spPr>
          <a:xfrm>
            <a:off x="4703978" y="2651760"/>
            <a:ext cx="2783738" cy="457200"/>
          </a:xfrm>
          <a:prstGeom prst="rect">
            <a:avLst/>
          </a:prstGeom>
          <a:noFill/>
          <a:ln/>
        </p:spPr>
        <p:txBody>
          <a:bodyPr wrap="square" lIns="0" tIns="0" rIns="0" bIns="0" rtlCol="0" anchor="t"/>
          <a:lstStyle/>
          <a:p>
            <a:pPr indent="0" marL="0">
              <a:buNone/>
            </a:pPr>
            <a:r>
              <a:rPr lang="en-US" sz="2000" b="1" dirty="0">
                <a:solidFill>
                  <a:srgbClr val="EEF4F6"/>
                </a:solidFill>
                <a:latin typeface="Arial" pitchFamily="34" charset="0"/>
                <a:ea typeface="Arial" pitchFamily="34" charset="-122"/>
                <a:cs typeface="Arial" pitchFamily="34" charset="-120"/>
              </a:rPr>
              <a:t>Keep it local</a:t>
            </a:r>
            <a:endParaRPr lang="en-US" sz="2000" dirty="0"/>
          </a:p>
        </p:txBody>
      </p:sp>
      <p:sp>
        <p:nvSpPr>
          <p:cNvPr id="10" name="Text 6"/>
          <p:cNvSpPr txBox="1"/>
          <p:nvPr/>
        </p:nvSpPr>
        <p:spPr>
          <a:xfrm>
            <a:off x="4703978" y="3200400"/>
            <a:ext cx="2783738" cy="1554480"/>
          </a:xfrm>
          <a:prstGeom prst="rect">
            <a:avLst/>
          </a:prstGeom>
          <a:noFill/>
          <a:ln/>
        </p:spPr>
        <p:txBody>
          <a:bodyPr wrap="square" lIns="0" tIns="0" rIns="0" bIns="0" rtlCol="0" anchor="t"/>
          <a:lstStyle/>
          <a:p>
            <a:pPr indent="0" marL="0">
              <a:buNone/>
            </a:pPr>
            <a:r>
              <a:rPr lang="en-US" sz="1600" dirty="0">
                <a:solidFill>
                  <a:srgbClr val="BCD0DD"/>
                </a:solidFill>
                <a:latin typeface="Calibri" pitchFamily="34" charset="0"/>
                <a:ea typeface="Calibri" pitchFamily="34" charset="-122"/>
                <a:cs typeface="Calibri" pitchFamily="34" charset="-120"/>
              </a:rPr>
              <a:t>Not on GitHub, Drive or Canvas. Add faces.npz to .gitignore.</a:t>
            </a:r>
            <a:endParaRPr lang="en-US" sz="1600" dirty="0"/>
          </a:p>
        </p:txBody>
      </p:sp>
      <p:sp>
        <p:nvSpPr>
          <p:cNvPr id="11" name="Shape 7"/>
          <p:cNvSpPr/>
          <p:nvPr/>
        </p:nvSpPr>
        <p:spPr>
          <a:xfrm>
            <a:off x="8127797" y="1600200"/>
            <a:ext cx="3423818" cy="3383280"/>
          </a:xfrm>
          <a:prstGeom prst="roundRect">
            <a:avLst>
              <a:gd name="adj" fmla="val 2703"/>
            </a:avLst>
          </a:prstGeom>
          <a:solidFill>
            <a:srgbClr val="16304F"/>
          </a:solidFill>
          <a:ln w="12700">
            <a:solidFill>
              <a:srgbClr val="2C4A6E"/>
            </a:solidFill>
            <a:prstDash val="solid"/>
          </a:ln>
        </p:spPr>
      </p:sp>
      <p:pic>
        <p:nvPicPr>
          <p:cNvPr id="12" name="Image 2" descr="preencoded.png">    </p:cNvPr>
          <p:cNvPicPr>
            <a:picLocks noChangeAspect="1"/>
          </p:cNvPicPr>
          <p:nvPr/>
        </p:nvPicPr>
        <p:blipFill>
          <a:blip r:embed="rId3"/>
          <a:stretch>
            <a:fillRect/>
          </a:stretch>
        </p:blipFill>
        <p:spPr>
          <a:xfrm>
            <a:off x="8447837" y="1920240"/>
            <a:ext cx="502920" cy="502920"/>
          </a:xfrm>
          <a:prstGeom prst="rect">
            <a:avLst/>
          </a:prstGeom>
        </p:spPr>
      </p:pic>
      <p:sp>
        <p:nvSpPr>
          <p:cNvPr id="13" name="Text 8"/>
          <p:cNvSpPr txBox="1"/>
          <p:nvPr/>
        </p:nvSpPr>
        <p:spPr>
          <a:xfrm>
            <a:off x="8447837" y="2651760"/>
            <a:ext cx="2783738" cy="457200"/>
          </a:xfrm>
          <a:prstGeom prst="rect">
            <a:avLst/>
          </a:prstGeom>
          <a:noFill/>
          <a:ln/>
        </p:spPr>
        <p:txBody>
          <a:bodyPr wrap="square" lIns="0" tIns="0" rIns="0" bIns="0" rtlCol="0" anchor="t"/>
          <a:lstStyle/>
          <a:p>
            <a:pPr indent="0" marL="0">
              <a:buNone/>
            </a:pPr>
            <a:r>
              <a:rPr lang="en-US" sz="2000" b="1" dirty="0">
                <a:solidFill>
                  <a:srgbClr val="EEF4F6"/>
                </a:solidFill>
                <a:latin typeface="Arial" pitchFamily="34" charset="0"/>
                <a:ea typeface="Arial" pitchFamily="34" charset="-122"/>
                <a:cs typeface="Arial" pitchFamily="34" charset="-120"/>
              </a:rPr>
              <a:t>It is not a lock</a:t>
            </a:r>
            <a:endParaRPr lang="en-US" sz="2000" dirty="0"/>
          </a:p>
        </p:txBody>
      </p:sp>
      <p:sp>
        <p:nvSpPr>
          <p:cNvPr id="14" name="Text 9"/>
          <p:cNvSpPr txBox="1"/>
          <p:nvPr/>
        </p:nvSpPr>
        <p:spPr>
          <a:xfrm>
            <a:off x="8447837" y="3200400"/>
            <a:ext cx="2783738" cy="1554480"/>
          </a:xfrm>
          <a:prstGeom prst="rect">
            <a:avLst/>
          </a:prstGeom>
          <a:noFill/>
          <a:ln/>
        </p:spPr>
        <p:txBody>
          <a:bodyPr wrap="square" lIns="0" tIns="0" rIns="0" bIns="0" rtlCol="0" anchor="t"/>
          <a:lstStyle/>
          <a:p>
            <a:pPr indent="0" marL="0">
              <a:buNone/>
            </a:pPr>
            <a:r>
              <a:rPr lang="en-US" sz="1600" dirty="0">
                <a:solidFill>
                  <a:srgbClr val="BCD0DD"/>
                </a:solidFill>
                <a:latin typeface="Calibri" pitchFamily="34" charset="0"/>
                <a:ea typeface="Calibri" pitchFamily="34" charset="-122"/>
                <a:cs typeface="Calibri" pitchFamily="34" charset="-120"/>
              </a:rPr>
              <a:t>A phone photo can fool it. Never use it to secure anything real.</a:t>
            </a:r>
            <a:endParaRPr lang="en-US" sz="1600" dirty="0"/>
          </a:p>
        </p:txBody>
      </p:sp>
      <p:sp>
        <p:nvSpPr>
          <p:cNvPr id="15" name="Text 10"/>
          <p:cNvSpPr txBox="1"/>
          <p:nvPr/>
        </p:nvSpPr>
        <p:spPr>
          <a:xfrm>
            <a:off x="640080" y="5349240"/>
            <a:ext cx="10911535" cy="457200"/>
          </a:xfrm>
          <a:prstGeom prst="rect">
            <a:avLst/>
          </a:prstGeom>
          <a:noFill/>
          <a:ln/>
        </p:spPr>
        <p:txBody>
          <a:bodyPr wrap="square" lIns="0" tIns="0" rIns="0" bIns="0" rtlCol="0" anchor="t"/>
          <a:lstStyle/>
          <a:p>
            <a:pPr indent="0" marL="0">
              <a:buNone/>
            </a:pPr>
            <a:r>
              <a:rPr lang="en-US" sz="2000" b="1" dirty="0">
                <a:solidFill>
                  <a:srgbClr val="EEF4F6"/>
                </a:solidFill>
                <a:latin typeface="Calibri" pitchFamily="34" charset="0"/>
                <a:ea typeface="Calibri" pitchFamily="34" charset="-122"/>
                <a:cs typeface="Calibri" pitchFamily="34" charset="-120"/>
              </a:rPr>
              <a:t>Before you leave: delete faces.npz.</a:t>
            </a:r>
            <a:endParaRPr lang="en-US" sz="2000" dirty="0"/>
          </a:p>
        </p:txBody>
      </p:sp>
      <p:sp>
        <p:nvSpPr>
          <p:cNvPr id="16" name="Text 11"/>
          <p:cNvSpPr txBox="1"/>
          <p:nvPr/>
        </p:nvSpPr>
        <p:spPr>
          <a:xfrm>
            <a:off x="640080" y="6355080"/>
            <a:ext cx="7315200" cy="274320"/>
          </a:xfrm>
          <a:prstGeom prst="rect">
            <a:avLst/>
          </a:prstGeom>
          <a:noFill/>
          <a:ln/>
        </p:spPr>
        <p:txBody>
          <a:bodyPr wrap="square" lIns="0" tIns="0" rIns="0" bIns="0" rtlCol="0" anchor="t"/>
          <a:lstStyle/>
          <a:p>
            <a:pPr indent="0" marL="0">
              <a:buNone/>
            </a:pPr>
            <a:r>
              <a:rPr lang="en-US" sz="1100" dirty="0">
                <a:solidFill>
                  <a:srgbClr val="BCD0DD"/>
                </a:solidFill>
                <a:latin typeface="Calibri" pitchFamily="34" charset="0"/>
                <a:ea typeface="Calibri" pitchFamily="34" charset="-122"/>
                <a:cs typeface="Calibri" pitchFamily="34" charset="-120"/>
              </a:rPr>
              <a:t>ENGR-126 · Face recognition by vibe coding</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6F7"/>
        </a:solidFill>
      </p:bgPr>
    </p:bg>
    <p:spTree>
      <p:nvGrpSpPr>
        <p:cNvPr id="1" name=""/>
        <p:cNvGrpSpPr/>
        <p:nvPr/>
      </p:nvGrpSpPr>
      <p:grpSpPr>
        <a:xfrm>
          <a:off x="0" y="0"/>
          <a:ext cx="0" cy="0"/>
          <a:chOff x="0" y="0"/>
          <a:chExt cx="0" cy="0"/>
        </a:xfrm>
      </p:grpSpPr>
      <p:sp>
        <p:nvSpPr>
          <p:cNvPr id="2" name="Text 0"/>
          <p:cNvSpPr txBox="1"/>
          <p:nvPr/>
        </p:nvSpPr>
        <p:spPr>
          <a:xfrm>
            <a:off x="640080" y="731520"/>
            <a:ext cx="10911535" cy="2194560"/>
          </a:xfrm>
          <a:prstGeom prst="rect">
            <a:avLst/>
          </a:prstGeom>
          <a:noFill/>
          <a:ln/>
        </p:spPr>
        <p:txBody>
          <a:bodyPr wrap="square" lIns="0" tIns="0" rIns="0" bIns="0" rtlCol="0" anchor="t"/>
          <a:lstStyle/>
          <a:p>
            <a:pPr indent="0" marL="0">
              <a:buNone/>
            </a:pPr>
            <a:r>
              <a:rPr lang="en-US" sz="5400" b="1" dirty="0">
                <a:solidFill>
                  <a:srgbClr val="0E2340"/>
                </a:solidFill>
                <a:latin typeface="Arial" pitchFamily="34" charset="0"/>
                <a:ea typeface="Arial" pitchFamily="34" charset="-122"/>
                <a:cs typeface="Arial" pitchFamily="34" charset="-120"/>
              </a:rPr>
              <a:t>Detect. Align.</a:t>
            </a:r>
            <a:endParaRPr lang="en-US" sz="5400" dirty="0"/>
          </a:p>
          <a:p>
            <a:pPr indent="0" marL="0">
              <a:buNone/>
            </a:pPr>
            <a:r>
              <a:rPr lang="en-US" sz="5400" b="1" dirty="0">
                <a:solidFill>
                  <a:srgbClr val="0E2340"/>
                </a:solidFill>
                <a:latin typeface="Arial" pitchFamily="34" charset="0"/>
                <a:ea typeface="Arial" pitchFamily="34" charset="-122"/>
                <a:cs typeface="Arial" pitchFamily="34" charset="-120"/>
              </a:rPr>
              <a:t>Embed. </a:t>
            </a:r>
            <a:pPr indent="0" marL="0">
              <a:buNone/>
            </a:pPr>
            <a:r>
              <a:rPr lang="en-US" sz="5400" b="1" dirty="0">
                <a:solidFill>
                  <a:srgbClr val="0A7A73"/>
                </a:solidFill>
                <a:latin typeface="Arial" pitchFamily="34" charset="0"/>
                <a:ea typeface="Arial" pitchFamily="34" charset="-122"/>
                <a:cs typeface="Arial" pitchFamily="34" charset="-120"/>
              </a:rPr>
              <a:t>Compare.</a:t>
            </a:r>
            <a:endParaRPr lang="en-US" sz="5400" dirty="0"/>
          </a:p>
        </p:txBody>
      </p:sp>
      <p:sp>
        <p:nvSpPr>
          <p:cNvPr id="3" name="Shape 1"/>
          <p:cNvSpPr/>
          <p:nvPr/>
        </p:nvSpPr>
        <p:spPr>
          <a:xfrm>
            <a:off x="640080" y="3383280"/>
            <a:ext cx="10911535" cy="2651760"/>
          </a:xfrm>
          <a:prstGeom prst="roundRect">
            <a:avLst>
              <a:gd name="adj" fmla="val 3448"/>
            </a:avLst>
          </a:prstGeom>
          <a:solidFill>
            <a:srgbClr val="0E2340"/>
          </a:solidFill>
          <a:ln w="12700">
            <a:solidFill>
              <a:srgbClr val="0E2340"/>
            </a:solidFill>
            <a:prstDash val="solid"/>
          </a:ln>
        </p:spPr>
      </p:sp>
      <p:sp>
        <p:nvSpPr>
          <p:cNvPr id="4" name="Text 2"/>
          <p:cNvSpPr txBox="1"/>
          <p:nvPr/>
        </p:nvSpPr>
        <p:spPr>
          <a:xfrm>
            <a:off x="1051560" y="3657600"/>
            <a:ext cx="10088575" cy="365760"/>
          </a:xfrm>
          <a:prstGeom prst="rect">
            <a:avLst/>
          </a:prstGeom>
          <a:noFill/>
          <a:ln/>
        </p:spPr>
        <p:txBody>
          <a:bodyPr wrap="square" lIns="0" tIns="0" rIns="0" bIns="0" rtlCol="0" anchor="t"/>
          <a:lstStyle/>
          <a:p>
            <a:pPr indent="0" marL="0">
              <a:buNone/>
            </a:pPr>
            <a:r>
              <a:rPr lang="en-US" sz="1500" spc="200" kern="0" dirty="0">
                <a:solidFill>
                  <a:srgbClr val="16B3A8"/>
                </a:solidFill>
                <a:latin typeface="Courier New" pitchFamily="34" charset="0"/>
                <a:ea typeface="Courier New" pitchFamily="34" charset="-122"/>
                <a:cs typeface="Courier New" pitchFamily="34" charset="-120"/>
              </a:rPr>
              <a:t>HOMEWORK · DUE [DATE]</a:t>
            </a:r>
            <a:endParaRPr lang="en-US" sz="1500" dirty="0"/>
          </a:p>
        </p:txBody>
      </p:sp>
      <p:sp>
        <p:nvSpPr>
          <p:cNvPr id="5" name="Text 3"/>
          <p:cNvSpPr txBox="1"/>
          <p:nvPr/>
        </p:nvSpPr>
        <p:spPr>
          <a:xfrm>
            <a:off x="1051560" y="4160520"/>
            <a:ext cx="10088575" cy="1005840"/>
          </a:xfrm>
          <a:prstGeom prst="rect">
            <a:avLst/>
          </a:prstGeom>
          <a:noFill/>
          <a:ln/>
        </p:spPr>
        <p:txBody>
          <a:bodyPr wrap="square" lIns="0" tIns="0" rIns="0" bIns="0" rtlCol="0" anchor="t"/>
          <a:lstStyle/>
          <a:p>
            <a:pPr indent="0" marL="0">
              <a:buNone/>
            </a:pPr>
            <a:r>
              <a:rPr lang="en-US" sz="2200" dirty="0">
                <a:solidFill>
                  <a:srgbClr val="EEF4F6"/>
                </a:solidFill>
                <a:latin typeface="Calibri" pitchFamily="34" charset="0"/>
                <a:ea typeface="Calibri" pitchFamily="34" charset="-122"/>
                <a:cs typeface="Calibri" pitchFamily="34" charset="-120"/>
              </a:rPr>
              <a:t>Prompt the LLM to add an attendance log: write name + timestamp to </a:t>
            </a:r>
            <a:pPr indent="0" marL="0">
              <a:buNone/>
            </a:pPr>
            <a:r>
              <a:rPr lang="en-US" sz="2200" b="1" dirty="0">
                <a:solidFill>
                  <a:srgbClr val="EEF4F6"/>
                </a:solidFill>
                <a:latin typeface="Calibri" pitchFamily="34" charset="0"/>
                <a:ea typeface="Calibri" pitchFamily="34" charset="-122"/>
                <a:cs typeface="Calibri" pitchFamily="34" charset="-120"/>
              </a:rPr>
              <a:t>attendance.csv</a:t>
            </a:r>
            <a:pPr indent="0" marL="0">
              <a:buNone/>
            </a:pPr>
            <a:r>
              <a:rPr lang="en-US" sz="2200" dirty="0">
                <a:solidFill>
                  <a:srgbClr val="EEF4F6"/>
                </a:solidFill>
                <a:latin typeface="Calibri" pitchFamily="34" charset="0"/>
                <a:ea typeface="Calibri" pitchFamily="34" charset="-122"/>
                <a:cs typeface="Calibri" pitchFamily="34" charset="-120"/>
              </a:rPr>
              <a:t>, once per person per session.</a:t>
            </a:r>
            <a:endParaRPr lang="en-US" sz="2200" dirty="0"/>
          </a:p>
        </p:txBody>
      </p:sp>
      <p:sp>
        <p:nvSpPr>
          <p:cNvPr id="6" name="Text 4"/>
          <p:cNvSpPr txBox="1"/>
          <p:nvPr/>
        </p:nvSpPr>
        <p:spPr>
          <a:xfrm>
            <a:off x="1051560" y="5303520"/>
            <a:ext cx="10088575" cy="457200"/>
          </a:xfrm>
          <a:prstGeom prst="rect">
            <a:avLst/>
          </a:prstGeom>
          <a:noFill/>
          <a:ln/>
        </p:spPr>
        <p:txBody>
          <a:bodyPr wrap="square" lIns="0" tIns="0" rIns="0" bIns="0" rtlCol="0" anchor="t"/>
          <a:lstStyle/>
          <a:p>
            <a:pPr indent="0" marL="0">
              <a:buNone/>
            </a:pPr>
            <a:r>
              <a:rPr lang="en-US" sz="1600" dirty="0">
                <a:solidFill>
                  <a:srgbClr val="BCD0DD"/>
                </a:solidFill>
                <a:latin typeface="Calibri" pitchFamily="34" charset="0"/>
                <a:ea typeface="Calibri" pitchFamily="34" charset="-122"/>
                <a:cs typeface="Calibri" pitchFamily="34" charset="-120"/>
              </a:rPr>
              <a:t>Submit your prompts, the final file, and one bug you had to fix.</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Face Recognition by Vibe Coding</dc:title>
  <dc:subject>PptxGenJS Presentation</dc:subject>
  <dc:creator>ENGR-126</dc:creator>
  <cp:lastModifiedBy>ENGR-126</cp:lastModifiedBy>
  <cp:revision>1</cp:revision>
  <dcterms:created xsi:type="dcterms:W3CDTF">2026-09-27T19:10:56Z</dcterms:created>
  <dcterms:modified xsi:type="dcterms:W3CDTF">2026-09-27T19:10:56Z</dcterms:modified>
</cp:coreProperties>
</file>